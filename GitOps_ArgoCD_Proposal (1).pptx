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f8d5a714-a389-512a-423e-cd0cd33a5097}">
          <p14:sldIdLst>
            <p14:sldId id="256"/>
            <p14:sldId id="257"/>
          </p14:sldIdLst>
        </p14:section>
        <p14:section name="Current State" id="{38d962d5-7354-0ef9-0096-e07b927b5919}">
          <p14:sldIdLst>
            <p14:sldId id="258"/>
            <p14:sldId id="259"/>
            <p14:sldId id="260"/>
          </p14:sldIdLst>
        </p14:section>
        <p14:section name="GitOps Model" id="{3bbc3e94-14ca-20d1-99ff-addc2ef8682c}">
          <p14:sldIdLst>
            <p14:sldId id="261"/>
            <p14:sldId id="262"/>
            <p14:sldId id="263"/>
            <p14:sldId id="264"/>
            <p14:sldId id="265"/>
          </p14:sldIdLst>
        </p14:section>
        <p14:section name="Governance &amp; Risk" id="{c86614a6-bbe1-cccb-1c1c-79b51d58f8cd}">
          <p14:sldIdLst>
            <p14:sldId id="266"/>
            <p14:sldId id="267"/>
            <p14:sldId id="268"/>
            <p14:sldId id="269"/>
            <p14:sldId id="270"/>
          </p14:sldIdLst>
        </p14:section>
        <p14:section name="Plan" id="{5c35c4c9-4510-7cb1-ccc8-f8676b09a6e7}">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SLIDE
Set the frame for an architecture review. This is a proposal to evaluate a GitOps operating model for Kubernetes deployments, not a request to adopt a tool wholesale.
WHAT TO SAY
"Today GitHub Actions both builds our software and deploys it to Kubernetes. We have a recurring problem proving, after the fact, what was deployed, by whom, and when. I'm proposing we keep GitHub Actions for CI, add Argo CD as the delivery layer, and make Git the declared source of truth for desired state. I'm asking for a limited POC, not a full migration."
KEY POINTS
- The three icons on the right are the core idea: Git holds desired state, Argo CD reconciles, Kubernetes is the runtime.
- Position this as a change in operating model (pipeline-driven deployment to continuous reconciliation), not 'a new deployment tool'.
LIKELY QUESTIONS
- "Is this a decision meeting?" Answer: no. The ask at the end is approval of a time-boxed POC with defined validation criteria.
- "Who is this for?" Platform/DevOps, architects and engineering managers; the traceability problem affects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A one-slide version of the whole argument: current model, problem, proposal, expected improvement, and the ask.
WHAT TO SAY
"Today the pipeline pushes to the cluster. When someone later asks who approved a production release, which version it was, and when it went out, we reconstruct the answer from GitHub Actions, Harbor and Kubernetes, and we screenshot it because CI logs only live for roughly 60 days. The proposal keeps CI exactly where it is and moves the delivery step to Argo CD, driven by a GitOps repository. The ask is a limited POC."
TECHNICAL DETAILS
- 'Expected' benefits are expectations to be validated in the POC, not guarantees. Say so explicitly.
- Argo CD gives deployment visibility and GitOps history. It does not by itself provide formal compliance retention (covered on slides 8 and 14).
LIKELY QUESTIONS
- "What does it cost us?" A new platform component to run (see Q&amp;A on operational overhead) plus training and repository standards. The POC is designed to measure this.
- "Is the ~60 days exact?" It is the approximate GitHub Actions log retention we observe today; confirm the exact setting before presenting externally.
HOW TO AVOID EXAGGERATING
Do not say Argo CD 'solves auditing'. Say it moves deployment facts into Git and a central view, which makes evidence easier to produce, and that formal retention still needs organizational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This is the as-is flow: Developer, GitHub, GitHub Actions (build, test, image), Harbor, Kubernetes. The dashed orange outline highlights that the same workflow that builds the software also performs the deployment.
WHAT TO SAY
"GitHub Actions is doing two jobs. It is our CI system and it is our deployment mechanism. The approval gate sits in the pipeline, and the deploy step pushes to the cluster. That is a legitimate and common model; the issue is what it leaves behind as evidence."
IMPORTANT NOTE FOR THE PRESENTER
The brief says approval currently happens in the deployment pipeline. I have drawn it as an approval gate on GitHub Actions. Confirm the exact mechanism (for example GitHub Environments with required reviewers) and adjust the label if it differs.
TECHNICAL DETAILS
- Harbor stores the image built by CI. Kubernetes pulls it at deploy time; the orange line shows the pipeline-driven deploy path.
- In this model the pipeline needs credentials that can change the cluster. That is worth noting for security reviewers; under pull-based GitOps the cluster-side controller holds that access instead.
LIKELY QUESTIONS
- "Is this broken?" No. It works. The gap is traceability and long-term evidence, not deployment capability.
- "Could we fix this inside GitHub Actions?" Partly, e.g. exporting logs or artifacts to long-term storage. That addresses retention of CI output but not continuous state comparison or a central runtime view. Be honest that it is an alternative to evaluate.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The left column is the causal chain; the right column is what it costs us in practice.
WHAT TO SAY
"GitHub Actions logs are kept for roughly 60 days. Because deployment evidence matters for longer than that, we manually capture screenshots for each deployment: the approval, the workflow run, the image in Harbor, the status. That evidence ends up stored separately from the systems that produced it. Months later, answering a simple question means piecing it together."
TECHNICAL DETAILS
- The evidence sources are different systems with different retention and different identifiers: workflow run, image tag/digest in Harbor, resources in Kubernetes.
- Screenshots are a point-in-time proxy for evidence. They are labour-intensive, easy to miss, and hard to search.
LIKELY QUESTIONS
- "Can we simply raise GitHub Actions retention?" Depending on plan and settings, retention may be configurable, and artifacts/logs could be exported. That is a valid mitigation to compare in the POC. It still leaves evidence fragmented and does not show live state or drift.
- "How often does this actually hurt?" Have a recent real example ready from audits or incidents; concrete anecdotes land better than the diagram.
HOW TO AVOID EXAGGERATING
The problem is operational friction and weak traceability, not that we are non-compliant today. Do not imply an audit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A hub-and-spoke impact diagram. The hub is the root cause; each box is an operational consequence.
WHAT TO SAY
"These seven impacts look separate but share a cause: our record of what was deployed lives mostly in temporary CI logs plus manual screenshots. There is no durable, central record of desired state versus actual state."
TECHNICAL DETAILS
- Manual effort and audit investigation effort are time costs for developers and DevOps.
- Fragmented information and no central view come from the three-system split (GitHub Actions, Harbor, Kubernetes).
- Drift: with push-based deployment, the pipeline acts once. Nothing continuously compares what the pipeline deployed against what is now in the cluster, so manual changes can go unnoticed.
LIKELY QUESTIONS
- "Can you quantify the effort?" Not yet. The POC includes a step to measure operational effort (slide 18), so we can replace estimates with data. Do not invent hours.
- "Is drift actually happening?" We have limited visibility, which is itself the finding. The POC will show whether drift exists in the pilot applications.
HOW TO AVOID EXAGGERATING
Keep to 'limited visibility' rather than 'we have rampant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This is the central slide. The top band is CI (GitHub Actions). The bottom band is CD (Argo CD). They are connected only by a Git change: CI writes the new image tag into the GitOps repository, and that is the end of CI's responsibility.
WHAT TO SAY
"The key change is the orange arrow. Today the pipeline pushes to the cluster. In the proposed model, the pipeline's last act is to update desired state in Git. Argo CD, running against the cluster, watches that repository, compares it with live state, and synchronizes. CI never touches the cluster."
TECHNICAL DETAILS
- Two repositories (or two clearly separated paths): the Application Repository holds source code; the GitOps Repository holds Kubernetes manifests, Helm values or Kustomize overlays per environment.
- GitHub Actions still does checkout, build, unit tests, security scanning, image build, and push to Harbor. A new final step commits (or opens a PR) against the GitOps repository with the new image tag.
- Argo CD does not build images and does not pull from Harbor itself. It applies manifests; Kubernetes then pulls the image from Harbor, as it does today.
- Terminology to keep consistent: CI = GitHub Actions; Registry = Harbor; GitOps/CD = Argo CD; desired state = Git; runtime = Kubernetes.
LIKELY QUESTIONS
- "Why a separate GitOps repo?" Separates deployment changes from application code history, allows different access control and review rules, and avoids CI-triggered loops. Single-repo setups are possible; decide in the POC.
- "Where is the approval?" See slide 11. It moves to the pull request and, optionally, the sync step.
- "What does Argo CD need access to?" The GitOps repository (read) and the target cluster(s). CI no longer needs cluster credentials, but does need a scoped credential to write to the GitOps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A realistic, numbered sequence. Colors map to ownership: slate = change and review, charcoal = CI (GitHub Actions), orange = CD (Argo CD).
WHAT TO SAY
"Steps 1 to 3 are normal engineering practice. Steps 4 to 7 are CI as we know it, with one difference: step 7 writes the new version into the GitOps repository rather than deploying. Steps 8 to 10 are Argo CD: it notices the Git change, applies it to the cluster, and reports Healthy and Synced when the live state matches."
TECHNICAL DETAILS
- Step 7 can be a direct commit by a CI service identity (typical for DEV/QA) or a pull request that needs approval (typical for PROD). That choice is how we keep governance.
- Argo CD polls Git on an interval and can also be triggered by a webhook; either way, detection is fast but not instantaneous. Do not promise exact latency.
- 'Healthy' reflects resource health as evaluated by Argo CD (for example Deployments with available replicas). 'Synced' means live state matches Git.
- Image tags should be immutable (or use digests) so a Git commit maps to exactly one image.
LIKELY QUESTIONS
- "Does this make deployments slower?" Possibly slightly because of the Git hop and polling interval; usually seconds to minutes. Measure it in the POC.
- "What if the image push succeeds but the GitOps update fails?" The image exists in Harbor but nothing is deployed; the pipeline fails visibly and can be re-run. This is safer than a half-applied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This is the most important slide. It shows one deployment as a chain of linked facts: Git commit, image version, GitOps change, Argo CD sync result, and live Kubernetes state. The values are illustrative (payments-service, 2.4.7, abc1234, harbor.company.com); replace them with a real example from the POC when available.
WHAT TO SAY
"Today, to prove what happened, I open GitHub Actions, then Harbor, then Kubernetes and screenshot each. In this model the chain is explicit: a commit produced an image tagged 2.4.7; a GitOps change in prod/payments/values.yaml declared that version for PROD; Argo CD synced it and reports Healthy; Kubernetes is running 2.4.7. Each link is a record in Git or Argo CD that does not expire with CI logs."
TECHNICAL DETAILS
- Who approved: visible as the reviewers and approvers on the GitOps pull request (and the merge identity), assuming branch protection requires review.
- When: the commit and merge timestamps in Git, plus Argo CD sync timestamps.
- Which image: the tag (ideally immutable or pinned by digest) recorded in the GitOps change, with the image present in Harbor.
- Which workflow: record the workflow run URL and source commit SHA in the GitOps commit message or PR body. This is a convention we must establish; it does not happen automatically.
THE ACCURACY POINT (IMPORTANT)
The two boxes on the right separate two different things. Deployment visibility and GitOps history is what Git plus Argo CD give us: a durable, queryable record of desired state changes and current sync/health. Formal compliance evidence retention is a separate requirement. It may still need Git retention policy, Argo CD configuration/history, Kubernetes audit logs, centralized logging, a SIEM, and appropriate organizational retention policies. Argo CD does not by itself provide unlimited retention, and we are not claiming any specific retention period or compliance guarantee. Argo CD keeps only a limited, configurable number of sync history entries per application, so long-term history relies on Git.
LIKELY QUESTIONS
- "Does Git history satisfy auditors?" It is strong evidence of intent and approval, but acceptance depends on the auditor and policy. Confirm requirements with compliance during the POC.
- "What if someone force-pushes or rewrites history?" Protect branches, disallow force pushes, and consider mirroring or audit logging of repository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A factual side-by-side. The top shows the working sequence in each model; the table compares specific capabilities. There is deliberately no score or 'winner'.
WHAT TO SAY
"I'm not claiming one model wins. The current model deploys successfully, but deployment facts are inferred from workflow runs and assembled by hand. The proposed model records desired state in Git and exposes sync, health and version in one place. The right-hand column describes capabilities we would validate in the POC."
TECHNICAL DETAILS
- 'Git history' on the current side refers to application code. Deploy intent is embedded in workflow definitions and run logs, which expire.
- 'Sync status' and 'drift detection' are not concepts a push pipeline has by default; Argo CD introduces them by continuously comparing desired and live state.
- 'Health per resource' is evaluated by Argo CD using built-in health checks, with custom checks possible for CRDs.
- The current-column wording ('limited visibility', 'checked ad hoc') reflects our situation as described, not an absolute limitation of every possible GitHub Actions setup.
LIKELY QUESTIONS
- "Couldn't we script all of this in Actions?" Partly. Scheduled workflows can compare state, and logs can be exported. The trade-off is building and maintaining bespoke tooling versus adopting a purpose-built controller, which brings its own operating cost. Be candid that this is a legitimate alternative to weigh.
- "Where are the downsides?" They are on slide 14, not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A concrete drift scenario. Git declares payments-service 2.4.7; the cluster is running 2.4.6. Argo CD reports OutOfSync. The bottom cards explain that what happens next depends on sync policy.
WHAT TO SAY
"Argo CD continuously compares the desired state in Git with the live state in the cluster. When they differ, the application shows as OutOfSync, and you can see exactly which resources differ. Whether Argo CD then fixes it automatically or waits for a person is a policy choice that we make per environment."
TECHNICAL DETAILS
- OutOfSync can have several causes: a Git change that has not yet been applied, a manual change in the cluster (kubectl edit), or a failed sync. The diff view helps tell these apart.
- Automated sync: Argo CD applies Git changes without a click. Optional 'self-heal' also reverts manual changes in the cluster; optional 'prune' deletes resources removed from Git. Both should be enabled deliberately.
- Manual sync: Argo CD only reports. A person (or an authorized pipeline) triggers the sync. This suits production when change windows or explicit approvals are required.
- Some fields are legitimately changed by other controllers (for example replica counts managed by an autoscaler); Argo CD supports ignore rules for these to avoid noisy drift.
LIKELY QUESTIONS
- "Will it undo an emergency hotfix someone applies with kubectl?" With self-heal on, yes. That is why production policy and break-glass procedures must be decided before rollout.
- "Does it detect drift in every resource?" It detects drift in resources it manages (those defined in the Git source). It is not a general cluster scanner.
HOW TO AVOID EXAGGERATING
The example version numbers are illustrative. Do not claim Argo CD prevents drift; it detects it, and corrects it only if configured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A production deployment path with the approval points made explicit. The green box is where human approval happens: the pull request. Argo CD does not replace approvals; it consumes the result of them.
WHAT TO SAY
"I want to be clear that Argo CD does not replace our approval process. Whatever we require today, such as peer review, a change ticket, or a release manager sign-off, can be preserved. It simply moves to well-defined places: the pull request that changes desired state and, if we want it, the manual sync step. The four cards are models we can mix per environment."
TECHNICAL DETAILS
- PR-based approval: use CODEOWNERS and branch protection on the GitOps repository so production paths (for example prod/**) require named approvers and passing checks. The approver identity and timestamp are then part of Git history.
- GitHub Actions validation: linting manifests, policy checks, and confirming the referenced image exists in Harbor can run on the PR before merge.
- Manual sync: Argo CD RBAC can restrict who may sync production applications. Sync windows can restrict when syncs happen.
- Automated sync: reasonable for DEV/QA; for PROD it is an organizational choice, not a technical default.
- An existing change-management or ticketing gate can remain in CI before the GitOps commit is created.
LIKELY QUESTIONS
- "Who can bypass the PR?" Anyone with admin on the repo unless restricted. Apply branch protection to admins too and monitor repository audit logs.
- "Is two-person review enforced?" Only if configured via branch protection and CODEOWNERS; it is not automatic.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A rollback walk-through. Production runs 2.4.7, an issue is detected, and 2.4.6 is the previous known-good version. The rollback is a Git change, which Argo CD then reconciles.
WHAT TO SAY
"Rollback is not a special operation; it is another change to desired state. We revert the GitOps change, Argo CD sees the new desired state, and reconciles Kubernetes back to 2.4.6. The rollback itself is recorded in Git, with an author and timestamp, which is more traceable than someone re-running an old pipeline."
TECHNICAL DETAILS
- Two common patterns: (a) git revert the commit that bumped the version, or (b) set the image tag back to the previous version explicitly. Both create a new commit, so history is preserved.
- Argo CD also has a built-in rollback to a previously synced revision, but this is only available when automated sync is disabled, and it leaves Git and the cluster temporarily out of agreement. For that reason, Git-based rollback is the cleaner GitOps path.
- Because Harbor still holds the 2.4.6 image, no rebuild is required. Image retention policies in Harbor must not delete known-good versions; check this in the POC.
- Speed depends on sync policy and detection interval. For urgent production incidents, define a fast-track procedure (for example a pre-approved revert PR template, or a manual sync with an on-call approver).
- Rollback does not undo irreversible side effects such as database migrations; those need their own strategy.
LIKELY QUESTIONS
- "Is this faster than today?" Not necessarily. The benefit is a consistent, auditable procedure; measure time-to-rollback in the POC rather than claiming it.
- "What if Git or Argo CD is down during an incident?" See the availability Q&amp;A: a documented break-glass procedure must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Eight control areas, plus the single most important rule: no plaintext secrets in Git. These controls come from three layers: Argo CD, Git/GitHub, and Kubernetes.
WHAT TO SAY
"Security is layered. In Argo CD we use SSO and RBAC, with projects that separate environments so a team with DEV rights cannot sync PROD. In Git we use protected branches and mandatory pull request reviews, since Git now holds desired state. In Kubernetes we keep Argo CD's own permissions least-privilege. And secrets never live in Git as plaintext."
TECHNICAL DETAILS
- Argo CD RBAC: policy lets us grant per-project, per-application permissions (get, sync, override, delete). SSO is typically OIDC against the corporate identity provider; local admin accounts should be disabled or tightly held.
- Environment-level access: Argo CD AppProjects restrict which repositories, clusters and namespaces an application may use.
- Kubernetes RBAC: Argo CD needs permissions to apply the resources it manages. Scope them per cluster/namespace rather than granting cluster-admin everywhere, where practical.
- Git controls: branch protection, required reviews, CODEOWNERS for prod paths, restrictions on force-push, and limited credentials for the CI service identity that writes to the GitOps repo (prefer a GitHub App or fine-scoped token).
- Secrets options: External Secrets Operator (sync from a secret manager), HashiCorp Vault integrations, cloud provider secret managers, or Sealed Secrets (encrypted secrets stored in Git). Choose one pattern in the POC and document it.
- A net security benefit: CI no longer needs credentials to change the cluster; the cluster-side controller holds that access. A new risk: Argo CD becomes a high-value target, so it needs hardening.
LIKELY QUESTIONS
- "Is Argo CD itself a risk?" Yes; it holds broad cluster access. See slide 14 for hardening, HA and monitoring.
- "Which secrets option do you recommend?" Decide with the security team in the POC based on what we already operate; do not prescribe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A candid risk register. The deck needs this slide to survive architectural scrutiny: GitOps trades one set of problems for another, and we should say so.
WHAT TO SAY
"Argo CD is not free. It is a new piece of platform infrastructure with a learning curve, and it needs the same care as any production control plane component. Each risk has a mitigation we would validate in the POC rather than assume."
TECHNICAL DETAILS
- Learning curve: GitOps concepts (reconciliation, sync, drift) and Argo CD primitives (Application, AppProject, ApplicationSet) are new to many engineers. Mitigate with training, templates and pairing during the POC.
- Repository complexity: environment layout (directory per environment with Helm values or Kustomize overlays) must be standardized early; ad hoc structures become unmanageable.
- Critical infrastructure: run Argo CD in HA, back up its configuration (ideally Argo CD's own Application definitions live in Git), and monitor it using its metrics. Running workloads keep running if Argo CD is unavailable, but deployment and drift visibility pause.
- Unauthorized changes: protected branches plus Argo CD and Kubernetes RBAC; restrict direct kubectl write access in production.
- Secret exposure: never plaintext secrets in Git; use an external secrets pattern.
- Compliance retention: Argo CD gives visibility and Git gives history, but formal retention may require centralized audit and log retention (Git retention, Kubernetes audit logs, central logging, SIEM, organizational policy). We make no claim about specific retention periods.
- Migration complexity: phased rollout, starting with one or two applications, running in parallel before cutting over.
LIKELY QUESTIONS
- "What is the biggest risk?" Usually organizational: inconsistent repo structure and unclear ownership between app teams and platform. Technical risks are manageable.
- "Are there risks you haven't listed?" Invite challenge; capture additions as POC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A balanced view of the proposal. Each row is a design choice that gives us a benefit and also costs us something. This slide complements the risk table: risks are things that might go wrong; trade-offs are costs we accept by design.
WHAT TO SAY
"I want to be explicit about the price of this model. Pull-based delivery removes cluster credentials from CI and gives us auditable desired state, but it adds Git and Argo CD to the deploy path. A separate GitOps repository gives a clean CI/CD split, but it is another repository and needs automation. None of these are reasons not to proceed, but the POC should measure them."
TECHNICAL DETAILS
- Extra hop: a deployment now needs the GitOps commit and Argo CD detection. Detection is by polling or webhook, so there is added latency, usually small. Measure it.
- Continuous reconciliation cuts both ways. With self-heal, an emergency kubectl change can be reverted. Decide per environment whether self-heal is on, and document a break-glass procedure.
- Central controller: Argo CD is not in the application request path, so running workloads continue if it is down, but sync, drift visibility and the central view pause. Plan HA, backups and monitoring.
- Declarative: teams must agree on Helm or Kustomize conventions and an environment layout. Argo CD does not manage secrets natively; use an external secrets approach.
- Visibility, not audit: Argo CD keeps a limited, configurable number of sync history entries per application. Long-term evidence relies on Git retention, Kubernetes audit logs, central logging, a SIEM, and organizational retention policy. We make no claim about specific retention periods.
- Other trade-offs worth mentioning if asked: progressive delivery (canary, blue-green) needs additional tooling such as Argo Rollouts; Argo CD does not build, test or scan software, so GitHub Actions remains required; very large numbers of applications may need Argo CD tuning and sharding.
LIKELY QUESTIONS
- "Is it worth it?" That is what the POC measures: traceability and evidence effort improvements against the operating cost on the right-hand column.
- "Could we get most of this by exporting GitHub Actions logs?" That would address log retention but not continuous state comparison or a central runtime view. It is a legitimate lighter-weight alternative to compare in the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A five-phase path from a limited POC to standardization, with nine validation criteria for the POC. No durations are stated on purpose: timeline should be set after agreeing scope and team capacity.
WHAT TO SAY
"Phase 1 is the ask: a POC with one or two representative applications. We only move on if the POC meets the criteria below. Then we expand to DEV and QA, UAT, and finally production, and finish by standardizing templates, runbooks and training."
POC VALIDATION CRITERIA — WHAT 'DONE' LOOKS LIKE
- Deployment traceability: for a sample deployment, can we answer who, what, when, which image, which commit, and what was deployed previously, using Git and Argo CD alone?
- GitOps workflow: does the CI-to-GitOps-repo handoff work reliably, including failures and retries?
- Harbor integration: pulls work (image pull secrets), image tags are immutable or pinned, and Harbor retention does not delete deployed versions.
- Rollback: time and effort to restore the previous version via Git.
- Drift detection: introduce a manual change; confirm it is detected and handled per sync policy.
- RBAC: SSO login, per-environment permissions, and no unintended production access.
- Approval workflow: production changes require the agreed approvals, and those approvals are visible in Git.
- Monitoring: Argo CD health and sync failures produce alerts.
- Audit requirements: review with compliance what evidence they accept, and whether additional retention (logs, SIEM) is needed.
MEASURABLE TARGETS
The next slide turns these criteria into metrics, baselines and proposed targets.
LIKELY QUESTIONS
- "How long is the POC?" Propose after selecting applications and staffing; avoid committing to a number here.
- "What are the exit criteria if it fails?" Criteria not met means we stop or adjust; the POC is designed to be reversible because existing GitHub Actions deployment can continue in parallel.
- "Which apps should we pick?" One stateless service with moderate change frequency and one with more complex configuration, so we see both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These are the measurable criteria the POC will be judged against. Each has a metric, a baseline (what we measure today, before the POC), and a proposed target. All targets are proposals, not commitments, and should be agreed with engineering, platform, security and compliance before the POC starts.
WHAT TO SAY
"To avoid the POC being judged on impressions, I'm proposing eight measurable criteria. For several of them we need a baseline from today's process, for example how many minutes we spend collecting evidence per deployment. We should capture that first, then agree the targets together."
HOW EACH CRITERION IS MEASURED
- Traceability: for each POC deployment, try to answer who approved, what was deployed, when, which image, which commit, and what was deployed before, using only Git and Argo CD. Count the share that can be answered fully. Target 100%.
- Evidence effort: time-box a sample of current deployments to see how long screenshot and evidence collection takes, then repeat during the POC. The target percentage reduction is to be agreed; no figure is claimed here.
- Time to answer: time a reviewer answering a standard set of questions about a past deployment, today versus in the POC. 5 minutes is a suggested starting point.
- Rollback: from the decision to roll back until the previous version is Healthy, timed in several rehearsals. Success is the rollback restoring the known-good version every time and being recorded in Git. The time limit is to be agreed.
- Drift detection: inject manual changes (for example scale a deployment, edit an image tag) and verify each shows as OutOfSync. Also record time-to-detect.
- Sync reliability: share of syncs that complete Healthy without manual intervention. Compare with current deployment success rate. 95% is a suggested starting threshold.
- Access control: run negative tests (unauthorized sync to PROD, direct push to protected branch, unapproved PR merge). All should be denied.
- Operating effort: log engineer hours spent running, upgrading and supporting Argo CD during the POC and compare with evidence hours saved. This is the honest cost side of the ledger.
ALSO RECORD (NOT A PASS/FAIL TARGET)
Merge-to-Healthy lead time compared with current deploy time, so we understand the added latency.
LIKELY QUESTIONS
- "Why no hard numbers for effort reduction?" Because we do not yet have a baseline, and inventing one would undermine credibility. We set the threshold after measuring.
- "What happens if a criterion fails?" We review whether it is a configuration issue, a process issue or a fundamental limitation, and report that honestly in the POC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MEANS
The recommendation is deliberately modest: approve a limited POC, run ten defined steps, and bring back measured results and a migration plan. The closing statement restates the model in one sentence.
WHAT TO SAY
"We are not asking to migrate everything. We are asking for approval to run a limited POC with one or two representative applications, validate the criteria on the previous slide, and measure the operational effort. Then we come back with data and a migration plan. To close: GitHub Actions builds and validates the software. Git defines the desired deployment state. Argo CD continuously reconciles Kubernetes to that desired state."
HOW TO AVOID EXAGGERATING
Describe benefits as hypotheses to be confirmed. Do not promise audit outcomes, specific time savings, or retention periods.
=========== ANTICIPATED Q&amp;A ===========
1. Why Argo CD instead of continuing with GitHub Actions?
It is not about GitHub Actions being inadequate. A push pipeline acts once at deploy time; Argo CD continuously compares desired state in Git with live state, and gives a central view of sync status and health. Some of this could be scripted in Actions, but that means building and maintaining bespoke tooling. The trade-off is adopting a new component to operate. The POC is designed to test whether the benefit justifies it.
2. Does Argo CD replace GitHub Actions?
No. GitHub Actions remains our CI: checkout, build, tests, security scanning, image build and push to Harbor. Only the deployment step changes: instead of deploying to the cluster, the pipeline updates the GitOps repository.
3. How does approval work?
Approval moves to well-defined points: the pull request on the GitOps repository (enforced via branch protection and CODEOWNERS) and optionally a manual sync in Argo CD restricted by RBAC. Existing gates such as change tickets can remain in CI before the GitOps commit. Argo CD does not replace approvals by itself.
4. How is rollback handled?
By changing desired state in Git, either reverting the commit or pinning the previous image tag. Argo CD detects the change and reconciles Kubernetes. Argo CD's built-in rollback to a previous sync exists but requires automated sync to be disabled. Exact mechanism depends on repo layout and deployment strategy. Database migrations and other irreversible side effects need separate handling.
5. What happens if Argo CD is unavailable?
Running workloads continue to run; Argo CD is not in the request path of applications. During the outage we lose syncing, drift detection and the central view. Mitigations: HA deployment, backups (including keeping Argo CD's own configuration in Git), monitoring and alerting, and a documented break-glass procedure for urgent changes.
6. How do we manage secrets?
Never store plaintext Kubernetes secrets in Git. Options include External Secrets, Vault, cloud secret managers, or Sealed Secrets. Choose one pattern with the security team during the POC and document it.
7. How do we audit production deployments?
Combine sources: Git history (commits, PR approvals, merge identity), Argo CD application history and events, Kubernetes audit logs, and centralized logging or a SIEM, under the organization's retention policies. Argo CD adds visibility but is not a complete compliance system on its own. Confirm what auditors require during the POC.
8. How long is deployment history retained?
We cannot state a guaranteed period. Git history lasts as long as the repository and its retention policy. Argo CD keeps a limited, configurable number of sync history entries per application. Kubernetes audit logs and central logging follow whatever retention we configure. Formal retention needs an organizational decision.
9. What happens if someone manually changes Kubernetes?
Argo CD shows the application as OutOfSync and displays the diff. Depending on sync policy, it either waits for a person to sync or automatically reverts the change (self-heal). Production should also restrict direct kubectl write access, with a break-glass process for emergencies.
10. How do we migrate existing applications?
Phased. Put the application's manifests (Helm or Kustomize) into the GitOps repository, create an Argo CD Application, and first observe with manual sync to compare against what is running. Then replace the deploy step in the workflow with a 'update GitOps repo' step. Start with one or two applications, then DEV/QA, UAT, and production.
11. Does Argo CD work with Harbor?
Yes, in the sense that Argo CD deploys manifests that reference Harbor image tags, and Kubernetes pulls the images from Harbor using image pull secrets, as today. Harbor can also host Helm charts as OCI artifacts, which Argo CD can use as a source. Validate image pull and tag immutability in the POC.
12. What happens to existing GitHub Actions workflows?
Build, test, scan and push-to-Harbor steps stay. The deployment job is replaced by a step that commits or opens a PR in the GitOps repository with the new image tag, using a tightly scoped credential. CI no longer needs cluster credentials.
13. How do we handle multiple Kubernetes clusters?
Argo CD can manage multiple clusters from one instance, or we can run an instance per cluster or environment. ApplicationSets can generate applications per cluster. The choice depends on network boundaries, blast radius and isolation requirements; evaluate in the POC.
14. How do we handle DEV/QA/UAT/PROD?
A common approach is one directory per environment in the GitOps repository (for example prod/payments/values.yaml), using Helm values or Kustomize overlays, with Argo CD AppProjects separating access. Promotion is a pull request moving a version from one environment's path to the next. Standardize this structure before scaling.
15. What is the operational overhead of running Argo CD?
Argo CD is a set of components running in Kubernetes, so we must handle upgrades, HA sizing, backups, monitoring, RBAC and SSO administration, and user support. We have no measured number yet; the POC includes a step to measure operational effort so we can compare it against current manual evidence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5852160" cy="17830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3108960"/>
            <a:ext cx="5852160" cy="7772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rtlCol="0"/>
          <a:lstStyle>
            <a:lvl1pPr algn="l" indent="0" marL="0">
              <a:buNone/>
              <a:defRPr lang="en-US" sz="1500" dirty="0">
                <a:solidFill>
                  <a:schemeClr val="tx2"/>
                </a:solidFill>
              </a:defRPr>
            </a:lvl1pPr>
          </a:lstStyle>
          <a:p>
            <a:pPr algn="l" indent="0" marL="0">
              <a:buNone/>
            </a:pPr>
            <a:endParaRPr lang="en-US" sz="1500" dirty="0"/>
          </a:p>
        </p:txBody>
      </p:sp>
      <p:sp>
        <p:nvSpPr>
          <p:cNvPr id="4" name="Text 0"/>
          <p:cNvSpPr/>
          <p:nvPr/>
        </p:nvSpPr>
        <p:spPr>
          <a:xfrm>
            <a:off x="457200" y="4773168"/>
            <a:ext cx="5486400" cy="274320"/>
          </a:xfrm>
          <a:prstGeom prst="rect">
            <a:avLst/>
          </a:prstGeom>
          <a:noFill/>
          <a:ln/>
        </p:spPr>
        <p:txBody>
          <a:bodyPr wrap="square" lIns="0" tIns="0" rIns="0" bIns="0" rtlCol="0" anchor="ctr"/>
          <a:lstStyle/>
          <a:p>
            <a:pPr indent="0" marL="0">
              <a:buNone/>
            </a:pPr>
            <a:r>
              <a:rPr lang="en-US" sz="1000" dirty="0">
                <a:solidFill>
                  <a:schemeClr val="tx2"/>
                </a:solidFill>
              </a:rPr>
              <a:t>GitOps with Argo CD  ·  Technical Proposal</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rtlCol="0"/>
          <a:lstStyle>
            <a:lvl1pPr algn="l" indent="0" marL="0">
              <a:buNone/>
              <a:defRPr lang="en-US" sz="1500" dirty="0">
                <a:solidFill>
                  <a:schemeClr val="bg2"/>
                </a:solidFill>
              </a:defRPr>
            </a:lvl1pPr>
          </a:lstStyle>
          <a:p>
            <a:pPr algn="l" indent="0" marL="0">
              <a:buNone/>
            </a:pPr>
            <a:endParaRPr lang="en-US" sz="1500" dirty="0"/>
          </a:p>
        </p:txBody>
      </p:sp>
      <p:sp>
        <p:nvSpPr>
          <p:cNvPr id="4" name="Text 0"/>
          <p:cNvSpPr/>
          <p:nvPr/>
        </p:nvSpPr>
        <p:spPr>
          <a:xfrm>
            <a:off x="457200" y="4773168"/>
            <a:ext cx="5486400" cy="274320"/>
          </a:xfrm>
          <a:prstGeom prst="rect">
            <a:avLst/>
          </a:prstGeom>
          <a:noFill/>
          <a:ln/>
        </p:spPr>
        <p:txBody>
          <a:bodyPr wrap="square" lIns="0" tIns="0" rIns="0" bIns="0" rtlCol="0" anchor="ctr"/>
          <a:lstStyle/>
          <a:p>
            <a:pPr indent="0" marL="0">
              <a:buNone/>
            </a:pPr>
            <a:r>
              <a:rPr lang="en-US" sz="1000" dirty="0">
                <a:solidFill>
                  <a:schemeClr val="bg2"/>
                </a:solidFill>
              </a:rPr>
              <a:t>GitOps with Argo CD  ·  Technical Proposal</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3.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3.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5852160" cy="1783080"/>
          </a:xfrm>
          <a:prstGeom prst="rect">
            <a:avLst/>
          </a:prstGeom>
          <a:noFill/>
          <a:ln/>
        </p:spPr>
        <p:txBody>
          <a:bodyPr wrap="square" lIns="0" tIns="0" rIns="0" bIns="0" rtlCol="0" anchor="t"/>
          <a:lstStyle/>
          <a:p>
            <a:pPr algn="l" indent="0" marL="0">
              <a:buNone/>
            </a:pPr>
            <a:r>
              <a:rPr lang="en-US" sz="3600" b="1" dirty="0">
                <a:solidFill>
                  <a:schemeClr val="bg1"/>
                </a:solidFill>
              </a:rPr>
              <a:t>Proposal: GitOps-Based Kubernetes Deployments with Argo CD</a:t>
            </a:r>
            <a:endParaRPr lang="en-US" sz="3600" dirty="0"/>
          </a:p>
        </p:txBody>
      </p:sp>
      <p:sp>
        <p:nvSpPr>
          <p:cNvPr id="3" name="Text 0"/>
          <p:cNvSpPr/>
          <p:nvPr>
            <p:ph idx="101" type="body" hasCustomPrompt="1"/>
          </p:nvPr>
        </p:nvSpPr>
        <p:spPr>
          <a:xfrm>
            <a:off x="548640" y="3108960"/>
            <a:ext cx="5852160" cy="777240"/>
          </a:xfrm>
          <a:prstGeom prst="rect">
            <a:avLst/>
          </a:prstGeom>
          <a:noFill/>
          <a:ln/>
        </p:spPr>
        <p:txBody>
          <a:bodyPr wrap="square" lIns="0" tIns="0" rIns="0" bIns="0" rtlCol="0" anchor="t"/>
          <a:lstStyle/>
          <a:p>
            <a:pPr algn="l" indent="0" marL="0">
              <a:buNone/>
            </a:pPr>
            <a:r>
              <a:rPr lang="en-US" sz="1800" dirty="0">
                <a:solidFill>
                  <a:schemeClr val="bg2"/>
                </a:solidFill>
              </a:rPr>
              <a:t>Improving Deployment Traceability, Visibility and Operational Efficiency</a:t>
            </a:r>
            <a:endParaRPr lang="en-US" sz="1800" dirty="0"/>
          </a:p>
        </p:txBody>
      </p:sp>
      <p:sp>
        <p:nvSpPr>
          <p:cNvPr id="4" name="Text 1"/>
          <p:cNvSpPr txBox="1"/>
          <p:nvPr/>
        </p:nvSpPr>
        <p:spPr>
          <a:xfrm>
            <a:off x="548640" y="548640"/>
            <a:ext cx="585216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PLATFORM ENGINEERING  ·  ARCHITECTURE REVIEW</a:t>
            </a:r>
            <a:endParaRPr lang="en-US" sz="1200" dirty="0"/>
          </a:p>
        </p:txBody>
      </p:sp>
      <p:sp>
        <p:nvSpPr>
          <p:cNvPr id="5" name="Text 2"/>
          <p:cNvSpPr txBox="1"/>
          <p:nvPr/>
        </p:nvSpPr>
        <p:spPr>
          <a:xfrm>
            <a:off x="548640" y="4343400"/>
            <a:ext cx="5852160" cy="274320"/>
          </a:xfrm>
          <a:prstGeom prst="rect">
            <a:avLst/>
          </a:prstGeom>
          <a:noFill/>
          <a:ln/>
        </p:spPr>
        <p:txBody>
          <a:bodyPr wrap="square" lIns="0" tIns="0" rIns="0" bIns="0" rtlCol="0" anchor="ctr"/>
          <a:lstStyle/>
          <a:p>
            <a:pPr indent="0" marL="0">
              <a:buNone/>
            </a:pPr>
            <a:r>
              <a:rPr lang="en-US" sz="1200" dirty="0">
                <a:solidFill>
                  <a:schemeClr val="bg2"/>
                </a:solidFill>
              </a:rPr>
              <a:t>Internal technical proposal  ·  October 2026</a:t>
            </a:r>
            <a:endParaRPr lang="en-US" sz="1200" dirty="0"/>
          </a:p>
        </p:txBody>
      </p:sp>
      <p:sp>
        <p:nvSpPr>
          <p:cNvPr id="6" name="Motif circle 3"/>
          <p:cNvSpPr/>
          <p:nvPr/>
        </p:nvSpPr>
        <p:spPr>
          <a:xfrm>
            <a:off x="6880860" y="800100"/>
            <a:ext cx="868680" cy="868680"/>
          </a:xfrm>
          <a:prstGeom prst="ellipse">
            <a:avLst/>
          </a:prstGeom>
          <a:solidFill>
            <a:schemeClr val="bg1">
              <a:alpha val="12000"/>
            </a:schemeClr>
          </a:solidFill>
          <a:ln w="12700">
            <a:solidFill>
              <a:schemeClr val="tx2"/>
            </a:solidFill>
            <a:prstDash val="solid"/>
          </a:ln>
        </p:spPr>
      </p:sp>
      <p:pic>
        <p:nvPicPr>
          <p:cNvPr id="7" name="Icon 4" descr="Git">    </p:cNvPr>
          <p:cNvPicPr>
            <a:picLocks noChangeAspect="1"/>
          </p:cNvPicPr>
          <p:nvPr/>
        </p:nvPicPr>
        <p:blipFill>
          <a:blip r:embed="rId1"/>
          <a:stretch>
            <a:fillRect/>
          </a:stretch>
        </p:blipFill>
        <p:spPr>
          <a:xfrm>
            <a:off x="7077456" y="996696"/>
            <a:ext cx="475488" cy="475488"/>
          </a:xfrm>
          <a:prstGeom prst="rect">
            <a:avLst/>
          </a:prstGeom>
        </p:spPr>
      </p:pic>
      <p:sp>
        <p:nvSpPr>
          <p:cNvPr id="8" name="Text 5"/>
          <p:cNvSpPr txBox="1"/>
          <p:nvPr/>
        </p:nvSpPr>
        <p:spPr>
          <a:xfrm>
            <a:off x="7863840" y="1005840"/>
            <a:ext cx="914400" cy="246888"/>
          </a:xfrm>
          <a:prstGeom prst="rect">
            <a:avLst/>
          </a:prstGeom>
          <a:noFill/>
          <a:ln/>
        </p:spPr>
        <p:txBody>
          <a:bodyPr wrap="square" lIns="0" tIns="0" rIns="0" bIns="0" rtlCol="0" anchor="ctr"/>
          <a:lstStyle/>
          <a:p>
            <a:pPr indent="0" marL="0">
              <a:buNone/>
            </a:pPr>
            <a:r>
              <a:rPr lang="en-US" sz="1300" b="1" dirty="0">
                <a:solidFill>
                  <a:schemeClr val="bg1"/>
                </a:solidFill>
              </a:rPr>
              <a:t>Git</a:t>
            </a:r>
            <a:endParaRPr lang="en-US" sz="1300" dirty="0"/>
          </a:p>
        </p:txBody>
      </p:sp>
      <p:sp>
        <p:nvSpPr>
          <p:cNvPr id="9" name="Text 6"/>
          <p:cNvSpPr txBox="1"/>
          <p:nvPr/>
        </p:nvSpPr>
        <p:spPr>
          <a:xfrm>
            <a:off x="7863840" y="1252728"/>
            <a:ext cx="914400" cy="201168"/>
          </a:xfrm>
          <a:prstGeom prst="rect">
            <a:avLst/>
          </a:prstGeom>
          <a:noFill/>
          <a:ln/>
        </p:spPr>
        <p:txBody>
          <a:bodyPr wrap="square" lIns="0" tIns="0" rIns="0" bIns="0" rtlCol="0" anchor="ctr"/>
          <a:lstStyle/>
          <a:p>
            <a:pPr indent="0" marL="0">
              <a:buNone/>
            </a:pPr>
            <a:r>
              <a:rPr lang="en-US" sz="1100" dirty="0">
                <a:solidFill>
                  <a:schemeClr val="bg2"/>
                </a:solidFill>
              </a:rPr>
              <a:t>desired state</a:t>
            </a:r>
            <a:endParaRPr lang="en-US" sz="1100" dirty="0"/>
          </a:p>
        </p:txBody>
      </p:sp>
      <p:sp>
        <p:nvSpPr>
          <p:cNvPr id="10" name="Connector 7"/>
          <p:cNvSpPr/>
          <p:nvPr/>
        </p:nvSpPr>
        <p:spPr>
          <a:xfrm>
            <a:off x="7315200" y="1709928"/>
            <a:ext cx="0" cy="329184"/>
          </a:xfrm>
          <a:prstGeom prst="line">
            <a:avLst/>
          </a:prstGeom>
          <a:noFill/>
          <a:ln w="15875">
            <a:solidFill>
              <a:schemeClr val="tx2"/>
            </a:solidFill>
            <a:prstDash val="dash"/>
            <a:tailEnd type="triangle"/>
          </a:ln>
        </p:spPr>
      </p:sp>
      <p:sp>
        <p:nvSpPr>
          <p:cNvPr id="11" name="Motif circle 8"/>
          <p:cNvSpPr/>
          <p:nvPr/>
        </p:nvSpPr>
        <p:spPr>
          <a:xfrm>
            <a:off x="6880860" y="2080260"/>
            <a:ext cx="868680" cy="868680"/>
          </a:xfrm>
          <a:prstGeom prst="ellipse">
            <a:avLst/>
          </a:prstGeom>
          <a:solidFill>
            <a:schemeClr val="bg1">
              <a:alpha val="12000"/>
            </a:schemeClr>
          </a:solidFill>
          <a:ln w="12700">
            <a:solidFill>
              <a:schemeClr val="tx2"/>
            </a:solidFill>
            <a:prstDash val="solid"/>
          </a:ln>
        </p:spPr>
      </p:sp>
      <p:pic>
        <p:nvPicPr>
          <p:cNvPr id="12" name="Icon 9" descr="Argo CD">    </p:cNvPr>
          <p:cNvPicPr>
            <a:picLocks noChangeAspect="1"/>
          </p:cNvPicPr>
          <p:nvPr/>
        </p:nvPicPr>
        <p:blipFill>
          <a:blip r:embed="rId2"/>
          <a:stretch>
            <a:fillRect/>
          </a:stretch>
        </p:blipFill>
        <p:spPr>
          <a:xfrm>
            <a:off x="7077456" y="2276856"/>
            <a:ext cx="475488" cy="475488"/>
          </a:xfrm>
          <a:prstGeom prst="rect">
            <a:avLst/>
          </a:prstGeom>
        </p:spPr>
      </p:pic>
      <p:sp>
        <p:nvSpPr>
          <p:cNvPr id="13" name="Text 10"/>
          <p:cNvSpPr txBox="1"/>
          <p:nvPr/>
        </p:nvSpPr>
        <p:spPr>
          <a:xfrm>
            <a:off x="7863840" y="2286000"/>
            <a:ext cx="914400" cy="246888"/>
          </a:xfrm>
          <a:prstGeom prst="rect">
            <a:avLst/>
          </a:prstGeom>
          <a:noFill/>
          <a:ln/>
        </p:spPr>
        <p:txBody>
          <a:bodyPr wrap="square" lIns="0" tIns="0" rIns="0" bIns="0" rtlCol="0" anchor="ctr"/>
          <a:lstStyle/>
          <a:p>
            <a:pPr indent="0" marL="0">
              <a:buNone/>
            </a:pPr>
            <a:r>
              <a:rPr lang="en-US" sz="1300" b="1" dirty="0">
                <a:solidFill>
                  <a:schemeClr val="bg1"/>
                </a:solidFill>
              </a:rPr>
              <a:t>Argo CD</a:t>
            </a:r>
            <a:endParaRPr lang="en-US" sz="1300" dirty="0"/>
          </a:p>
        </p:txBody>
      </p:sp>
      <p:sp>
        <p:nvSpPr>
          <p:cNvPr id="14" name="Text 11"/>
          <p:cNvSpPr txBox="1"/>
          <p:nvPr/>
        </p:nvSpPr>
        <p:spPr>
          <a:xfrm>
            <a:off x="7863840" y="2532888"/>
            <a:ext cx="914400" cy="201168"/>
          </a:xfrm>
          <a:prstGeom prst="rect">
            <a:avLst/>
          </a:prstGeom>
          <a:noFill/>
          <a:ln/>
        </p:spPr>
        <p:txBody>
          <a:bodyPr wrap="square" lIns="0" tIns="0" rIns="0" bIns="0" rtlCol="0" anchor="ctr"/>
          <a:lstStyle/>
          <a:p>
            <a:pPr indent="0" marL="0">
              <a:buNone/>
            </a:pPr>
            <a:r>
              <a:rPr lang="en-US" sz="1100" dirty="0">
                <a:solidFill>
                  <a:schemeClr val="bg2"/>
                </a:solidFill>
              </a:rPr>
              <a:t>reconciler</a:t>
            </a:r>
            <a:endParaRPr lang="en-US" sz="1100" dirty="0"/>
          </a:p>
        </p:txBody>
      </p:sp>
      <p:sp>
        <p:nvSpPr>
          <p:cNvPr id="15" name="Connector 12"/>
          <p:cNvSpPr/>
          <p:nvPr/>
        </p:nvSpPr>
        <p:spPr>
          <a:xfrm>
            <a:off x="7315200" y="2990088"/>
            <a:ext cx="0" cy="329184"/>
          </a:xfrm>
          <a:prstGeom prst="line">
            <a:avLst/>
          </a:prstGeom>
          <a:noFill/>
          <a:ln w="15875">
            <a:solidFill>
              <a:schemeClr val="tx2"/>
            </a:solidFill>
            <a:prstDash val="dash"/>
            <a:tailEnd type="triangle"/>
          </a:ln>
        </p:spPr>
      </p:sp>
      <p:sp>
        <p:nvSpPr>
          <p:cNvPr id="16" name="Motif circle 13"/>
          <p:cNvSpPr/>
          <p:nvPr/>
        </p:nvSpPr>
        <p:spPr>
          <a:xfrm>
            <a:off x="6880860" y="3360420"/>
            <a:ext cx="868680" cy="868680"/>
          </a:xfrm>
          <a:prstGeom prst="ellipse">
            <a:avLst/>
          </a:prstGeom>
          <a:solidFill>
            <a:schemeClr val="bg1">
              <a:alpha val="12000"/>
            </a:schemeClr>
          </a:solidFill>
          <a:ln w="12700">
            <a:solidFill>
              <a:schemeClr val="tx2"/>
            </a:solidFill>
            <a:prstDash val="solid"/>
          </a:ln>
        </p:spPr>
      </p:sp>
      <p:pic>
        <p:nvPicPr>
          <p:cNvPr id="17" name="Icon 14" descr="Kubernetes">    </p:cNvPr>
          <p:cNvPicPr>
            <a:picLocks noChangeAspect="1"/>
          </p:cNvPicPr>
          <p:nvPr/>
        </p:nvPicPr>
        <p:blipFill>
          <a:blip r:embed="rId3"/>
          <a:stretch>
            <a:fillRect/>
          </a:stretch>
        </p:blipFill>
        <p:spPr>
          <a:xfrm>
            <a:off x="7077456" y="3557016"/>
            <a:ext cx="475488" cy="475488"/>
          </a:xfrm>
          <a:prstGeom prst="rect">
            <a:avLst/>
          </a:prstGeom>
        </p:spPr>
      </p:pic>
      <p:sp>
        <p:nvSpPr>
          <p:cNvPr id="18" name="Text 15"/>
          <p:cNvSpPr txBox="1"/>
          <p:nvPr/>
        </p:nvSpPr>
        <p:spPr>
          <a:xfrm>
            <a:off x="7863840" y="3566160"/>
            <a:ext cx="914400" cy="246888"/>
          </a:xfrm>
          <a:prstGeom prst="rect">
            <a:avLst/>
          </a:prstGeom>
          <a:noFill/>
          <a:ln/>
        </p:spPr>
        <p:txBody>
          <a:bodyPr wrap="square" lIns="0" tIns="0" rIns="0" bIns="0" rtlCol="0" anchor="ctr"/>
          <a:lstStyle/>
          <a:p>
            <a:pPr indent="0" marL="0">
              <a:buNone/>
            </a:pPr>
            <a:r>
              <a:rPr lang="en-US" sz="1300" b="1" dirty="0">
                <a:solidFill>
                  <a:schemeClr val="bg1"/>
                </a:solidFill>
              </a:rPr>
              <a:t>Kubernetes</a:t>
            </a:r>
            <a:endParaRPr lang="en-US" sz="1300" dirty="0"/>
          </a:p>
        </p:txBody>
      </p:sp>
      <p:sp>
        <p:nvSpPr>
          <p:cNvPr id="19" name="Text 16"/>
          <p:cNvSpPr txBox="1"/>
          <p:nvPr/>
        </p:nvSpPr>
        <p:spPr>
          <a:xfrm>
            <a:off x="7863840" y="3813048"/>
            <a:ext cx="914400" cy="201168"/>
          </a:xfrm>
          <a:prstGeom prst="rect">
            <a:avLst/>
          </a:prstGeom>
          <a:noFill/>
          <a:ln/>
        </p:spPr>
        <p:txBody>
          <a:bodyPr wrap="square" lIns="0" tIns="0" rIns="0" bIns="0" rtlCol="0" anchor="ctr"/>
          <a:lstStyle/>
          <a:p>
            <a:pPr indent="0" marL="0">
              <a:buNone/>
            </a:pPr>
            <a:r>
              <a:rPr lang="en-US" sz="1100" dirty="0">
                <a:solidFill>
                  <a:schemeClr val="bg2"/>
                </a:solidFill>
              </a:rPr>
              <a:t>runtime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Executive Summary</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From pipeline-driven deployments to a GitOps operating model</a:t>
            </a:r>
            <a:endParaRPr lang="en-US" sz="1500" dirty="0"/>
          </a:p>
        </p:txBody>
      </p:sp>
      <p:sp>
        <p:nvSpPr>
          <p:cNvPr id="4" name="Card 17"/>
          <p:cNvSpPr/>
          <p:nvPr/>
        </p:nvSpPr>
        <p:spPr>
          <a:xfrm>
            <a:off x="457200" y="1371600"/>
            <a:ext cx="8229600" cy="566928"/>
          </a:xfrm>
          <a:prstGeom prst="roundRect">
            <a:avLst>
              <a:gd name="adj" fmla="val 12903"/>
            </a:avLst>
          </a:prstGeom>
          <a:solidFill>
            <a:schemeClr val="bg2"/>
          </a:solidFill>
          <a:ln/>
        </p:spPr>
      </p:sp>
      <p:sp>
        <p:nvSpPr>
          <p:cNvPr id="5" name="Icon circle 18"/>
          <p:cNvSpPr/>
          <p:nvPr/>
        </p:nvSpPr>
        <p:spPr>
          <a:xfrm>
            <a:off x="630936" y="1463040"/>
            <a:ext cx="384048" cy="384048"/>
          </a:xfrm>
          <a:prstGeom prst="ellipse">
            <a:avLst/>
          </a:prstGeom>
          <a:solidFill>
            <a:schemeClr val="accent5"/>
          </a:solidFill>
          <a:ln/>
        </p:spPr>
      </p:sp>
      <p:pic>
        <p:nvPicPr>
          <p:cNvPr id="6" name="Icon 19" descr="SiGithubactions">    </p:cNvPr>
          <p:cNvPicPr>
            <a:picLocks noChangeAspect="1"/>
          </p:cNvPicPr>
          <p:nvPr/>
        </p:nvPicPr>
        <p:blipFill>
          <a:blip r:embed="rId1"/>
          <a:stretch>
            <a:fillRect/>
          </a:stretch>
        </p:blipFill>
        <p:spPr>
          <a:xfrm>
            <a:off x="717347" y="1549451"/>
            <a:ext cx="211226" cy="211226"/>
          </a:xfrm>
          <a:prstGeom prst="rect">
            <a:avLst/>
          </a:prstGeom>
        </p:spPr>
      </p:pic>
      <p:sp>
        <p:nvSpPr>
          <p:cNvPr id="7" name="Text 20"/>
          <p:cNvSpPr txBox="1"/>
          <p:nvPr/>
        </p:nvSpPr>
        <p:spPr>
          <a:xfrm>
            <a:off x="1188720" y="1371600"/>
            <a:ext cx="1280160" cy="566928"/>
          </a:xfrm>
          <a:prstGeom prst="rect">
            <a:avLst/>
          </a:prstGeom>
          <a:noFill/>
          <a:ln/>
        </p:spPr>
        <p:txBody>
          <a:bodyPr wrap="square" lIns="0" tIns="0" rIns="0" bIns="0" rtlCol="0" anchor="ctr"/>
          <a:lstStyle/>
          <a:p>
            <a:pPr indent="0" marL="0">
              <a:buNone/>
            </a:pPr>
            <a:r>
              <a:rPr lang="en-US" sz="1500" b="1" dirty="0">
                <a:solidFill>
                  <a:schemeClr val="tx1"/>
                </a:solidFill>
              </a:rPr>
              <a:t>Today</a:t>
            </a:r>
            <a:endParaRPr lang="en-US" sz="1500" dirty="0"/>
          </a:p>
        </p:txBody>
      </p:sp>
      <p:sp>
        <p:nvSpPr>
          <p:cNvPr id="8" name="Text 21"/>
          <p:cNvSpPr txBox="1"/>
          <p:nvPr/>
        </p:nvSpPr>
        <p:spPr>
          <a:xfrm>
            <a:off x="2468880" y="1371600"/>
            <a:ext cx="6080760" cy="566928"/>
          </a:xfrm>
          <a:prstGeom prst="rect">
            <a:avLst/>
          </a:prstGeom>
          <a:noFill/>
          <a:ln/>
        </p:spPr>
        <p:txBody>
          <a:bodyPr wrap="square" lIns="0" tIns="0" rIns="0" bIns="0" rtlCol="0" anchor="ctr"/>
          <a:lstStyle/>
          <a:p>
            <a:pPr indent="0" marL="0">
              <a:buNone/>
            </a:pPr>
            <a:r>
              <a:rPr lang="en-US" sz="1400" dirty="0">
                <a:solidFill>
                  <a:schemeClr val="tx1"/>
                </a:solidFill>
              </a:rPr>
              <a:t>GitHub Actions builds and deploys to Kubernetes. Evidence is scattered and CI logs expire after ~60 days.</a:t>
            </a:r>
            <a:endParaRPr lang="en-US" sz="1400" dirty="0"/>
          </a:p>
        </p:txBody>
      </p:sp>
      <p:sp>
        <p:nvSpPr>
          <p:cNvPr id="9" name="Card 22"/>
          <p:cNvSpPr/>
          <p:nvPr/>
        </p:nvSpPr>
        <p:spPr>
          <a:xfrm>
            <a:off x="457200" y="2029968"/>
            <a:ext cx="8229600" cy="566928"/>
          </a:xfrm>
          <a:prstGeom prst="roundRect">
            <a:avLst>
              <a:gd name="adj" fmla="val 12903"/>
            </a:avLst>
          </a:prstGeom>
          <a:solidFill>
            <a:schemeClr val="bg2"/>
          </a:solidFill>
          <a:ln/>
        </p:spPr>
      </p:sp>
      <p:sp>
        <p:nvSpPr>
          <p:cNvPr id="10" name="Icon circle 23"/>
          <p:cNvSpPr/>
          <p:nvPr/>
        </p:nvSpPr>
        <p:spPr>
          <a:xfrm>
            <a:off x="630936" y="2121408"/>
            <a:ext cx="384048" cy="384048"/>
          </a:xfrm>
          <a:prstGeom prst="ellipse">
            <a:avLst/>
          </a:prstGeom>
          <a:solidFill>
            <a:schemeClr val="accent6"/>
          </a:solidFill>
          <a:ln/>
        </p:spPr>
      </p:sp>
      <p:pic>
        <p:nvPicPr>
          <p:cNvPr id="11" name="Icon 24" descr="FaExclamationTriangle">    </p:cNvPr>
          <p:cNvPicPr>
            <a:picLocks noChangeAspect="1"/>
          </p:cNvPicPr>
          <p:nvPr/>
        </p:nvPicPr>
        <p:blipFill>
          <a:blip r:embed="rId2"/>
          <a:stretch>
            <a:fillRect/>
          </a:stretch>
        </p:blipFill>
        <p:spPr>
          <a:xfrm>
            <a:off x="717347" y="2207819"/>
            <a:ext cx="211226" cy="211226"/>
          </a:xfrm>
          <a:prstGeom prst="rect">
            <a:avLst/>
          </a:prstGeom>
        </p:spPr>
      </p:pic>
      <p:sp>
        <p:nvSpPr>
          <p:cNvPr id="12" name="Text 25"/>
          <p:cNvSpPr txBox="1"/>
          <p:nvPr/>
        </p:nvSpPr>
        <p:spPr>
          <a:xfrm>
            <a:off x="1188720" y="2029968"/>
            <a:ext cx="1280160" cy="566928"/>
          </a:xfrm>
          <a:prstGeom prst="rect">
            <a:avLst/>
          </a:prstGeom>
          <a:noFill/>
          <a:ln/>
        </p:spPr>
        <p:txBody>
          <a:bodyPr wrap="square" lIns="0" tIns="0" rIns="0" bIns="0" rtlCol="0" anchor="ctr"/>
          <a:lstStyle/>
          <a:p>
            <a:pPr indent="0" marL="0">
              <a:buNone/>
            </a:pPr>
            <a:r>
              <a:rPr lang="en-US" sz="1500" b="1" dirty="0">
                <a:solidFill>
                  <a:schemeClr val="tx1"/>
                </a:solidFill>
              </a:rPr>
              <a:t>Problem</a:t>
            </a:r>
            <a:endParaRPr lang="en-US" sz="1500" dirty="0"/>
          </a:p>
        </p:txBody>
      </p:sp>
      <p:sp>
        <p:nvSpPr>
          <p:cNvPr id="13" name="Text 26"/>
          <p:cNvSpPr txBox="1"/>
          <p:nvPr/>
        </p:nvSpPr>
        <p:spPr>
          <a:xfrm>
            <a:off x="2468880" y="2029968"/>
            <a:ext cx="6080760" cy="566928"/>
          </a:xfrm>
          <a:prstGeom prst="rect">
            <a:avLst/>
          </a:prstGeom>
          <a:noFill/>
          <a:ln/>
        </p:spPr>
        <p:txBody>
          <a:bodyPr wrap="square" lIns="0" tIns="0" rIns="0" bIns="0" rtlCol="0" anchor="ctr"/>
          <a:lstStyle/>
          <a:p>
            <a:pPr indent="0" marL="0">
              <a:buNone/>
            </a:pPr>
            <a:r>
              <a:rPr lang="en-US" sz="1400" dirty="0">
                <a:solidFill>
                  <a:schemeClr val="tx1"/>
                </a:solidFill>
              </a:rPr>
              <a:t>Deployment traceability depends on temporary logs and manual screenshots collected per deployment.</a:t>
            </a:r>
            <a:endParaRPr lang="en-US" sz="1400" dirty="0"/>
          </a:p>
        </p:txBody>
      </p:sp>
      <p:sp>
        <p:nvSpPr>
          <p:cNvPr id="14" name="Card 27"/>
          <p:cNvSpPr/>
          <p:nvPr/>
        </p:nvSpPr>
        <p:spPr>
          <a:xfrm>
            <a:off x="457200" y="2688336"/>
            <a:ext cx="8229600" cy="566928"/>
          </a:xfrm>
          <a:prstGeom prst="roundRect">
            <a:avLst>
              <a:gd name="adj" fmla="val 12903"/>
            </a:avLst>
          </a:prstGeom>
          <a:solidFill>
            <a:schemeClr val="bg2"/>
          </a:solidFill>
          <a:ln/>
        </p:spPr>
      </p:sp>
      <p:sp>
        <p:nvSpPr>
          <p:cNvPr id="15" name="Icon circle 28"/>
          <p:cNvSpPr/>
          <p:nvPr/>
        </p:nvSpPr>
        <p:spPr>
          <a:xfrm>
            <a:off x="630936" y="2779776"/>
            <a:ext cx="384048" cy="384048"/>
          </a:xfrm>
          <a:prstGeom prst="ellipse">
            <a:avLst/>
          </a:prstGeom>
          <a:solidFill>
            <a:schemeClr val="accent2"/>
          </a:solidFill>
          <a:ln/>
        </p:spPr>
      </p:sp>
      <p:pic>
        <p:nvPicPr>
          <p:cNvPr id="16" name="Icon 29" descr="SiArgo">    </p:cNvPr>
          <p:cNvPicPr>
            <a:picLocks noChangeAspect="1"/>
          </p:cNvPicPr>
          <p:nvPr/>
        </p:nvPicPr>
        <p:blipFill>
          <a:blip r:embed="rId3"/>
          <a:stretch>
            <a:fillRect/>
          </a:stretch>
        </p:blipFill>
        <p:spPr>
          <a:xfrm>
            <a:off x="717347" y="2866187"/>
            <a:ext cx="211226" cy="211226"/>
          </a:xfrm>
          <a:prstGeom prst="rect">
            <a:avLst/>
          </a:prstGeom>
        </p:spPr>
      </p:pic>
      <p:sp>
        <p:nvSpPr>
          <p:cNvPr id="17" name="Text 30"/>
          <p:cNvSpPr txBox="1"/>
          <p:nvPr/>
        </p:nvSpPr>
        <p:spPr>
          <a:xfrm>
            <a:off x="1188720" y="2688336"/>
            <a:ext cx="1280160" cy="566928"/>
          </a:xfrm>
          <a:prstGeom prst="rect">
            <a:avLst/>
          </a:prstGeom>
          <a:noFill/>
          <a:ln/>
        </p:spPr>
        <p:txBody>
          <a:bodyPr wrap="square" lIns="0" tIns="0" rIns="0" bIns="0" rtlCol="0" anchor="ctr"/>
          <a:lstStyle/>
          <a:p>
            <a:pPr indent="0" marL="0">
              <a:buNone/>
            </a:pPr>
            <a:r>
              <a:rPr lang="en-US" sz="1500" b="1" dirty="0">
                <a:solidFill>
                  <a:schemeClr val="tx1"/>
                </a:solidFill>
              </a:rPr>
              <a:t>Proposal</a:t>
            </a:r>
            <a:endParaRPr lang="en-US" sz="1500" dirty="0"/>
          </a:p>
        </p:txBody>
      </p:sp>
      <p:sp>
        <p:nvSpPr>
          <p:cNvPr id="18" name="Text 31"/>
          <p:cNvSpPr txBox="1"/>
          <p:nvPr/>
        </p:nvSpPr>
        <p:spPr>
          <a:xfrm>
            <a:off x="2468880" y="2688336"/>
            <a:ext cx="6080760" cy="566928"/>
          </a:xfrm>
          <a:prstGeom prst="rect">
            <a:avLst/>
          </a:prstGeom>
          <a:noFill/>
          <a:ln/>
        </p:spPr>
        <p:txBody>
          <a:bodyPr wrap="square" lIns="0" tIns="0" rIns="0" bIns="0" rtlCol="0" anchor="ctr"/>
          <a:lstStyle/>
          <a:p>
            <a:pPr indent="0" marL="0">
              <a:buNone/>
            </a:pPr>
            <a:r>
              <a:rPr lang="en-US" sz="1400" dirty="0">
                <a:solidFill>
                  <a:schemeClr val="tx1"/>
                </a:solidFill>
              </a:rPr>
              <a:t>Keep GitHub Actions for CI. Add Argo CD as the GitOps CD layer, with Git as the desired state.</a:t>
            </a:r>
            <a:endParaRPr lang="en-US" sz="1400" dirty="0"/>
          </a:p>
        </p:txBody>
      </p:sp>
      <p:sp>
        <p:nvSpPr>
          <p:cNvPr id="19" name="Card 32"/>
          <p:cNvSpPr/>
          <p:nvPr/>
        </p:nvSpPr>
        <p:spPr>
          <a:xfrm>
            <a:off x="457200" y="3346704"/>
            <a:ext cx="8229600" cy="566928"/>
          </a:xfrm>
          <a:prstGeom prst="roundRect">
            <a:avLst>
              <a:gd name="adj" fmla="val 12903"/>
            </a:avLst>
          </a:prstGeom>
          <a:solidFill>
            <a:schemeClr val="bg2"/>
          </a:solidFill>
          <a:ln/>
        </p:spPr>
      </p:sp>
      <p:sp>
        <p:nvSpPr>
          <p:cNvPr id="20" name="Icon circle 33"/>
          <p:cNvSpPr/>
          <p:nvPr/>
        </p:nvSpPr>
        <p:spPr>
          <a:xfrm>
            <a:off x="630936" y="3438144"/>
            <a:ext cx="384048" cy="384048"/>
          </a:xfrm>
          <a:prstGeom prst="ellipse">
            <a:avLst/>
          </a:prstGeom>
          <a:solidFill>
            <a:schemeClr val="accent3"/>
          </a:solidFill>
          <a:ln/>
        </p:spPr>
      </p:sp>
      <p:pic>
        <p:nvPicPr>
          <p:cNvPr id="21" name="Icon 34" descr="FaCheckCircle">    </p:cNvPr>
          <p:cNvPicPr>
            <a:picLocks noChangeAspect="1"/>
          </p:cNvPicPr>
          <p:nvPr/>
        </p:nvPicPr>
        <p:blipFill>
          <a:blip r:embed="rId4"/>
          <a:stretch>
            <a:fillRect/>
          </a:stretch>
        </p:blipFill>
        <p:spPr>
          <a:xfrm>
            <a:off x="717347" y="3524555"/>
            <a:ext cx="211226" cy="211226"/>
          </a:xfrm>
          <a:prstGeom prst="rect">
            <a:avLst/>
          </a:prstGeom>
        </p:spPr>
      </p:pic>
      <p:sp>
        <p:nvSpPr>
          <p:cNvPr id="22" name="Text 35"/>
          <p:cNvSpPr txBox="1"/>
          <p:nvPr/>
        </p:nvSpPr>
        <p:spPr>
          <a:xfrm>
            <a:off x="1188720" y="3346704"/>
            <a:ext cx="1280160" cy="566928"/>
          </a:xfrm>
          <a:prstGeom prst="rect">
            <a:avLst/>
          </a:prstGeom>
          <a:noFill/>
          <a:ln/>
        </p:spPr>
        <p:txBody>
          <a:bodyPr wrap="square" lIns="0" tIns="0" rIns="0" bIns="0" rtlCol="0" anchor="ctr"/>
          <a:lstStyle/>
          <a:p>
            <a:pPr indent="0" marL="0">
              <a:buNone/>
            </a:pPr>
            <a:r>
              <a:rPr lang="en-US" sz="1500" b="1" dirty="0">
                <a:solidFill>
                  <a:schemeClr val="tx1"/>
                </a:solidFill>
              </a:rPr>
              <a:t>Expected</a:t>
            </a:r>
            <a:endParaRPr lang="en-US" sz="1500" dirty="0"/>
          </a:p>
        </p:txBody>
      </p:sp>
      <p:sp>
        <p:nvSpPr>
          <p:cNvPr id="23" name="Text 36"/>
          <p:cNvSpPr txBox="1"/>
          <p:nvPr/>
        </p:nvSpPr>
        <p:spPr>
          <a:xfrm>
            <a:off x="2468880" y="3346704"/>
            <a:ext cx="6080760" cy="566928"/>
          </a:xfrm>
          <a:prstGeom prst="rect">
            <a:avLst/>
          </a:prstGeom>
          <a:noFill/>
          <a:ln/>
        </p:spPr>
        <p:txBody>
          <a:bodyPr wrap="square" lIns="0" tIns="0" rIns="0" bIns="0" rtlCol="0" anchor="ctr"/>
          <a:lstStyle/>
          <a:p>
            <a:pPr indent="0" marL="0">
              <a:buNone/>
            </a:pPr>
            <a:r>
              <a:rPr lang="en-US" sz="1400" dirty="0">
                <a:solidFill>
                  <a:schemeClr val="tx1"/>
                </a:solidFill>
              </a:rPr>
              <a:t>Git-based history, a central deployment view, drift detection and simpler rollback.</a:t>
            </a:r>
            <a:endParaRPr lang="en-US" sz="1400" dirty="0"/>
          </a:p>
        </p:txBody>
      </p:sp>
      <p:sp>
        <p:nvSpPr>
          <p:cNvPr id="24" name="Card 37"/>
          <p:cNvSpPr/>
          <p:nvPr/>
        </p:nvSpPr>
        <p:spPr>
          <a:xfrm>
            <a:off x="457200" y="4005072"/>
            <a:ext cx="8229600" cy="566928"/>
          </a:xfrm>
          <a:prstGeom prst="roundRect">
            <a:avLst>
              <a:gd name="adj" fmla="val 12903"/>
            </a:avLst>
          </a:prstGeom>
          <a:solidFill>
            <a:schemeClr val="bg2"/>
          </a:solidFill>
          <a:ln/>
        </p:spPr>
      </p:sp>
      <p:sp>
        <p:nvSpPr>
          <p:cNvPr id="25" name="Icon circle 38"/>
          <p:cNvSpPr/>
          <p:nvPr/>
        </p:nvSpPr>
        <p:spPr>
          <a:xfrm>
            <a:off x="630936" y="4096512"/>
            <a:ext cx="384048" cy="384048"/>
          </a:xfrm>
          <a:prstGeom prst="ellipse">
            <a:avLst/>
          </a:prstGeom>
          <a:solidFill>
            <a:schemeClr val="accent1"/>
          </a:solidFill>
          <a:ln/>
        </p:spPr>
      </p:sp>
      <p:pic>
        <p:nvPicPr>
          <p:cNvPr id="26" name="Icon 39" descr="FaClipboardCheck">    </p:cNvPr>
          <p:cNvPicPr>
            <a:picLocks noChangeAspect="1"/>
          </p:cNvPicPr>
          <p:nvPr/>
        </p:nvPicPr>
        <p:blipFill>
          <a:blip r:embed="rId5"/>
          <a:stretch>
            <a:fillRect/>
          </a:stretch>
        </p:blipFill>
        <p:spPr>
          <a:xfrm>
            <a:off x="717347" y="4182923"/>
            <a:ext cx="211226" cy="211226"/>
          </a:xfrm>
          <a:prstGeom prst="rect">
            <a:avLst/>
          </a:prstGeom>
        </p:spPr>
      </p:pic>
      <p:sp>
        <p:nvSpPr>
          <p:cNvPr id="27" name="Text 40"/>
          <p:cNvSpPr txBox="1"/>
          <p:nvPr/>
        </p:nvSpPr>
        <p:spPr>
          <a:xfrm>
            <a:off x="1188720" y="4005072"/>
            <a:ext cx="1280160" cy="566928"/>
          </a:xfrm>
          <a:prstGeom prst="rect">
            <a:avLst/>
          </a:prstGeom>
          <a:noFill/>
          <a:ln/>
        </p:spPr>
        <p:txBody>
          <a:bodyPr wrap="square" lIns="0" tIns="0" rIns="0" bIns="0" rtlCol="0" anchor="ctr"/>
          <a:lstStyle/>
          <a:p>
            <a:pPr indent="0" marL="0">
              <a:buNone/>
            </a:pPr>
            <a:r>
              <a:rPr lang="en-US" sz="1500" b="1" dirty="0">
                <a:solidFill>
                  <a:schemeClr val="tx1"/>
                </a:solidFill>
              </a:rPr>
              <a:t>Next step</a:t>
            </a:r>
            <a:endParaRPr lang="en-US" sz="1500" dirty="0"/>
          </a:p>
        </p:txBody>
      </p:sp>
      <p:sp>
        <p:nvSpPr>
          <p:cNvPr id="28" name="Text 41"/>
          <p:cNvSpPr txBox="1"/>
          <p:nvPr/>
        </p:nvSpPr>
        <p:spPr>
          <a:xfrm>
            <a:off x="2468880" y="4005072"/>
            <a:ext cx="6080760" cy="566928"/>
          </a:xfrm>
          <a:prstGeom prst="rect">
            <a:avLst/>
          </a:prstGeom>
          <a:noFill/>
          <a:ln/>
        </p:spPr>
        <p:txBody>
          <a:bodyPr wrap="square" lIns="0" tIns="0" rIns="0" bIns="0" rtlCol="0" anchor="ctr"/>
          <a:lstStyle/>
          <a:p>
            <a:pPr indent="0" marL="0">
              <a:buNone/>
            </a:pPr>
            <a:r>
              <a:rPr lang="en-US" sz="1400" dirty="0">
                <a:solidFill>
                  <a:schemeClr val="tx1"/>
                </a:solidFill>
              </a:rPr>
              <a:t>A limited POC with 1–2 applications, validated against defined criteria before any wider rollout.</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Current Deployment Architecture</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GitHub Actions owns both CI and the deployment to Kubernetes</a:t>
            </a:r>
            <a:endParaRPr lang="en-US" sz="1500" dirty="0"/>
          </a:p>
        </p:txBody>
      </p:sp>
      <p:sp>
        <p:nvSpPr>
          <p:cNvPr id="4" name="Card 42"/>
          <p:cNvSpPr/>
          <p:nvPr/>
        </p:nvSpPr>
        <p:spPr>
          <a:xfrm>
            <a:off x="530352" y="1874520"/>
            <a:ext cx="1325880" cy="1005840"/>
          </a:xfrm>
          <a:prstGeom prst="roundRect">
            <a:avLst>
              <a:gd name="adj" fmla="val 7273"/>
            </a:avLst>
          </a:prstGeom>
          <a:solidFill>
            <a:schemeClr val="tx2"/>
          </a:solidFill>
          <a:ln/>
        </p:spPr>
      </p:sp>
      <p:pic>
        <p:nvPicPr>
          <p:cNvPr id="5" name="Icon 43" descr="FaUser">    </p:cNvPr>
          <p:cNvPicPr>
            <a:picLocks noChangeAspect="1"/>
          </p:cNvPicPr>
          <p:nvPr/>
        </p:nvPicPr>
        <p:blipFill>
          <a:blip r:embed="rId1"/>
          <a:stretch>
            <a:fillRect/>
          </a:stretch>
        </p:blipFill>
        <p:spPr>
          <a:xfrm>
            <a:off x="1019556" y="1984248"/>
            <a:ext cx="347472" cy="347472"/>
          </a:xfrm>
          <a:prstGeom prst="rect">
            <a:avLst/>
          </a:prstGeom>
        </p:spPr>
      </p:pic>
      <p:sp>
        <p:nvSpPr>
          <p:cNvPr id="6" name="Text 44"/>
          <p:cNvSpPr txBox="1"/>
          <p:nvPr/>
        </p:nvSpPr>
        <p:spPr>
          <a:xfrm>
            <a:off x="576072" y="2368296"/>
            <a:ext cx="1234440" cy="237744"/>
          </a:xfrm>
          <a:prstGeom prst="rect">
            <a:avLst/>
          </a:prstGeom>
          <a:noFill/>
          <a:ln/>
        </p:spPr>
        <p:txBody>
          <a:bodyPr wrap="square" lIns="0" tIns="0" rIns="0" bIns="0" rtlCol="0" anchor="ctr"/>
          <a:lstStyle/>
          <a:p>
            <a:pPr algn="ctr" indent="0" marL="0">
              <a:buNone/>
            </a:pPr>
            <a:r>
              <a:rPr lang="en-US" sz="1300" b="1" dirty="0">
                <a:solidFill>
                  <a:schemeClr val="bg1"/>
                </a:solidFill>
              </a:rPr>
              <a:t>Developer</a:t>
            </a:r>
            <a:endParaRPr lang="en-US" sz="1300" dirty="0"/>
          </a:p>
        </p:txBody>
      </p:sp>
      <p:sp>
        <p:nvSpPr>
          <p:cNvPr id="7" name="Text 45"/>
          <p:cNvSpPr txBox="1"/>
          <p:nvPr/>
        </p:nvSpPr>
        <p:spPr>
          <a:xfrm>
            <a:off x="576072" y="2596896"/>
            <a:ext cx="1234440" cy="201168"/>
          </a:xfrm>
          <a:prstGeom prst="rect">
            <a:avLst/>
          </a:prstGeom>
          <a:noFill/>
          <a:ln/>
        </p:spPr>
        <p:txBody>
          <a:bodyPr wrap="square" lIns="0" tIns="0" rIns="0" bIns="0" rtlCol="0" anchor="ctr"/>
          <a:lstStyle/>
          <a:p>
            <a:pPr algn="ctr" indent="0" marL="0">
              <a:buNone/>
            </a:pPr>
            <a:r>
              <a:rPr lang="en-US" sz="1100" dirty="0">
                <a:solidFill>
                  <a:schemeClr val="bg1"/>
                </a:solidFill>
              </a:rPr>
              <a:t>commit / PR</a:t>
            </a:r>
            <a:endParaRPr lang="en-US" sz="1100" dirty="0"/>
          </a:p>
        </p:txBody>
      </p:sp>
      <p:sp>
        <p:nvSpPr>
          <p:cNvPr id="8" name="Connector 46"/>
          <p:cNvSpPr/>
          <p:nvPr/>
        </p:nvSpPr>
        <p:spPr>
          <a:xfrm>
            <a:off x="1883664" y="2377440"/>
            <a:ext cx="310896" cy="0"/>
          </a:xfrm>
          <a:prstGeom prst="line">
            <a:avLst/>
          </a:prstGeom>
          <a:noFill/>
          <a:ln w="19050">
            <a:solidFill>
              <a:schemeClr val="tx1"/>
            </a:solidFill>
            <a:prstDash val="solid"/>
            <a:tailEnd type="triangle"/>
          </a:ln>
        </p:spPr>
      </p:sp>
      <p:sp>
        <p:nvSpPr>
          <p:cNvPr id="9" name="Card 47"/>
          <p:cNvSpPr/>
          <p:nvPr/>
        </p:nvSpPr>
        <p:spPr>
          <a:xfrm>
            <a:off x="2221992" y="1874520"/>
            <a:ext cx="1325880" cy="1005840"/>
          </a:xfrm>
          <a:prstGeom prst="roundRect">
            <a:avLst>
              <a:gd name="adj" fmla="val 7273"/>
            </a:avLst>
          </a:prstGeom>
          <a:solidFill>
            <a:schemeClr val="accent5"/>
          </a:solidFill>
          <a:ln/>
        </p:spPr>
      </p:sp>
      <p:pic>
        <p:nvPicPr>
          <p:cNvPr id="10" name="Icon 48" descr="FaGithub">    </p:cNvPr>
          <p:cNvPicPr>
            <a:picLocks noChangeAspect="1"/>
          </p:cNvPicPr>
          <p:nvPr/>
        </p:nvPicPr>
        <p:blipFill>
          <a:blip r:embed="rId2"/>
          <a:stretch>
            <a:fillRect/>
          </a:stretch>
        </p:blipFill>
        <p:spPr>
          <a:xfrm>
            <a:off x="2711196" y="1984248"/>
            <a:ext cx="347472" cy="347472"/>
          </a:xfrm>
          <a:prstGeom prst="rect">
            <a:avLst/>
          </a:prstGeom>
        </p:spPr>
      </p:pic>
      <p:sp>
        <p:nvSpPr>
          <p:cNvPr id="11" name="Text 49"/>
          <p:cNvSpPr txBox="1"/>
          <p:nvPr/>
        </p:nvSpPr>
        <p:spPr>
          <a:xfrm>
            <a:off x="2267712" y="2368296"/>
            <a:ext cx="1234440" cy="237744"/>
          </a:xfrm>
          <a:prstGeom prst="rect">
            <a:avLst/>
          </a:prstGeom>
          <a:noFill/>
          <a:ln/>
        </p:spPr>
        <p:txBody>
          <a:bodyPr wrap="square" lIns="0" tIns="0" rIns="0" bIns="0" rtlCol="0" anchor="ctr"/>
          <a:lstStyle/>
          <a:p>
            <a:pPr algn="ctr" indent="0" marL="0">
              <a:buNone/>
            </a:pPr>
            <a:r>
              <a:rPr lang="en-US" sz="1300" b="1" dirty="0">
                <a:solidFill>
                  <a:schemeClr val="bg1"/>
                </a:solidFill>
              </a:rPr>
              <a:t>GitHub</a:t>
            </a:r>
            <a:endParaRPr lang="en-US" sz="1300" dirty="0"/>
          </a:p>
        </p:txBody>
      </p:sp>
      <p:sp>
        <p:nvSpPr>
          <p:cNvPr id="12" name="Text 50"/>
          <p:cNvSpPr txBox="1"/>
          <p:nvPr/>
        </p:nvSpPr>
        <p:spPr>
          <a:xfrm>
            <a:off x="2267712" y="2596896"/>
            <a:ext cx="1234440" cy="201168"/>
          </a:xfrm>
          <a:prstGeom prst="rect">
            <a:avLst/>
          </a:prstGeom>
          <a:noFill/>
          <a:ln/>
        </p:spPr>
        <p:txBody>
          <a:bodyPr wrap="square" lIns="0" tIns="0" rIns="0" bIns="0" rtlCol="0" anchor="ctr"/>
          <a:lstStyle/>
          <a:p>
            <a:pPr algn="ctr" indent="0" marL="0">
              <a:buNone/>
            </a:pPr>
            <a:r>
              <a:rPr lang="en-US" sz="1100" dirty="0">
                <a:solidFill>
                  <a:schemeClr val="bg1"/>
                </a:solidFill>
              </a:rPr>
              <a:t>source repo</a:t>
            </a:r>
            <a:endParaRPr lang="en-US" sz="1100" dirty="0"/>
          </a:p>
        </p:txBody>
      </p:sp>
      <p:sp>
        <p:nvSpPr>
          <p:cNvPr id="13" name="Connector 51"/>
          <p:cNvSpPr/>
          <p:nvPr/>
        </p:nvSpPr>
        <p:spPr>
          <a:xfrm>
            <a:off x="3575304" y="2377440"/>
            <a:ext cx="310896" cy="0"/>
          </a:xfrm>
          <a:prstGeom prst="line">
            <a:avLst/>
          </a:prstGeom>
          <a:noFill/>
          <a:ln w="19050">
            <a:solidFill>
              <a:schemeClr val="tx1"/>
            </a:solidFill>
            <a:prstDash val="solid"/>
            <a:tailEnd type="triangle"/>
          </a:ln>
        </p:spPr>
      </p:sp>
      <p:sp>
        <p:nvSpPr>
          <p:cNvPr id="14" name="Card 52"/>
          <p:cNvSpPr/>
          <p:nvPr/>
        </p:nvSpPr>
        <p:spPr>
          <a:xfrm>
            <a:off x="3913632" y="1874520"/>
            <a:ext cx="1325880" cy="1005840"/>
          </a:xfrm>
          <a:prstGeom prst="roundRect">
            <a:avLst>
              <a:gd name="adj" fmla="val 7273"/>
            </a:avLst>
          </a:prstGeom>
          <a:solidFill>
            <a:schemeClr val="accent5"/>
          </a:solidFill>
          <a:ln/>
        </p:spPr>
      </p:sp>
      <p:pic>
        <p:nvPicPr>
          <p:cNvPr id="15" name="Icon 53" descr="SiGithubactions">    </p:cNvPr>
          <p:cNvPicPr>
            <a:picLocks noChangeAspect="1"/>
          </p:cNvPicPr>
          <p:nvPr/>
        </p:nvPicPr>
        <p:blipFill>
          <a:blip r:embed="rId3"/>
          <a:stretch>
            <a:fillRect/>
          </a:stretch>
        </p:blipFill>
        <p:spPr>
          <a:xfrm>
            <a:off x="4402836" y="1984248"/>
            <a:ext cx="347472" cy="347472"/>
          </a:xfrm>
          <a:prstGeom prst="rect">
            <a:avLst/>
          </a:prstGeom>
        </p:spPr>
      </p:pic>
      <p:sp>
        <p:nvSpPr>
          <p:cNvPr id="16" name="Text 54"/>
          <p:cNvSpPr txBox="1"/>
          <p:nvPr/>
        </p:nvSpPr>
        <p:spPr>
          <a:xfrm>
            <a:off x="3959352" y="2368296"/>
            <a:ext cx="1234440" cy="237744"/>
          </a:xfrm>
          <a:prstGeom prst="rect">
            <a:avLst/>
          </a:prstGeom>
          <a:noFill/>
          <a:ln/>
        </p:spPr>
        <p:txBody>
          <a:bodyPr wrap="square" lIns="0" tIns="0" rIns="0" bIns="0" rtlCol="0" anchor="ctr"/>
          <a:lstStyle/>
          <a:p>
            <a:pPr algn="ctr" indent="0" marL="0">
              <a:buNone/>
            </a:pPr>
            <a:r>
              <a:rPr lang="en-US" sz="1300" b="1" dirty="0">
                <a:solidFill>
                  <a:schemeClr val="bg1"/>
                </a:solidFill>
              </a:rPr>
              <a:t>GitHub Actions</a:t>
            </a:r>
            <a:endParaRPr lang="en-US" sz="1300" dirty="0"/>
          </a:p>
        </p:txBody>
      </p:sp>
      <p:sp>
        <p:nvSpPr>
          <p:cNvPr id="17" name="Text 55"/>
          <p:cNvSpPr txBox="1"/>
          <p:nvPr/>
        </p:nvSpPr>
        <p:spPr>
          <a:xfrm>
            <a:off x="3959352" y="2596896"/>
            <a:ext cx="1234440" cy="201168"/>
          </a:xfrm>
          <a:prstGeom prst="rect">
            <a:avLst/>
          </a:prstGeom>
          <a:noFill/>
          <a:ln/>
        </p:spPr>
        <p:txBody>
          <a:bodyPr wrap="square" lIns="0" tIns="0" rIns="0" bIns="0" rtlCol="0" anchor="ctr"/>
          <a:lstStyle/>
          <a:p>
            <a:pPr algn="ctr" indent="0" marL="0">
              <a:buNone/>
            </a:pPr>
            <a:r>
              <a:rPr lang="en-US" sz="1100" dirty="0">
                <a:solidFill>
                  <a:schemeClr val="bg1"/>
                </a:solidFill>
              </a:rPr>
              <a:t>CI + deploy</a:t>
            </a:r>
            <a:endParaRPr lang="en-US" sz="1100" dirty="0"/>
          </a:p>
        </p:txBody>
      </p:sp>
      <p:sp>
        <p:nvSpPr>
          <p:cNvPr id="18" name="Connector 56"/>
          <p:cNvSpPr/>
          <p:nvPr/>
        </p:nvSpPr>
        <p:spPr>
          <a:xfrm>
            <a:off x="5266944" y="2377440"/>
            <a:ext cx="310896" cy="0"/>
          </a:xfrm>
          <a:prstGeom prst="line">
            <a:avLst/>
          </a:prstGeom>
          <a:noFill/>
          <a:ln w="19050">
            <a:solidFill>
              <a:schemeClr val="tx1"/>
            </a:solidFill>
            <a:prstDash val="solid"/>
            <a:tailEnd type="triangle"/>
          </a:ln>
        </p:spPr>
      </p:sp>
      <p:sp>
        <p:nvSpPr>
          <p:cNvPr id="19" name="Card 57"/>
          <p:cNvSpPr/>
          <p:nvPr/>
        </p:nvSpPr>
        <p:spPr>
          <a:xfrm>
            <a:off x="5605272" y="1874520"/>
            <a:ext cx="1325880" cy="1005840"/>
          </a:xfrm>
          <a:prstGeom prst="roundRect">
            <a:avLst>
              <a:gd name="adj" fmla="val 7273"/>
            </a:avLst>
          </a:prstGeom>
          <a:solidFill>
            <a:schemeClr val="accent4"/>
          </a:solidFill>
          <a:ln/>
        </p:spPr>
      </p:sp>
      <p:pic>
        <p:nvPicPr>
          <p:cNvPr id="20" name="Icon 58" descr="SiHarbor">    </p:cNvPr>
          <p:cNvPicPr>
            <a:picLocks noChangeAspect="1"/>
          </p:cNvPicPr>
          <p:nvPr/>
        </p:nvPicPr>
        <p:blipFill>
          <a:blip r:embed="rId4"/>
          <a:stretch>
            <a:fillRect/>
          </a:stretch>
        </p:blipFill>
        <p:spPr>
          <a:xfrm>
            <a:off x="6094476" y="1984248"/>
            <a:ext cx="347472" cy="347472"/>
          </a:xfrm>
          <a:prstGeom prst="rect">
            <a:avLst/>
          </a:prstGeom>
        </p:spPr>
      </p:pic>
      <p:sp>
        <p:nvSpPr>
          <p:cNvPr id="21" name="Text 59"/>
          <p:cNvSpPr txBox="1"/>
          <p:nvPr/>
        </p:nvSpPr>
        <p:spPr>
          <a:xfrm>
            <a:off x="5650992" y="2368296"/>
            <a:ext cx="1234440" cy="237744"/>
          </a:xfrm>
          <a:prstGeom prst="rect">
            <a:avLst/>
          </a:prstGeom>
          <a:noFill/>
          <a:ln/>
        </p:spPr>
        <p:txBody>
          <a:bodyPr wrap="square" lIns="0" tIns="0" rIns="0" bIns="0" rtlCol="0" anchor="ctr"/>
          <a:lstStyle/>
          <a:p>
            <a:pPr algn="ctr" indent="0" marL="0">
              <a:buNone/>
            </a:pPr>
            <a:r>
              <a:rPr lang="en-US" sz="1300" b="1" dirty="0">
                <a:solidFill>
                  <a:schemeClr val="bg1"/>
                </a:solidFill>
              </a:rPr>
              <a:t>Harbor</a:t>
            </a:r>
            <a:endParaRPr lang="en-US" sz="1300" dirty="0"/>
          </a:p>
        </p:txBody>
      </p:sp>
      <p:sp>
        <p:nvSpPr>
          <p:cNvPr id="22" name="Text 60"/>
          <p:cNvSpPr txBox="1"/>
          <p:nvPr/>
        </p:nvSpPr>
        <p:spPr>
          <a:xfrm>
            <a:off x="5650992" y="2596896"/>
            <a:ext cx="1234440" cy="201168"/>
          </a:xfrm>
          <a:prstGeom prst="rect">
            <a:avLst/>
          </a:prstGeom>
          <a:noFill/>
          <a:ln/>
        </p:spPr>
        <p:txBody>
          <a:bodyPr wrap="square" lIns="0" tIns="0" rIns="0" bIns="0" rtlCol="0" anchor="ctr"/>
          <a:lstStyle/>
          <a:p>
            <a:pPr algn="ctr" indent="0" marL="0">
              <a:buNone/>
            </a:pPr>
            <a:r>
              <a:rPr lang="en-US" sz="1100" dirty="0">
                <a:solidFill>
                  <a:schemeClr val="bg1"/>
                </a:solidFill>
              </a:rPr>
              <a:t>image registry</a:t>
            </a:r>
            <a:endParaRPr lang="en-US" sz="1100" dirty="0"/>
          </a:p>
        </p:txBody>
      </p:sp>
      <p:sp>
        <p:nvSpPr>
          <p:cNvPr id="23" name="Connector 61"/>
          <p:cNvSpPr/>
          <p:nvPr/>
        </p:nvSpPr>
        <p:spPr>
          <a:xfrm>
            <a:off x="6958584" y="2377440"/>
            <a:ext cx="310896" cy="0"/>
          </a:xfrm>
          <a:prstGeom prst="line">
            <a:avLst/>
          </a:prstGeom>
          <a:noFill/>
          <a:ln w="19050">
            <a:solidFill>
              <a:schemeClr val="tx1"/>
            </a:solidFill>
            <a:prstDash val="solid"/>
            <a:tailEnd type="triangle"/>
          </a:ln>
        </p:spPr>
      </p:sp>
      <p:sp>
        <p:nvSpPr>
          <p:cNvPr id="24" name="Card 62"/>
          <p:cNvSpPr/>
          <p:nvPr/>
        </p:nvSpPr>
        <p:spPr>
          <a:xfrm>
            <a:off x="7296912" y="1874520"/>
            <a:ext cx="1325880" cy="1005840"/>
          </a:xfrm>
          <a:prstGeom prst="roundRect">
            <a:avLst>
              <a:gd name="adj" fmla="val 7273"/>
            </a:avLst>
          </a:prstGeom>
          <a:solidFill>
            <a:schemeClr val="accent1"/>
          </a:solidFill>
          <a:ln/>
        </p:spPr>
      </p:sp>
      <p:pic>
        <p:nvPicPr>
          <p:cNvPr id="25" name="Icon 63" descr="SiKubernetes">    </p:cNvPr>
          <p:cNvPicPr>
            <a:picLocks noChangeAspect="1"/>
          </p:cNvPicPr>
          <p:nvPr/>
        </p:nvPicPr>
        <p:blipFill>
          <a:blip r:embed="rId5"/>
          <a:stretch>
            <a:fillRect/>
          </a:stretch>
        </p:blipFill>
        <p:spPr>
          <a:xfrm>
            <a:off x="7786116" y="1984248"/>
            <a:ext cx="347472" cy="347472"/>
          </a:xfrm>
          <a:prstGeom prst="rect">
            <a:avLst/>
          </a:prstGeom>
        </p:spPr>
      </p:pic>
      <p:sp>
        <p:nvSpPr>
          <p:cNvPr id="26" name="Text 64"/>
          <p:cNvSpPr txBox="1"/>
          <p:nvPr/>
        </p:nvSpPr>
        <p:spPr>
          <a:xfrm>
            <a:off x="7342632" y="2368296"/>
            <a:ext cx="1234440" cy="237744"/>
          </a:xfrm>
          <a:prstGeom prst="rect">
            <a:avLst/>
          </a:prstGeom>
          <a:noFill/>
          <a:ln/>
        </p:spPr>
        <p:txBody>
          <a:bodyPr wrap="square" lIns="0" tIns="0" rIns="0" bIns="0" rtlCol="0" anchor="ctr"/>
          <a:lstStyle/>
          <a:p>
            <a:pPr algn="ctr" indent="0" marL="0">
              <a:buNone/>
            </a:pPr>
            <a:r>
              <a:rPr lang="en-US" sz="1300" b="1" dirty="0">
                <a:solidFill>
                  <a:schemeClr val="bg1"/>
                </a:solidFill>
              </a:rPr>
              <a:t>Kubernetes</a:t>
            </a:r>
            <a:endParaRPr lang="en-US" sz="1300" dirty="0"/>
          </a:p>
        </p:txBody>
      </p:sp>
      <p:sp>
        <p:nvSpPr>
          <p:cNvPr id="27" name="Text 65"/>
          <p:cNvSpPr txBox="1"/>
          <p:nvPr/>
        </p:nvSpPr>
        <p:spPr>
          <a:xfrm>
            <a:off x="7342632" y="2596896"/>
            <a:ext cx="1234440" cy="201168"/>
          </a:xfrm>
          <a:prstGeom prst="rect">
            <a:avLst/>
          </a:prstGeom>
          <a:noFill/>
          <a:ln/>
        </p:spPr>
        <p:txBody>
          <a:bodyPr wrap="square" lIns="0" tIns="0" rIns="0" bIns="0" rtlCol="0" anchor="ctr"/>
          <a:lstStyle/>
          <a:p>
            <a:pPr algn="ctr" indent="0" marL="0">
              <a:buNone/>
            </a:pPr>
            <a:r>
              <a:rPr lang="en-US" sz="1100" dirty="0">
                <a:solidFill>
                  <a:schemeClr val="bg1"/>
                </a:solidFill>
              </a:rPr>
              <a:t>runtime</a:t>
            </a:r>
            <a:endParaRPr lang="en-US" sz="1100" dirty="0"/>
          </a:p>
        </p:txBody>
      </p:sp>
      <p:sp>
        <p:nvSpPr>
          <p:cNvPr id="28" name="Highlight 66"/>
          <p:cNvSpPr/>
          <p:nvPr/>
        </p:nvSpPr>
        <p:spPr>
          <a:xfrm>
            <a:off x="3840480" y="1801368"/>
            <a:ext cx="1472184" cy="1152144"/>
          </a:xfrm>
          <a:prstGeom prst="roundRect">
            <a:avLst>
              <a:gd name="adj" fmla="val 7937"/>
            </a:avLst>
          </a:prstGeom>
          <a:solidFill>
            <a:schemeClr val="bg1">
              <a:alpha val="0"/>
            </a:schemeClr>
          </a:solidFill>
          <a:ln w="25400">
            <a:solidFill>
              <a:schemeClr val="accent2"/>
            </a:solidFill>
            <a:prstDash val="dash"/>
          </a:ln>
        </p:spPr>
      </p:sp>
      <p:sp>
        <p:nvSpPr>
          <p:cNvPr id="29" name="Card 67"/>
          <p:cNvSpPr/>
          <p:nvPr/>
        </p:nvSpPr>
        <p:spPr>
          <a:xfrm>
            <a:off x="3913632" y="1371600"/>
            <a:ext cx="1325880" cy="310896"/>
          </a:xfrm>
          <a:prstGeom prst="roundRect">
            <a:avLst>
              <a:gd name="adj" fmla="val 50000"/>
            </a:avLst>
          </a:prstGeom>
          <a:solidFill>
            <a:schemeClr val="accent2"/>
          </a:solidFill>
          <a:ln/>
        </p:spPr>
      </p:sp>
      <p:sp>
        <p:nvSpPr>
          <p:cNvPr id="30" name="Text 68"/>
          <p:cNvSpPr txBox="1"/>
          <p:nvPr/>
        </p:nvSpPr>
        <p:spPr>
          <a:xfrm>
            <a:off x="3913632" y="1371600"/>
            <a:ext cx="1325880" cy="310896"/>
          </a:xfrm>
          <a:prstGeom prst="rect">
            <a:avLst/>
          </a:prstGeom>
          <a:noFill/>
          <a:ln/>
        </p:spPr>
        <p:txBody>
          <a:bodyPr wrap="square" lIns="0" tIns="0" rIns="0" bIns="0" rtlCol="0" anchor="ctr"/>
          <a:lstStyle/>
          <a:p>
            <a:pPr algn="ctr" indent="0" marL="0">
              <a:buNone/>
            </a:pPr>
            <a:r>
              <a:rPr lang="en-US" sz="1200" b="1" dirty="0">
                <a:solidFill>
                  <a:schemeClr val="tx1"/>
                </a:solidFill>
              </a:rPr>
              <a:t>Approval gate</a:t>
            </a:r>
            <a:endParaRPr lang="en-US" sz="1200" dirty="0"/>
          </a:p>
        </p:txBody>
      </p:sp>
      <p:sp>
        <p:nvSpPr>
          <p:cNvPr id="31" name="Connector 69"/>
          <p:cNvSpPr/>
          <p:nvPr/>
        </p:nvSpPr>
        <p:spPr>
          <a:xfrm>
            <a:off x="4576572" y="1682496"/>
            <a:ext cx="0" cy="118872"/>
          </a:xfrm>
          <a:prstGeom prst="line">
            <a:avLst/>
          </a:prstGeom>
          <a:noFill/>
          <a:ln w="19050">
            <a:solidFill>
              <a:schemeClr val="accent2"/>
            </a:solidFill>
            <a:prstDash val="solid"/>
          </a:ln>
        </p:spPr>
      </p:sp>
      <p:sp>
        <p:nvSpPr>
          <p:cNvPr id="32" name="Connector 70"/>
          <p:cNvSpPr/>
          <p:nvPr/>
        </p:nvSpPr>
        <p:spPr>
          <a:xfrm>
            <a:off x="4576572" y="2953512"/>
            <a:ext cx="0" cy="384048"/>
          </a:xfrm>
          <a:prstGeom prst="line">
            <a:avLst/>
          </a:prstGeom>
          <a:noFill/>
          <a:ln w="25400">
            <a:solidFill>
              <a:schemeClr val="accent2"/>
            </a:solidFill>
            <a:prstDash val="solid"/>
          </a:ln>
        </p:spPr>
      </p:sp>
      <p:sp>
        <p:nvSpPr>
          <p:cNvPr id="33" name="Connector 71"/>
          <p:cNvSpPr/>
          <p:nvPr/>
        </p:nvSpPr>
        <p:spPr>
          <a:xfrm>
            <a:off x="4576572" y="3337560"/>
            <a:ext cx="3383280" cy="0"/>
          </a:xfrm>
          <a:prstGeom prst="line">
            <a:avLst/>
          </a:prstGeom>
          <a:noFill/>
          <a:ln w="25400">
            <a:solidFill>
              <a:schemeClr val="accent2"/>
            </a:solidFill>
            <a:prstDash val="solid"/>
          </a:ln>
        </p:spPr>
      </p:sp>
      <p:sp>
        <p:nvSpPr>
          <p:cNvPr id="34" name="Connector 72"/>
          <p:cNvSpPr/>
          <p:nvPr/>
        </p:nvSpPr>
        <p:spPr>
          <a:xfrm flipV="1">
            <a:off x="7959852" y="2907792"/>
            <a:ext cx="0" cy="429768"/>
          </a:xfrm>
          <a:prstGeom prst="line">
            <a:avLst/>
          </a:prstGeom>
          <a:noFill/>
          <a:ln w="25400">
            <a:solidFill>
              <a:schemeClr val="accent2"/>
            </a:solidFill>
            <a:prstDash val="solid"/>
            <a:tailEnd type="triangle"/>
          </a:ln>
        </p:spPr>
      </p:sp>
      <p:sp>
        <p:nvSpPr>
          <p:cNvPr id="35" name="Text 73"/>
          <p:cNvSpPr txBox="1"/>
          <p:nvPr/>
        </p:nvSpPr>
        <p:spPr>
          <a:xfrm>
            <a:off x="4576572" y="3383280"/>
            <a:ext cx="3383280" cy="256032"/>
          </a:xfrm>
          <a:prstGeom prst="rect">
            <a:avLst/>
          </a:prstGeom>
          <a:noFill/>
          <a:ln/>
        </p:spPr>
        <p:txBody>
          <a:bodyPr wrap="square" lIns="0" tIns="0" rIns="0" bIns="0" rtlCol="0" anchor="ctr"/>
          <a:lstStyle/>
          <a:p>
            <a:pPr algn="ctr" indent="0" marL="0">
              <a:buNone/>
            </a:pPr>
            <a:r>
              <a:rPr lang="en-US" sz="1200" i="1" dirty="0">
                <a:solidFill>
                  <a:schemeClr val="tx1"/>
                </a:solidFill>
              </a:rPr>
              <a:t>Deploy step runs inside the CI pipeline</a:t>
            </a:r>
            <a:endParaRPr lang="en-US" sz="1200" dirty="0"/>
          </a:p>
        </p:txBody>
      </p:sp>
      <p:sp>
        <p:nvSpPr>
          <p:cNvPr id="36" name="Card 74"/>
          <p:cNvSpPr/>
          <p:nvPr/>
        </p:nvSpPr>
        <p:spPr>
          <a:xfrm>
            <a:off x="457200" y="3840480"/>
            <a:ext cx="4023360" cy="731520"/>
          </a:xfrm>
          <a:prstGeom prst="roundRect">
            <a:avLst>
              <a:gd name="adj" fmla="val 10000"/>
            </a:avLst>
          </a:prstGeom>
          <a:solidFill>
            <a:schemeClr val="bg2"/>
          </a:solidFill>
          <a:ln/>
        </p:spPr>
      </p:sp>
      <p:sp>
        <p:nvSpPr>
          <p:cNvPr id="37" name="Text 75"/>
          <p:cNvSpPr txBox="1"/>
          <p:nvPr/>
        </p:nvSpPr>
        <p:spPr>
          <a:xfrm>
            <a:off x="594360" y="3840480"/>
            <a:ext cx="3749040" cy="731520"/>
          </a:xfrm>
          <a:prstGeom prst="rect">
            <a:avLst/>
          </a:prstGeom>
          <a:noFill/>
          <a:ln/>
        </p:spPr>
        <p:txBody>
          <a:bodyPr wrap="square" lIns="0" tIns="0" rIns="0" bIns="0" rtlCol="0" anchor="ctr"/>
          <a:lstStyle/>
          <a:p>
            <a:pPr indent="0" marL="0">
              <a:buNone/>
            </a:pPr>
            <a:r>
              <a:rPr lang="en-US" sz="1400" dirty="0">
                <a:solidFill>
                  <a:schemeClr val="tx1"/>
                </a:solidFill>
              </a:rPr>
              <a:t>Evidence is split across GitHub Actions, Harbor and Kubernetes</a:t>
            </a:r>
            <a:endParaRPr lang="en-US" sz="1400" dirty="0"/>
          </a:p>
        </p:txBody>
      </p:sp>
      <p:sp>
        <p:nvSpPr>
          <p:cNvPr id="38" name="Card 76"/>
          <p:cNvSpPr/>
          <p:nvPr/>
        </p:nvSpPr>
        <p:spPr>
          <a:xfrm>
            <a:off x="4663440" y="3840480"/>
            <a:ext cx="4023360" cy="731520"/>
          </a:xfrm>
          <a:prstGeom prst="roundRect">
            <a:avLst>
              <a:gd name="adj" fmla="val 10000"/>
            </a:avLst>
          </a:prstGeom>
          <a:solidFill>
            <a:schemeClr val="bg2"/>
          </a:solidFill>
          <a:ln/>
        </p:spPr>
      </p:sp>
      <p:sp>
        <p:nvSpPr>
          <p:cNvPr id="39" name="Text 77"/>
          <p:cNvSpPr txBox="1"/>
          <p:nvPr/>
        </p:nvSpPr>
        <p:spPr>
          <a:xfrm>
            <a:off x="4800600" y="3840480"/>
            <a:ext cx="3749040" cy="731520"/>
          </a:xfrm>
          <a:prstGeom prst="rect">
            <a:avLst/>
          </a:prstGeom>
          <a:noFill/>
          <a:ln/>
        </p:spPr>
        <p:txBody>
          <a:bodyPr wrap="square" lIns="0" tIns="0" rIns="0" bIns="0" rtlCol="0" anchor="ctr"/>
          <a:lstStyle/>
          <a:p>
            <a:pPr indent="0" marL="0">
              <a:buNone/>
            </a:pPr>
            <a:r>
              <a:rPr lang="en-US" sz="1400" dirty="0">
                <a:solidFill>
                  <a:schemeClr val="tx1"/>
                </a:solidFill>
              </a:rPr>
              <a:t>One pipeline carries both CI and deployment responsibilities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Current Pain Points</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Short-lived CI logs make deployment evidence a manual task</a:t>
            </a:r>
            <a:endParaRPr lang="en-US" sz="1500" dirty="0"/>
          </a:p>
        </p:txBody>
      </p:sp>
      <p:sp>
        <p:nvSpPr>
          <p:cNvPr id="4" name="Card 78"/>
          <p:cNvSpPr/>
          <p:nvPr/>
        </p:nvSpPr>
        <p:spPr>
          <a:xfrm>
            <a:off x="457200" y="1371600"/>
            <a:ext cx="4572000" cy="621792"/>
          </a:xfrm>
          <a:prstGeom prst="roundRect">
            <a:avLst>
              <a:gd name="adj" fmla="val 11765"/>
            </a:avLst>
          </a:prstGeom>
          <a:solidFill>
            <a:schemeClr val="tx1"/>
          </a:solidFill>
          <a:ln/>
        </p:spPr>
      </p:sp>
      <p:sp>
        <p:nvSpPr>
          <p:cNvPr id="5" name="Text 79"/>
          <p:cNvSpPr txBox="1"/>
          <p:nvPr/>
        </p:nvSpPr>
        <p:spPr>
          <a:xfrm>
            <a:off x="640080" y="1371600"/>
            <a:ext cx="4206240" cy="621792"/>
          </a:xfrm>
          <a:prstGeom prst="rect">
            <a:avLst/>
          </a:prstGeom>
          <a:noFill/>
          <a:ln/>
        </p:spPr>
        <p:txBody>
          <a:bodyPr wrap="square" lIns="0" tIns="0" rIns="0" bIns="0" rtlCol="0" anchor="ctr"/>
          <a:lstStyle/>
          <a:p>
            <a:pPr indent="0" marL="0">
              <a:buNone/>
            </a:pPr>
            <a:r>
              <a:rPr lang="en-US" sz="1500" b="1" dirty="0">
                <a:solidFill>
                  <a:schemeClr val="bg1"/>
                </a:solidFill>
              </a:rPr>
              <a:t>~60-day GitHub Actions log retention</a:t>
            </a:r>
            <a:endParaRPr lang="en-US" sz="1500" dirty="0"/>
          </a:p>
        </p:txBody>
      </p:sp>
      <p:sp>
        <p:nvSpPr>
          <p:cNvPr id="6" name="Connector 80"/>
          <p:cNvSpPr/>
          <p:nvPr/>
        </p:nvSpPr>
        <p:spPr>
          <a:xfrm>
            <a:off x="2743200" y="2011680"/>
            <a:ext cx="0" cy="146304"/>
          </a:xfrm>
          <a:prstGeom prst="line">
            <a:avLst/>
          </a:prstGeom>
          <a:noFill/>
          <a:ln w="19050">
            <a:solidFill>
              <a:schemeClr val="tx2"/>
            </a:solidFill>
            <a:prstDash val="solid"/>
            <a:tailEnd type="triangle"/>
          </a:ln>
        </p:spPr>
      </p:sp>
      <p:sp>
        <p:nvSpPr>
          <p:cNvPr id="7" name="Card 81"/>
          <p:cNvSpPr/>
          <p:nvPr/>
        </p:nvSpPr>
        <p:spPr>
          <a:xfrm>
            <a:off x="457200" y="2176272"/>
            <a:ext cx="4572000" cy="621792"/>
          </a:xfrm>
          <a:prstGeom prst="roundRect">
            <a:avLst>
              <a:gd name="adj" fmla="val 11765"/>
            </a:avLst>
          </a:prstGeom>
          <a:solidFill>
            <a:schemeClr val="bg2"/>
          </a:solidFill>
          <a:ln/>
        </p:spPr>
      </p:sp>
      <p:sp>
        <p:nvSpPr>
          <p:cNvPr id="8" name="Text 82"/>
          <p:cNvSpPr txBox="1"/>
          <p:nvPr/>
        </p:nvSpPr>
        <p:spPr>
          <a:xfrm>
            <a:off x="640080" y="2176272"/>
            <a:ext cx="4206240" cy="621792"/>
          </a:xfrm>
          <a:prstGeom prst="rect">
            <a:avLst/>
          </a:prstGeom>
          <a:noFill/>
          <a:ln/>
        </p:spPr>
        <p:txBody>
          <a:bodyPr wrap="square" lIns="0" tIns="0" rIns="0" bIns="0" rtlCol="0" anchor="ctr"/>
          <a:lstStyle/>
          <a:p>
            <a:pPr indent="0" marL="0">
              <a:buNone/>
            </a:pPr>
            <a:r>
              <a:rPr lang="en-US" sz="1500" b="1" dirty="0">
                <a:solidFill>
                  <a:schemeClr val="tx1"/>
                </a:solidFill>
              </a:rPr>
              <a:t>Manual screenshot collection</a:t>
            </a:r>
            <a:endParaRPr lang="en-US" sz="1500" dirty="0"/>
          </a:p>
        </p:txBody>
      </p:sp>
      <p:sp>
        <p:nvSpPr>
          <p:cNvPr id="9" name="Connector 83"/>
          <p:cNvSpPr/>
          <p:nvPr/>
        </p:nvSpPr>
        <p:spPr>
          <a:xfrm>
            <a:off x="2743200" y="2816352"/>
            <a:ext cx="0" cy="146304"/>
          </a:xfrm>
          <a:prstGeom prst="line">
            <a:avLst/>
          </a:prstGeom>
          <a:noFill/>
          <a:ln w="19050">
            <a:solidFill>
              <a:schemeClr val="tx2"/>
            </a:solidFill>
            <a:prstDash val="solid"/>
            <a:tailEnd type="triangle"/>
          </a:ln>
        </p:spPr>
      </p:sp>
      <p:sp>
        <p:nvSpPr>
          <p:cNvPr id="10" name="Card 84"/>
          <p:cNvSpPr/>
          <p:nvPr/>
        </p:nvSpPr>
        <p:spPr>
          <a:xfrm>
            <a:off x="457200" y="2980944"/>
            <a:ext cx="4572000" cy="621792"/>
          </a:xfrm>
          <a:prstGeom prst="roundRect">
            <a:avLst>
              <a:gd name="adj" fmla="val 11765"/>
            </a:avLst>
          </a:prstGeom>
          <a:solidFill>
            <a:schemeClr val="bg2"/>
          </a:solidFill>
          <a:ln/>
        </p:spPr>
      </p:sp>
      <p:sp>
        <p:nvSpPr>
          <p:cNvPr id="11" name="Text 85"/>
          <p:cNvSpPr txBox="1"/>
          <p:nvPr/>
        </p:nvSpPr>
        <p:spPr>
          <a:xfrm>
            <a:off x="640080" y="2980944"/>
            <a:ext cx="4206240" cy="621792"/>
          </a:xfrm>
          <a:prstGeom prst="rect">
            <a:avLst/>
          </a:prstGeom>
          <a:noFill/>
          <a:ln/>
        </p:spPr>
        <p:txBody>
          <a:bodyPr wrap="square" lIns="0" tIns="0" rIns="0" bIns="0" rtlCol="0" anchor="ctr"/>
          <a:lstStyle/>
          <a:p>
            <a:pPr indent="0" marL="0">
              <a:buNone/>
            </a:pPr>
            <a:r>
              <a:rPr lang="en-US" sz="1500" b="1" dirty="0">
                <a:solidFill>
                  <a:schemeClr val="tx1"/>
                </a:solidFill>
              </a:rPr>
              <a:t>Evidence stored separately</a:t>
            </a:r>
            <a:endParaRPr lang="en-US" sz="1500" dirty="0"/>
          </a:p>
        </p:txBody>
      </p:sp>
      <p:sp>
        <p:nvSpPr>
          <p:cNvPr id="12" name="Connector 86"/>
          <p:cNvSpPr/>
          <p:nvPr/>
        </p:nvSpPr>
        <p:spPr>
          <a:xfrm>
            <a:off x="2743200" y="3621024"/>
            <a:ext cx="0" cy="146304"/>
          </a:xfrm>
          <a:prstGeom prst="line">
            <a:avLst/>
          </a:prstGeom>
          <a:noFill/>
          <a:ln w="19050">
            <a:solidFill>
              <a:schemeClr val="tx2"/>
            </a:solidFill>
            <a:prstDash val="solid"/>
            <a:tailEnd type="triangle"/>
          </a:ln>
        </p:spPr>
      </p:sp>
      <p:sp>
        <p:nvSpPr>
          <p:cNvPr id="13" name="Card 87"/>
          <p:cNvSpPr/>
          <p:nvPr/>
        </p:nvSpPr>
        <p:spPr>
          <a:xfrm>
            <a:off x="457200" y="3785616"/>
            <a:ext cx="4572000" cy="621792"/>
          </a:xfrm>
          <a:prstGeom prst="roundRect">
            <a:avLst>
              <a:gd name="adj" fmla="val 11765"/>
            </a:avLst>
          </a:prstGeom>
          <a:solidFill>
            <a:schemeClr val="accent6"/>
          </a:solidFill>
          <a:ln/>
        </p:spPr>
      </p:sp>
      <p:sp>
        <p:nvSpPr>
          <p:cNvPr id="14" name="Text 88"/>
          <p:cNvSpPr txBox="1"/>
          <p:nvPr/>
        </p:nvSpPr>
        <p:spPr>
          <a:xfrm>
            <a:off x="640080" y="3785616"/>
            <a:ext cx="4206240" cy="621792"/>
          </a:xfrm>
          <a:prstGeom prst="rect">
            <a:avLst/>
          </a:prstGeom>
          <a:noFill/>
          <a:ln/>
        </p:spPr>
        <p:txBody>
          <a:bodyPr wrap="square" lIns="0" tIns="0" rIns="0" bIns="0" rtlCol="0" anchor="ctr"/>
          <a:lstStyle/>
          <a:p>
            <a:pPr indent="0" marL="0">
              <a:buNone/>
            </a:pPr>
            <a:r>
              <a:rPr lang="en-US" sz="1500" b="1" dirty="0">
                <a:solidFill>
                  <a:schemeClr val="bg1"/>
                </a:solidFill>
              </a:rPr>
              <a:t>Historical deployment investigation becomes difficult</a:t>
            </a:r>
            <a:endParaRPr lang="en-US" sz="1500" dirty="0"/>
          </a:p>
        </p:txBody>
      </p:sp>
      <p:sp>
        <p:nvSpPr>
          <p:cNvPr id="15" name="Text 89"/>
          <p:cNvSpPr txBox="1"/>
          <p:nvPr/>
        </p:nvSpPr>
        <p:spPr>
          <a:xfrm>
            <a:off x="5394960" y="1371600"/>
            <a:ext cx="3291840" cy="320040"/>
          </a:xfrm>
          <a:prstGeom prst="rect">
            <a:avLst/>
          </a:prstGeom>
          <a:noFill/>
          <a:ln/>
        </p:spPr>
        <p:txBody>
          <a:bodyPr wrap="square" lIns="0" tIns="0" rIns="0" bIns="0" rtlCol="0" anchor="ctr"/>
          <a:lstStyle/>
          <a:p>
            <a:pPr indent="0" marL="0">
              <a:buNone/>
            </a:pPr>
            <a:r>
              <a:rPr lang="en-US" sz="1400" b="1" dirty="0">
                <a:solidFill>
                  <a:schemeClr val="tx2"/>
                </a:solidFill>
              </a:rPr>
              <a:t>Questions that become hard to answer</a:t>
            </a:r>
            <a:endParaRPr lang="en-US" sz="1400" dirty="0"/>
          </a:p>
        </p:txBody>
      </p:sp>
      <p:sp>
        <p:nvSpPr>
          <p:cNvPr id="16" name="Card 90"/>
          <p:cNvSpPr/>
          <p:nvPr/>
        </p:nvSpPr>
        <p:spPr>
          <a:xfrm>
            <a:off x="5394960" y="1783080"/>
            <a:ext cx="3291840" cy="457200"/>
          </a:xfrm>
          <a:prstGeom prst="roundRect">
            <a:avLst>
              <a:gd name="adj" fmla="val 16000"/>
            </a:avLst>
          </a:prstGeom>
          <a:solidFill>
            <a:schemeClr val="bg1"/>
          </a:solidFill>
          <a:ln w="19050">
            <a:solidFill>
              <a:schemeClr val="accent2"/>
            </a:solidFill>
            <a:prstDash val="solid"/>
          </a:ln>
        </p:spPr>
      </p:sp>
      <p:sp>
        <p:nvSpPr>
          <p:cNvPr id="17" name="Text 91"/>
          <p:cNvSpPr txBox="1"/>
          <p:nvPr/>
        </p:nvSpPr>
        <p:spPr>
          <a:xfrm>
            <a:off x="5577840" y="1783080"/>
            <a:ext cx="3017520" cy="457200"/>
          </a:xfrm>
          <a:prstGeom prst="rect">
            <a:avLst/>
          </a:prstGeom>
          <a:noFill/>
          <a:ln/>
        </p:spPr>
        <p:txBody>
          <a:bodyPr wrap="square" lIns="0" tIns="0" rIns="0" bIns="0" rtlCol="0" anchor="ctr"/>
          <a:lstStyle/>
          <a:p>
            <a:pPr indent="0" marL="0">
              <a:buNone/>
            </a:pPr>
            <a:r>
              <a:rPr lang="en-US" sz="1600" b="1" dirty="0">
                <a:solidFill>
                  <a:schemeClr val="tx1"/>
                </a:solidFill>
              </a:rPr>
              <a:t>“Who approved?”</a:t>
            </a:r>
            <a:endParaRPr lang="en-US" sz="1600" dirty="0"/>
          </a:p>
        </p:txBody>
      </p:sp>
      <p:sp>
        <p:nvSpPr>
          <p:cNvPr id="18" name="Card 92"/>
          <p:cNvSpPr/>
          <p:nvPr/>
        </p:nvSpPr>
        <p:spPr>
          <a:xfrm>
            <a:off x="5394960" y="2331720"/>
            <a:ext cx="3291840" cy="457200"/>
          </a:xfrm>
          <a:prstGeom prst="roundRect">
            <a:avLst>
              <a:gd name="adj" fmla="val 16000"/>
            </a:avLst>
          </a:prstGeom>
          <a:solidFill>
            <a:schemeClr val="bg1"/>
          </a:solidFill>
          <a:ln w="19050">
            <a:solidFill>
              <a:schemeClr val="accent2"/>
            </a:solidFill>
            <a:prstDash val="solid"/>
          </a:ln>
        </p:spPr>
      </p:sp>
      <p:sp>
        <p:nvSpPr>
          <p:cNvPr id="19" name="Text 93"/>
          <p:cNvSpPr txBox="1"/>
          <p:nvPr/>
        </p:nvSpPr>
        <p:spPr>
          <a:xfrm>
            <a:off x="5577840" y="2331720"/>
            <a:ext cx="3017520" cy="457200"/>
          </a:xfrm>
          <a:prstGeom prst="rect">
            <a:avLst/>
          </a:prstGeom>
          <a:noFill/>
          <a:ln/>
        </p:spPr>
        <p:txBody>
          <a:bodyPr wrap="square" lIns="0" tIns="0" rIns="0" bIns="0" rtlCol="0" anchor="ctr"/>
          <a:lstStyle/>
          <a:p>
            <a:pPr indent="0" marL="0">
              <a:buNone/>
            </a:pPr>
            <a:r>
              <a:rPr lang="en-US" sz="1600" b="1" dirty="0">
                <a:solidFill>
                  <a:schemeClr val="tx1"/>
                </a:solidFill>
              </a:rPr>
              <a:t>“What version?”</a:t>
            </a:r>
            <a:endParaRPr lang="en-US" sz="1600" dirty="0"/>
          </a:p>
        </p:txBody>
      </p:sp>
      <p:sp>
        <p:nvSpPr>
          <p:cNvPr id="20" name="Card 94"/>
          <p:cNvSpPr/>
          <p:nvPr/>
        </p:nvSpPr>
        <p:spPr>
          <a:xfrm>
            <a:off x="5394960" y="2880360"/>
            <a:ext cx="3291840" cy="457200"/>
          </a:xfrm>
          <a:prstGeom prst="roundRect">
            <a:avLst>
              <a:gd name="adj" fmla="val 16000"/>
            </a:avLst>
          </a:prstGeom>
          <a:solidFill>
            <a:schemeClr val="bg1"/>
          </a:solidFill>
          <a:ln w="19050">
            <a:solidFill>
              <a:schemeClr val="accent2"/>
            </a:solidFill>
            <a:prstDash val="solid"/>
          </a:ln>
        </p:spPr>
      </p:sp>
      <p:sp>
        <p:nvSpPr>
          <p:cNvPr id="21" name="Text 95"/>
          <p:cNvSpPr txBox="1"/>
          <p:nvPr/>
        </p:nvSpPr>
        <p:spPr>
          <a:xfrm>
            <a:off x="5577840" y="2880360"/>
            <a:ext cx="3017520" cy="457200"/>
          </a:xfrm>
          <a:prstGeom prst="rect">
            <a:avLst/>
          </a:prstGeom>
          <a:noFill/>
          <a:ln/>
        </p:spPr>
        <p:txBody>
          <a:bodyPr wrap="square" lIns="0" tIns="0" rIns="0" bIns="0" rtlCol="0" anchor="ctr"/>
          <a:lstStyle/>
          <a:p>
            <a:pPr indent="0" marL="0">
              <a:buNone/>
            </a:pPr>
            <a:r>
              <a:rPr lang="en-US" sz="1600" b="1" dirty="0">
                <a:solidFill>
                  <a:schemeClr val="tx1"/>
                </a:solidFill>
              </a:rPr>
              <a:t>“When deployed?”</a:t>
            </a:r>
            <a:endParaRPr lang="en-US" sz="1600" dirty="0"/>
          </a:p>
        </p:txBody>
      </p:sp>
      <p:sp>
        <p:nvSpPr>
          <p:cNvPr id="22" name="Card 96"/>
          <p:cNvSpPr/>
          <p:nvPr/>
        </p:nvSpPr>
        <p:spPr>
          <a:xfrm>
            <a:off x="5394960" y="3429000"/>
            <a:ext cx="3291840" cy="457200"/>
          </a:xfrm>
          <a:prstGeom prst="roundRect">
            <a:avLst>
              <a:gd name="adj" fmla="val 16000"/>
            </a:avLst>
          </a:prstGeom>
          <a:solidFill>
            <a:schemeClr val="bg1"/>
          </a:solidFill>
          <a:ln w="19050">
            <a:solidFill>
              <a:schemeClr val="accent2"/>
            </a:solidFill>
            <a:prstDash val="solid"/>
          </a:ln>
        </p:spPr>
      </p:sp>
      <p:sp>
        <p:nvSpPr>
          <p:cNvPr id="23" name="Text 97"/>
          <p:cNvSpPr txBox="1"/>
          <p:nvPr/>
        </p:nvSpPr>
        <p:spPr>
          <a:xfrm>
            <a:off x="5577840" y="3429000"/>
            <a:ext cx="3017520" cy="457200"/>
          </a:xfrm>
          <a:prstGeom prst="rect">
            <a:avLst/>
          </a:prstGeom>
          <a:noFill/>
          <a:ln/>
        </p:spPr>
        <p:txBody>
          <a:bodyPr wrap="square" lIns="0" tIns="0" rIns="0" bIns="0" rtlCol="0" anchor="ctr"/>
          <a:lstStyle/>
          <a:p>
            <a:pPr indent="0" marL="0">
              <a:buNone/>
            </a:pPr>
            <a:r>
              <a:rPr lang="en-US" sz="1600" b="1" dirty="0">
                <a:solidFill>
                  <a:schemeClr val="tx1"/>
                </a:solidFill>
              </a:rPr>
              <a:t>“Which image?”</a:t>
            </a:r>
            <a:endParaRPr lang="en-US" sz="1600" dirty="0"/>
          </a:p>
        </p:txBody>
      </p:sp>
      <p:sp>
        <p:nvSpPr>
          <p:cNvPr id="24" name="Card 98"/>
          <p:cNvSpPr/>
          <p:nvPr/>
        </p:nvSpPr>
        <p:spPr>
          <a:xfrm>
            <a:off x="5394960" y="3977640"/>
            <a:ext cx="3291840" cy="457200"/>
          </a:xfrm>
          <a:prstGeom prst="roundRect">
            <a:avLst>
              <a:gd name="adj" fmla="val 16000"/>
            </a:avLst>
          </a:prstGeom>
          <a:solidFill>
            <a:schemeClr val="bg1"/>
          </a:solidFill>
          <a:ln w="19050">
            <a:solidFill>
              <a:schemeClr val="accent2"/>
            </a:solidFill>
            <a:prstDash val="solid"/>
          </a:ln>
        </p:spPr>
      </p:sp>
      <p:sp>
        <p:nvSpPr>
          <p:cNvPr id="25" name="Text 99"/>
          <p:cNvSpPr txBox="1"/>
          <p:nvPr/>
        </p:nvSpPr>
        <p:spPr>
          <a:xfrm>
            <a:off x="5577840" y="3977640"/>
            <a:ext cx="3017520" cy="457200"/>
          </a:xfrm>
          <a:prstGeom prst="rect">
            <a:avLst/>
          </a:prstGeom>
          <a:noFill/>
          <a:ln/>
        </p:spPr>
        <p:txBody>
          <a:bodyPr wrap="square" lIns="0" tIns="0" rIns="0" bIns="0" rtlCol="0" anchor="ctr"/>
          <a:lstStyle/>
          <a:p>
            <a:pPr indent="0" marL="0">
              <a:buNone/>
            </a:pPr>
            <a:r>
              <a:rPr lang="en-US" sz="1600" b="1" dirty="0">
                <a:solidFill>
                  <a:schemeClr val="tx1"/>
                </a:solidFill>
              </a:rPr>
              <a:t>“Which environment?”</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Why This Matters</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Every symptom traces back to one root cause</a:t>
            </a:r>
            <a:endParaRPr lang="en-US" sz="1500" dirty="0"/>
          </a:p>
        </p:txBody>
      </p:sp>
      <p:sp>
        <p:nvSpPr>
          <p:cNvPr id="4" name="Connector 100"/>
          <p:cNvSpPr/>
          <p:nvPr/>
        </p:nvSpPr>
        <p:spPr>
          <a:xfrm>
            <a:off x="1371600" y="2011680"/>
            <a:ext cx="2011680" cy="457200"/>
          </a:xfrm>
          <a:prstGeom prst="line">
            <a:avLst/>
          </a:prstGeom>
          <a:noFill/>
          <a:ln w="15875">
            <a:solidFill>
              <a:schemeClr val="tx2"/>
            </a:solidFill>
            <a:prstDash val="solid"/>
          </a:ln>
        </p:spPr>
      </p:sp>
      <p:sp>
        <p:nvSpPr>
          <p:cNvPr id="5" name="Connector 101"/>
          <p:cNvSpPr/>
          <p:nvPr/>
        </p:nvSpPr>
        <p:spPr>
          <a:xfrm>
            <a:off x="3502152" y="2011680"/>
            <a:ext cx="612648" cy="457200"/>
          </a:xfrm>
          <a:prstGeom prst="line">
            <a:avLst/>
          </a:prstGeom>
          <a:noFill/>
          <a:ln w="15875">
            <a:solidFill>
              <a:schemeClr val="tx2"/>
            </a:solidFill>
            <a:prstDash val="solid"/>
          </a:ln>
        </p:spPr>
      </p:sp>
      <p:sp>
        <p:nvSpPr>
          <p:cNvPr id="6" name="Connector 102"/>
          <p:cNvSpPr/>
          <p:nvPr/>
        </p:nvSpPr>
        <p:spPr>
          <a:xfrm flipH="1">
            <a:off x="5029200" y="2011680"/>
            <a:ext cx="612648" cy="457200"/>
          </a:xfrm>
          <a:prstGeom prst="line">
            <a:avLst/>
          </a:prstGeom>
          <a:noFill/>
          <a:ln w="15875">
            <a:solidFill>
              <a:schemeClr val="tx2"/>
            </a:solidFill>
            <a:prstDash val="solid"/>
          </a:ln>
        </p:spPr>
      </p:sp>
      <p:sp>
        <p:nvSpPr>
          <p:cNvPr id="7" name="Connector 103"/>
          <p:cNvSpPr/>
          <p:nvPr/>
        </p:nvSpPr>
        <p:spPr>
          <a:xfrm flipH="1">
            <a:off x="5760720" y="2011680"/>
            <a:ext cx="2011680" cy="457200"/>
          </a:xfrm>
          <a:prstGeom prst="line">
            <a:avLst/>
          </a:prstGeom>
          <a:noFill/>
          <a:ln w="15875">
            <a:solidFill>
              <a:schemeClr val="tx2"/>
            </a:solidFill>
            <a:prstDash val="solid"/>
          </a:ln>
        </p:spPr>
      </p:sp>
      <p:sp>
        <p:nvSpPr>
          <p:cNvPr id="8" name="Connector 104"/>
          <p:cNvSpPr/>
          <p:nvPr/>
        </p:nvSpPr>
        <p:spPr>
          <a:xfrm flipH="1">
            <a:off x="2011680" y="3383280"/>
            <a:ext cx="1645920" cy="457200"/>
          </a:xfrm>
          <a:prstGeom prst="line">
            <a:avLst/>
          </a:prstGeom>
          <a:noFill/>
          <a:ln w="15875">
            <a:solidFill>
              <a:schemeClr val="tx2"/>
            </a:solidFill>
            <a:prstDash val="solid"/>
          </a:ln>
        </p:spPr>
      </p:sp>
      <p:sp>
        <p:nvSpPr>
          <p:cNvPr id="9" name="Connector 105"/>
          <p:cNvSpPr/>
          <p:nvPr/>
        </p:nvSpPr>
        <p:spPr>
          <a:xfrm>
            <a:off x="4572000" y="3383280"/>
            <a:ext cx="0" cy="457200"/>
          </a:xfrm>
          <a:prstGeom prst="line">
            <a:avLst/>
          </a:prstGeom>
          <a:noFill/>
          <a:ln w="15875">
            <a:solidFill>
              <a:schemeClr val="tx2"/>
            </a:solidFill>
            <a:prstDash val="solid"/>
          </a:ln>
        </p:spPr>
      </p:sp>
      <p:sp>
        <p:nvSpPr>
          <p:cNvPr id="10" name="Connector 106"/>
          <p:cNvSpPr/>
          <p:nvPr/>
        </p:nvSpPr>
        <p:spPr>
          <a:xfrm>
            <a:off x="5486400" y="3383280"/>
            <a:ext cx="1645920" cy="457200"/>
          </a:xfrm>
          <a:prstGeom prst="line">
            <a:avLst/>
          </a:prstGeom>
          <a:noFill/>
          <a:ln w="15875">
            <a:solidFill>
              <a:schemeClr val="tx2"/>
            </a:solidFill>
            <a:prstDash val="solid"/>
          </a:ln>
        </p:spPr>
      </p:sp>
      <p:sp>
        <p:nvSpPr>
          <p:cNvPr id="11" name="Card 107"/>
          <p:cNvSpPr/>
          <p:nvPr/>
        </p:nvSpPr>
        <p:spPr>
          <a:xfrm>
            <a:off x="3200400" y="2468880"/>
            <a:ext cx="2743200" cy="914400"/>
          </a:xfrm>
          <a:prstGeom prst="roundRect">
            <a:avLst>
              <a:gd name="adj" fmla="val 8000"/>
            </a:avLst>
          </a:prstGeom>
          <a:solidFill>
            <a:schemeClr val="tx1"/>
          </a:solidFill>
          <a:ln/>
        </p:spPr>
      </p:sp>
      <p:sp>
        <p:nvSpPr>
          <p:cNvPr id="12" name="Text 108"/>
          <p:cNvSpPr txBox="1"/>
          <p:nvPr/>
        </p:nvSpPr>
        <p:spPr>
          <a:xfrm>
            <a:off x="3337560" y="2468880"/>
            <a:ext cx="2468880" cy="914400"/>
          </a:xfrm>
          <a:prstGeom prst="rect">
            <a:avLst/>
          </a:prstGeom>
          <a:noFill/>
          <a:ln/>
        </p:spPr>
        <p:txBody>
          <a:bodyPr wrap="square" lIns="0" tIns="0" rIns="0" bIns="0" rtlCol="0" anchor="ctr"/>
          <a:lstStyle/>
          <a:p>
            <a:pPr algn="ctr" indent="0" marL="0">
              <a:buNone/>
            </a:pPr>
            <a:r>
              <a:rPr lang="en-US" sz="1600" b="1" dirty="0">
                <a:solidFill>
                  <a:schemeClr val="bg1"/>
                </a:solidFill>
              </a:rPr>
              <a:t>Evidence depends on temporary CI logs</a:t>
            </a:r>
            <a:endParaRPr lang="en-US" sz="1600" dirty="0"/>
          </a:p>
        </p:txBody>
      </p:sp>
      <p:sp>
        <p:nvSpPr>
          <p:cNvPr id="13" name="Card 109"/>
          <p:cNvSpPr/>
          <p:nvPr/>
        </p:nvSpPr>
        <p:spPr>
          <a:xfrm>
            <a:off x="457200" y="1371600"/>
            <a:ext cx="1828800" cy="640080"/>
          </a:xfrm>
          <a:prstGeom prst="roundRect">
            <a:avLst>
              <a:gd name="adj" fmla="val 11429"/>
            </a:avLst>
          </a:prstGeom>
          <a:solidFill>
            <a:schemeClr val="bg2"/>
          </a:solidFill>
          <a:ln/>
        </p:spPr>
      </p:sp>
      <p:sp>
        <p:nvSpPr>
          <p:cNvPr id="14" name="Text 110"/>
          <p:cNvSpPr txBox="1"/>
          <p:nvPr/>
        </p:nvSpPr>
        <p:spPr>
          <a:xfrm>
            <a:off x="548640" y="1371600"/>
            <a:ext cx="1645920" cy="640080"/>
          </a:xfrm>
          <a:prstGeom prst="rect">
            <a:avLst/>
          </a:prstGeom>
          <a:noFill/>
          <a:ln/>
        </p:spPr>
        <p:txBody>
          <a:bodyPr wrap="square" lIns="0" tIns="0" rIns="0" bIns="0" rtlCol="0" anchor="ctr"/>
          <a:lstStyle/>
          <a:p>
            <a:pPr algn="ctr" indent="0" marL="0">
              <a:buNone/>
            </a:pPr>
            <a:r>
              <a:rPr lang="en-US" sz="1400" b="1" dirty="0">
                <a:solidFill>
                  <a:schemeClr val="tx1"/>
                </a:solidFill>
              </a:rPr>
              <a:t>Manual effort</a:t>
            </a:r>
            <a:endParaRPr lang="en-US" sz="1400" dirty="0"/>
          </a:p>
        </p:txBody>
      </p:sp>
      <p:sp>
        <p:nvSpPr>
          <p:cNvPr id="15" name="Card 111"/>
          <p:cNvSpPr/>
          <p:nvPr/>
        </p:nvSpPr>
        <p:spPr>
          <a:xfrm>
            <a:off x="2587752" y="1371600"/>
            <a:ext cx="1828800" cy="640080"/>
          </a:xfrm>
          <a:prstGeom prst="roundRect">
            <a:avLst>
              <a:gd name="adj" fmla="val 11429"/>
            </a:avLst>
          </a:prstGeom>
          <a:solidFill>
            <a:schemeClr val="bg2"/>
          </a:solidFill>
          <a:ln/>
        </p:spPr>
      </p:sp>
      <p:sp>
        <p:nvSpPr>
          <p:cNvPr id="16" name="Text 112"/>
          <p:cNvSpPr txBox="1"/>
          <p:nvPr/>
        </p:nvSpPr>
        <p:spPr>
          <a:xfrm>
            <a:off x="2679192" y="1371600"/>
            <a:ext cx="1645920" cy="640080"/>
          </a:xfrm>
          <a:prstGeom prst="rect">
            <a:avLst/>
          </a:prstGeom>
          <a:noFill/>
          <a:ln/>
        </p:spPr>
        <p:txBody>
          <a:bodyPr wrap="square" lIns="0" tIns="0" rIns="0" bIns="0" rtlCol="0" anchor="ctr"/>
          <a:lstStyle/>
          <a:p>
            <a:pPr algn="ctr" indent="0" marL="0">
              <a:buNone/>
            </a:pPr>
            <a:r>
              <a:rPr lang="en-US" sz="1400" b="1" dirty="0">
                <a:solidFill>
                  <a:schemeClr val="tx1"/>
                </a:solidFill>
              </a:rPr>
              <a:t>Audit investigation effort</a:t>
            </a:r>
            <a:endParaRPr lang="en-US" sz="1400" dirty="0"/>
          </a:p>
        </p:txBody>
      </p:sp>
      <p:sp>
        <p:nvSpPr>
          <p:cNvPr id="17" name="Card 113"/>
          <p:cNvSpPr/>
          <p:nvPr/>
        </p:nvSpPr>
        <p:spPr>
          <a:xfrm>
            <a:off x="4727448" y="1371600"/>
            <a:ext cx="1828800" cy="640080"/>
          </a:xfrm>
          <a:prstGeom prst="roundRect">
            <a:avLst>
              <a:gd name="adj" fmla="val 11429"/>
            </a:avLst>
          </a:prstGeom>
          <a:solidFill>
            <a:schemeClr val="bg2"/>
          </a:solidFill>
          <a:ln/>
        </p:spPr>
      </p:sp>
      <p:sp>
        <p:nvSpPr>
          <p:cNvPr id="18" name="Text 114"/>
          <p:cNvSpPr txBox="1"/>
          <p:nvPr/>
        </p:nvSpPr>
        <p:spPr>
          <a:xfrm>
            <a:off x="4818888" y="1371600"/>
            <a:ext cx="1645920" cy="640080"/>
          </a:xfrm>
          <a:prstGeom prst="rect">
            <a:avLst/>
          </a:prstGeom>
          <a:noFill/>
          <a:ln/>
        </p:spPr>
        <p:txBody>
          <a:bodyPr wrap="square" lIns="0" tIns="0" rIns="0" bIns="0" rtlCol="0" anchor="ctr"/>
          <a:lstStyle/>
          <a:p>
            <a:pPr algn="ctr" indent="0" marL="0">
              <a:buNone/>
            </a:pPr>
            <a:r>
              <a:rPr lang="en-US" sz="1400" b="1" dirty="0">
                <a:solidFill>
                  <a:schemeClr val="tx1"/>
                </a:solidFill>
              </a:rPr>
              <a:t>Fragmented deployment information</a:t>
            </a:r>
            <a:endParaRPr lang="en-US" sz="1400" dirty="0"/>
          </a:p>
        </p:txBody>
      </p:sp>
      <p:sp>
        <p:nvSpPr>
          <p:cNvPr id="19" name="Card 115"/>
          <p:cNvSpPr/>
          <p:nvPr/>
        </p:nvSpPr>
        <p:spPr>
          <a:xfrm>
            <a:off x="6858000" y="1371600"/>
            <a:ext cx="1828800" cy="640080"/>
          </a:xfrm>
          <a:prstGeom prst="roundRect">
            <a:avLst>
              <a:gd name="adj" fmla="val 11429"/>
            </a:avLst>
          </a:prstGeom>
          <a:solidFill>
            <a:schemeClr val="bg2"/>
          </a:solidFill>
          <a:ln/>
        </p:spPr>
      </p:sp>
      <p:sp>
        <p:nvSpPr>
          <p:cNvPr id="20" name="Text 116"/>
          <p:cNvSpPr txBox="1"/>
          <p:nvPr/>
        </p:nvSpPr>
        <p:spPr>
          <a:xfrm>
            <a:off x="6949440" y="1371600"/>
            <a:ext cx="1645920" cy="640080"/>
          </a:xfrm>
          <a:prstGeom prst="rect">
            <a:avLst/>
          </a:prstGeom>
          <a:noFill/>
          <a:ln/>
        </p:spPr>
        <p:txBody>
          <a:bodyPr wrap="square" lIns="0" tIns="0" rIns="0" bIns="0" rtlCol="0" anchor="ctr"/>
          <a:lstStyle/>
          <a:p>
            <a:pPr algn="ctr" indent="0" marL="0">
              <a:buNone/>
            </a:pPr>
            <a:r>
              <a:rPr lang="en-US" sz="1400" b="1" dirty="0">
                <a:solidFill>
                  <a:schemeClr val="tx1"/>
                </a:solidFill>
              </a:rPr>
              <a:t>Dependency on CI logs</a:t>
            </a:r>
            <a:endParaRPr lang="en-US" sz="1400" dirty="0"/>
          </a:p>
        </p:txBody>
      </p:sp>
      <p:sp>
        <p:nvSpPr>
          <p:cNvPr id="21" name="Card 117"/>
          <p:cNvSpPr/>
          <p:nvPr/>
        </p:nvSpPr>
        <p:spPr>
          <a:xfrm>
            <a:off x="914400" y="3840480"/>
            <a:ext cx="2194560" cy="640080"/>
          </a:xfrm>
          <a:prstGeom prst="roundRect">
            <a:avLst>
              <a:gd name="adj" fmla="val 11429"/>
            </a:avLst>
          </a:prstGeom>
          <a:solidFill>
            <a:schemeClr val="bg2"/>
          </a:solidFill>
          <a:ln/>
        </p:spPr>
      </p:sp>
      <p:sp>
        <p:nvSpPr>
          <p:cNvPr id="22" name="Text 118"/>
          <p:cNvSpPr txBox="1"/>
          <p:nvPr/>
        </p:nvSpPr>
        <p:spPr>
          <a:xfrm>
            <a:off x="1005840" y="3840480"/>
            <a:ext cx="2011680" cy="640080"/>
          </a:xfrm>
          <a:prstGeom prst="rect">
            <a:avLst/>
          </a:prstGeom>
          <a:noFill/>
          <a:ln/>
        </p:spPr>
        <p:txBody>
          <a:bodyPr wrap="square" lIns="0" tIns="0" rIns="0" bIns="0" rtlCol="0" anchor="ctr"/>
          <a:lstStyle/>
          <a:p>
            <a:pPr algn="ctr" indent="0" marL="0">
              <a:buNone/>
            </a:pPr>
            <a:r>
              <a:rPr lang="en-US" sz="1400" b="1" dirty="0">
                <a:solidFill>
                  <a:schemeClr val="tx1"/>
                </a:solidFill>
              </a:rPr>
              <a:t>No centralized deployment view</a:t>
            </a:r>
            <a:endParaRPr lang="en-US" sz="1400" dirty="0"/>
          </a:p>
        </p:txBody>
      </p:sp>
      <p:sp>
        <p:nvSpPr>
          <p:cNvPr id="23" name="Card 119"/>
          <p:cNvSpPr/>
          <p:nvPr/>
        </p:nvSpPr>
        <p:spPr>
          <a:xfrm>
            <a:off x="3474720" y="3840480"/>
            <a:ext cx="2194560" cy="640080"/>
          </a:xfrm>
          <a:prstGeom prst="roundRect">
            <a:avLst>
              <a:gd name="adj" fmla="val 11429"/>
            </a:avLst>
          </a:prstGeom>
          <a:solidFill>
            <a:schemeClr val="bg2"/>
          </a:solidFill>
          <a:ln/>
        </p:spPr>
      </p:sp>
      <p:sp>
        <p:nvSpPr>
          <p:cNvPr id="24" name="Text 120"/>
          <p:cNvSpPr txBox="1"/>
          <p:nvPr/>
        </p:nvSpPr>
        <p:spPr>
          <a:xfrm>
            <a:off x="3566160" y="3840480"/>
            <a:ext cx="2011680" cy="640080"/>
          </a:xfrm>
          <a:prstGeom prst="rect">
            <a:avLst/>
          </a:prstGeom>
          <a:noFill/>
          <a:ln/>
        </p:spPr>
        <p:txBody>
          <a:bodyPr wrap="square" lIns="0" tIns="0" rIns="0" bIns="0" rtlCol="0" anchor="ctr"/>
          <a:lstStyle/>
          <a:p>
            <a:pPr algn="ctr" indent="0" marL="0">
              <a:buNone/>
            </a:pPr>
            <a:r>
              <a:rPr lang="en-US" sz="1400" b="1" dirty="0">
                <a:solidFill>
                  <a:schemeClr val="tx1"/>
                </a:solidFill>
              </a:rPr>
              <a:t>Hard historical troubleshooting</a:t>
            </a:r>
            <a:endParaRPr lang="en-US" sz="1400" dirty="0"/>
          </a:p>
        </p:txBody>
      </p:sp>
      <p:sp>
        <p:nvSpPr>
          <p:cNvPr id="25" name="Card 121"/>
          <p:cNvSpPr/>
          <p:nvPr/>
        </p:nvSpPr>
        <p:spPr>
          <a:xfrm>
            <a:off x="6035040" y="3840480"/>
            <a:ext cx="2194560" cy="640080"/>
          </a:xfrm>
          <a:prstGeom prst="roundRect">
            <a:avLst>
              <a:gd name="adj" fmla="val 11429"/>
            </a:avLst>
          </a:prstGeom>
          <a:solidFill>
            <a:schemeClr val="bg2"/>
          </a:solidFill>
          <a:ln/>
        </p:spPr>
      </p:sp>
      <p:sp>
        <p:nvSpPr>
          <p:cNvPr id="26" name="Text 122"/>
          <p:cNvSpPr txBox="1"/>
          <p:nvPr/>
        </p:nvSpPr>
        <p:spPr>
          <a:xfrm>
            <a:off x="6126480" y="3840480"/>
            <a:ext cx="2011680" cy="640080"/>
          </a:xfrm>
          <a:prstGeom prst="rect">
            <a:avLst/>
          </a:prstGeom>
          <a:noFill/>
          <a:ln/>
        </p:spPr>
        <p:txBody>
          <a:bodyPr wrap="square" lIns="0" tIns="0" rIns="0" bIns="0" rtlCol="0" anchor="ctr"/>
          <a:lstStyle/>
          <a:p>
            <a:pPr algn="ctr" indent="0" marL="0">
              <a:buNone/>
            </a:pPr>
            <a:r>
              <a:rPr lang="en-US" sz="1400" b="1" dirty="0">
                <a:solidFill>
                  <a:schemeClr val="tx1"/>
                </a:solidFill>
              </a:rPr>
              <a:t>Hard to detect Kubernetes drift</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Proposed GitOps Architecture</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CI builds and publishes. CD reconciles Kubernetes to the state declared in Git</a:t>
            </a:r>
            <a:endParaRPr lang="en-US" sz="1500" dirty="0"/>
          </a:p>
        </p:txBody>
      </p:sp>
      <p:sp>
        <p:nvSpPr>
          <p:cNvPr id="4" name="Card 123"/>
          <p:cNvSpPr/>
          <p:nvPr/>
        </p:nvSpPr>
        <p:spPr>
          <a:xfrm>
            <a:off x="457200" y="1325880"/>
            <a:ext cx="8229600" cy="1508760"/>
          </a:xfrm>
          <a:prstGeom prst="roundRect">
            <a:avLst>
              <a:gd name="adj" fmla="val 4848"/>
            </a:avLst>
          </a:prstGeom>
          <a:solidFill>
            <a:schemeClr val="bg2"/>
          </a:solidFill>
          <a:ln/>
        </p:spPr>
      </p:sp>
      <p:sp>
        <p:nvSpPr>
          <p:cNvPr id="5" name="Card 124"/>
          <p:cNvSpPr/>
          <p:nvPr/>
        </p:nvSpPr>
        <p:spPr>
          <a:xfrm>
            <a:off x="594360" y="1389888"/>
            <a:ext cx="2011680" cy="256032"/>
          </a:xfrm>
          <a:prstGeom prst="roundRect">
            <a:avLst>
              <a:gd name="adj" fmla="val 50000"/>
            </a:avLst>
          </a:prstGeom>
          <a:solidFill>
            <a:schemeClr val="accent5"/>
          </a:solidFill>
          <a:ln/>
        </p:spPr>
      </p:sp>
      <p:sp>
        <p:nvSpPr>
          <p:cNvPr id="6" name="Text 125"/>
          <p:cNvSpPr txBox="1"/>
          <p:nvPr/>
        </p:nvSpPr>
        <p:spPr>
          <a:xfrm>
            <a:off x="594360" y="1389888"/>
            <a:ext cx="2011680" cy="256032"/>
          </a:xfrm>
          <a:prstGeom prst="rect">
            <a:avLst/>
          </a:prstGeom>
          <a:noFill/>
          <a:ln/>
        </p:spPr>
        <p:txBody>
          <a:bodyPr wrap="square" lIns="0" tIns="0" rIns="0" bIns="0" rtlCol="0" anchor="ctr"/>
          <a:lstStyle/>
          <a:p>
            <a:pPr algn="ctr" indent="0" marL="0">
              <a:buNone/>
            </a:pPr>
            <a:r>
              <a:rPr lang="en-US" sz="1200" b="1" dirty="0">
                <a:solidFill>
                  <a:schemeClr val="bg1"/>
                </a:solidFill>
              </a:rPr>
              <a:t>CI  ·  GitHub Actions</a:t>
            </a:r>
            <a:endParaRPr lang="en-US" sz="1200" dirty="0"/>
          </a:p>
        </p:txBody>
      </p:sp>
      <p:sp>
        <p:nvSpPr>
          <p:cNvPr id="7" name="Card 126"/>
          <p:cNvSpPr/>
          <p:nvPr/>
        </p:nvSpPr>
        <p:spPr>
          <a:xfrm>
            <a:off x="457200" y="3108960"/>
            <a:ext cx="8229600" cy="1508760"/>
          </a:xfrm>
          <a:prstGeom prst="roundRect">
            <a:avLst>
              <a:gd name="adj" fmla="val 4848"/>
            </a:avLst>
          </a:prstGeom>
          <a:solidFill>
            <a:schemeClr val="bg2"/>
          </a:solidFill>
          <a:ln/>
        </p:spPr>
      </p:sp>
      <p:sp>
        <p:nvSpPr>
          <p:cNvPr id="8" name="Card 127"/>
          <p:cNvSpPr/>
          <p:nvPr/>
        </p:nvSpPr>
        <p:spPr>
          <a:xfrm>
            <a:off x="594360" y="3172968"/>
            <a:ext cx="2377440" cy="256032"/>
          </a:xfrm>
          <a:prstGeom prst="roundRect">
            <a:avLst>
              <a:gd name="adj" fmla="val 50000"/>
            </a:avLst>
          </a:prstGeom>
          <a:solidFill>
            <a:schemeClr val="accent2"/>
          </a:solidFill>
          <a:ln/>
        </p:spPr>
      </p:sp>
      <p:sp>
        <p:nvSpPr>
          <p:cNvPr id="9" name="Text 128"/>
          <p:cNvSpPr txBox="1"/>
          <p:nvPr/>
        </p:nvSpPr>
        <p:spPr>
          <a:xfrm>
            <a:off x="594360" y="3172968"/>
            <a:ext cx="2377440" cy="256032"/>
          </a:xfrm>
          <a:prstGeom prst="rect">
            <a:avLst/>
          </a:prstGeom>
          <a:noFill/>
          <a:ln/>
        </p:spPr>
        <p:txBody>
          <a:bodyPr wrap="square" lIns="0" tIns="0" rIns="0" bIns="0" rtlCol="0" anchor="ctr"/>
          <a:lstStyle/>
          <a:p>
            <a:pPr algn="ctr" indent="0" marL="0">
              <a:buNone/>
            </a:pPr>
            <a:r>
              <a:rPr lang="en-US" sz="1200" b="1" dirty="0">
                <a:solidFill>
                  <a:schemeClr val="tx1"/>
                </a:solidFill>
              </a:rPr>
              <a:t>CD  ·  Argo CD (GitOps)</a:t>
            </a:r>
            <a:endParaRPr lang="en-US" sz="1200" dirty="0"/>
          </a:p>
        </p:txBody>
      </p:sp>
      <p:sp>
        <p:nvSpPr>
          <p:cNvPr id="10" name="Card 129"/>
          <p:cNvSpPr/>
          <p:nvPr/>
        </p:nvSpPr>
        <p:spPr>
          <a:xfrm>
            <a:off x="525780" y="1719072"/>
            <a:ext cx="1645920" cy="960120"/>
          </a:xfrm>
          <a:prstGeom prst="roundRect">
            <a:avLst>
              <a:gd name="adj" fmla="val 7619"/>
            </a:avLst>
          </a:prstGeom>
          <a:solidFill>
            <a:schemeClr val="accent5"/>
          </a:solidFill>
          <a:ln/>
        </p:spPr>
      </p:sp>
      <p:pic>
        <p:nvPicPr>
          <p:cNvPr id="11" name="Icon 130" descr="FaGithub">    </p:cNvPr>
          <p:cNvPicPr>
            <a:picLocks noChangeAspect="1"/>
          </p:cNvPicPr>
          <p:nvPr/>
        </p:nvPicPr>
        <p:blipFill>
          <a:blip r:embed="rId1"/>
          <a:stretch>
            <a:fillRect/>
          </a:stretch>
        </p:blipFill>
        <p:spPr>
          <a:xfrm>
            <a:off x="1175004" y="1828800"/>
            <a:ext cx="347472" cy="347472"/>
          </a:xfrm>
          <a:prstGeom prst="rect">
            <a:avLst/>
          </a:prstGeom>
        </p:spPr>
      </p:pic>
      <p:sp>
        <p:nvSpPr>
          <p:cNvPr id="12" name="Text 131"/>
          <p:cNvSpPr txBox="1"/>
          <p:nvPr/>
        </p:nvSpPr>
        <p:spPr>
          <a:xfrm>
            <a:off x="571500" y="2212848"/>
            <a:ext cx="1554480" cy="237744"/>
          </a:xfrm>
          <a:prstGeom prst="rect">
            <a:avLst/>
          </a:prstGeom>
          <a:noFill/>
          <a:ln/>
        </p:spPr>
        <p:txBody>
          <a:bodyPr wrap="square" lIns="0" tIns="0" rIns="0" bIns="0" rtlCol="0" anchor="ctr"/>
          <a:lstStyle/>
          <a:p>
            <a:pPr algn="ctr" indent="0" marL="0">
              <a:buNone/>
            </a:pPr>
            <a:r>
              <a:rPr lang="en-US" sz="1300" b="1" dirty="0">
                <a:solidFill>
                  <a:schemeClr val="bg1"/>
                </a:solidFill>
              </a:rPr>
              <a:t>Application Repo</a:t>
            </a:r>
            <a:endParaRPr lang="en-US" sz="1300" dirty="0"/>
          </a:p>
        </p:txBody>
      </p:sp>
      <p:sp>
        <p:nvSpPr>
          <p:cNvPr id="13" name="Text 132"/>
          <p:cNvSpPr txBox="1"/>
          <p:nvPr/>
        </p:nvSpPr>
        <p:spPr>
          <a:xfrm>
            <a:off x="571500" y="2441448"/>
            <a:ext cx="1554480" cy="201168"/>
          </a:xfrm>
          <a:prstGeom prst="rect">
            <a:avLst/>
          </a:prstGeom>
          <a:noFill/>
          <a:ln/>
        </p:spPr>
        <p:txBody>
          <a:bodyPr wrap="square" lIns="0" tIns="0" rIns="0" bIns="0" rtlCol="0" anchor="ctr"/>
          <a:lstStyle/>
          <a:p>
            <a:pPr algn="ctr" indent="0" marL="0">
              <a:buNone/>
            </a:pPr>
            <a:r>
              <a:rPr lang="en-US" sz="1100" dirty="0">
                <a:solidFill>
                  <a:schemeClr val="bg1"/>
                </a:solidFill>
              </a:rPr>
              <a:t>source code</a:t>
            </a:r>
            <a:endParaRPr lang="en-US" sz="1100" dirty="0"/>
          </a:p>
        </p:txBody>
      </p:sp>
      <p:sp>
        <p:nvSpPr>
          <p:cNvPr id="14" name="Card 133"/>
          <p:cNvSpPr/>
          <p:nvPr/>
        </p:nvSpPr>
        <p:spPr>
          <a:xfrm>
            <a:off x="2674620" y="1719072"/>
            <a:ext cx="1645920" cy="960120"/>
          </a:xfrm>
          <a:prstGeom prst="roundRect">
            <a:avLst>
              <a:gd name="adj" fmla="val 7619"/>
            </a:avLst>
          </a:prstGeom>
          <a:solidFill>
            <a:schemeClr val="accent5"/>
          </a:solidFill>
          <a:ln/>
        </p:spPr>
      </p:sp>
      <p:pic>
        <p:nvPicPr>
          <p:cNvPr id="15" name="Icon 134" descr="SiGithubactions">    </p:cNvPr>
          <p:cNvPicPr>
            <a:picLocks noChangeAspect="1"/>
          </p:cNvPicPr>
          <p:nvPr/>
        </p:nvPicPr>
        <p:blipFill>
          <a:blip r:embed="rId2"/>
          <a:stretch>
            <a:fillRect/>
          </a:stretch>
        </p:blipFill>
        <p:spPr>
          <a:xfrm>
            <a:off x="3323844" y="1828800"/>
            <a:ext cx="347472" cy="347472"/>
          </a:xfrm>
          <a:prstGeom prst="rect">
            <a:avLst/>
          </a:prstGeom>
        </p:spPr>
      </p:pic>
      <p:sp>
        <p:nvSpPr>
          <p:cNvPr id="16" name="Text 135"/>
          <p:cNvSpPr txBox="1"/>
          <p:nvPr/>
        </p:nvSpPr>
        <p:spPr>
          <a:xfrm>
            <a:off x="2720340" y="2212848"/>
            <a:ext cx="1554480" cy="237744"/>
          </a:xfrm>
          <a:prstGeom prst="rect">
            <a:avLst/>
          </a:prstGeom>
          <a:noFill/>
          <a:ln/>
        </p:spPr>
        <p:txBody>
          <a:bodyPr wrap="square" lIns="0" tIns="0" rIns="0" bIns="0" rtlCol="0" anchor="ctr"/>
          <a:lstStyle/>
          <a:p>
            <a:pPr algn="ctr" indent="0" marL="0">
              <a:buNone/>
            </a:pPr>
            <a:r>
              <a:rPr lang="en-US" sz="1300" b="1" dirty="0">
                <a:solidFill>
                  <a:schemeClr val="bg1"/>
                </a:solidFill>
              </a:rPr>
              <a:t>GitHub Actions</a:t>
            </a:r>
            <a:endParaRPr lang="en-US" sz="1300" dirty="0"/>
          </a:p>
        </p:txBody>
      </p:sp>
      <p:sp>
        <p:nvSpPr>
          <p:cNvPr id="17" name="Text 136"/>
          <p:cNvSpPr txBox="1"/>
          <p:nvPr/>
        </p:nvSpPr>
        <p:spPr>
          <a:xfrm>
            <a:off x="2720340" y="2441448"/>
            <a:ext cx="1554480" cy="201168"/>
          </a:xfrm>
          <a:prstGeom prst="rect">
            <a:avLst/>
          </a:prstGeom>
          <a:noFill/>
          <a:ln/>
        </p:spPr>
        <p:txBody>
          <a:bodyPr wrap="square" lIns="0" tIns="0" rIns="0" bIns="0" rtlCol="0" anchor="ctr"/>
          <a:lstStyle/>
          <a:p>
            <a:pPr algn="ctr" indent="0" marL="0">
              <a:buNone/>
            </a:pPr>
            <a:r>
              <a:rPr lang="en-US" sz="1100" dirty="0">
                <a:solidFill>
                  <a:schemeClr val="bg1"/>
                </a:solidFill>
              </a:rPr>
              <a:t>build · test · scan</a:t>
            </a:r>
            <a:endParaRPr lang="en-US" sz="1100" dirty="0"/>
          </a:p>
        </p:txBody>
      </p:sp>
      <p:sp>
        <p:nvSpPr>
          <p:cNvPr id="18" name="Card 137"/>
          <p:cNvSpPr/>
          <p:nvPr/>
        </p:nvSpPr>
        <p:spPr>
          <a:xfrm>
            <a:off x="4823460" y="1719072"/>
            <a:ext cx="1645920" cy="960120"/>
          </a:xfrm>
          <a:prstGeom prst="roundRect">
            <a:avLst>
              <a:gd name="adj" fmla="val 7619"/>
            </a:avLst>
          </a:prstGeom>
          <a:solidFill>
            <a:schemeClr val="accent4"/>
          </a:solidFill>
          <a:ln/>
        </p:spPr>
      </p:sp>
      <p:pic>
        <p:nvPicPr>
          <p:cNvPr id="19" name="Icon 138" descr="SiHarbor">    </p:cNvPr>
          <p:cNvPicPr>
            <a:picLocks noChangeAspect="1"/>
          </p:cNvPicPr>
          <p:nvPr/>
        </p:nvPicPr>
        <p:blipFill>
          <a:blip r:embed="rId3"/>
          <a:stretch>
            <a:fillRect/>
          </a:stretch>
        </p:blipFill>
        <p:spPr>
          <a:xfrm>
            <a:off x="5472684" y="1828800"/>
            <a:ext cx="347472" cy="347472"/>
          </a:xfrm>
          <a:prstGeom prst="rect">
            <a:avLst/>
          </a:prstGeom>
        </p:spPr>
      </p:pic>
      <p:sp>
        <p:nvSpPr>
          <p:cNvPr id="20" name="Text 139"/>
          <p:cNvSpPr txBox="1"/>
          <p:nvPr/>
        </p:nvSpPr>
        <p:spPr>
          <a:xfrm>
            <a:off x="4869180" y="2212848"/>
            <a:ext cx="1554480" cy="237744"/>
          </a:xfrm>
          <a:prstGeom prst="rect">
            <a:avLst/>
          </a:prstGeom>
          <a:noFill/>
          <a:ln/>
        </p:spPr>
        <p:txBody>
          <a:bodyPr wrap="square" lIns="0" tIns="0" rIns="0" bIns="0" rtlCol="0" anchor="ctr"/>
          <a:lstStyle/>
          <a:p>
            <a:pPr algn="ctr" indent="0" marL="0">
              <a:buNone/>
            </a:pPr>
            <a:r>
              <a:rPr lang="en-US" sz="1300" b="1" dirty="0">
                <a:solidFill>
                  <a:schemeClr val="bg1"/>
                </a:solidFill>
              </a:rPr>
              <a:t>Harbor</a:t>
            </a:r>
            <a:endParaRPr lang="en-US" sz="1300" dirty="0"/>
          </a:p>
        </p:txBody>
      </p:sp>
      <p:sp>
        <p:nvSpPr>
          <p:cNvPr id="21" name="Text 140"/>
          <p:cNvSpPr txBox="1"/>
          <p:nvPr/>
        </p:nvSpPr>
        <p:spPr>
          <a:xfrm>
            <a:off x="4869180" y="2441448"/>
            <a:ext cx="1554480" cy="201168"/>
          </a:xfrm>
          <a:prstGeom prst="rect">
            <a:avLst/>
          </a:prstGeom>
          <a:noFill/>
          <a:ln/>
        </p:spPr>
        <p:txBody>
          <a:bodyPr wrap="square" lIns="0" tIns="0" rIns="0" bIns="0" rtlCol="0" anchor="ctr"/>
          <a:lstStyle/>
          <a:p>
            <a:pPr algn="ctr" indent="0" marL="0">
              <a:buNone/>
            </a:pPr>
            <a:r>
              <a:rPr lang="en-US" sz="1100" dirty="0">
                <a:solidFill>
                  <a:schemeClr val="bg1"/>
                </a:solidFill>
              </a:rPr>
              <a:t>image registry</a:t>
            </a:r>
            <a:endParaRPr lang="en-US" sz="1100" dirty="0"/>
          </a:p>
        </p:txBody>
      </p:sp>
      <p:sp>
        <p:nvSpPr>
          <p:cNvPr id="22" name="Connector 141"/>
          <p:cNvSpPr/>
          <p:nvPr/>
        </p:nvSpPr>
        <p:spPr>
          <a:xfrm>
            <a:off x="2199132" y="2194560"/>
            <a:ext cx="448056" cy="0"/>
          </a:xfrm>
          <a:prstGeom prst="line">
            <a:avLst/>
          </a:prstGeom>
          <a:noFill/>
          <a:ln w="19050">
            <a:solidFill>
              <a:schemeClr val="tx1"/>
            </a:solidFill>
            <a:prstDash val="solid"/>
            <a:tailEnd type="triangle"/>
          </a:ln>
        </p:spPr>
      </p:sp>
      <p:sp>
        <p:nvSpPr>
          <p:cNvPr id="23" name="Connector 142"/>
          <p:cNvSpPr/>
          <p:nvPr/>
        </p:nvSpPr>
        <p:spPr>
          <a:xfrm>
            <a:off x="4347972" y="2194560"/>
            <a:ext cx="448056" cy="0"/>
          </a:xfrm>
          <a:prstGeom prst="line">
            <a:avLst/>
          </a:prstGeom>
          <a:noFill/>
          <a:ln w="19050">
            <a:solidFill>
              <a:schemeClr val="tx1"/>
            </a:solidFill>
            <a:prstDash val="solid"/>
            <a:tailEnd type="triangle"/>
          </a:ln>
        </p:spPr>
      </p:sp>
      <p:sp>
        <p:nvSpPr>
          <p:cNvPr id="24" name="Card 143"/>
          <p:cNvSpPr/>
          <p:nvPr/>
        </p:nvSpPr>
        <p:spPr>
          <a:xfrm>
            <a:off x="6972300" y="1719072"/>
            <a:ext cx="1645920" cy="960120"/>
          </a:xfrm>
          <a:prstGeom prst="roundRect">
            <a:avLst>
              <a:gd name="adj" fmla="val 7619"/>
            </a:avLst>
          </a:prstGeom>
          <a:solidFill>
            <a:schemeClr val="bg1"/>
          </a:solidFill>
          <a:ln w="12700">
            <a:solidFill>
              <a:schemeClr val="tx2"/>
            </a:solidFill>
            <a:prstDash val="dash"/>
          </a:ln>
        </p:spPr>
      </p:sp>
      <p:sp>
        <p:nvSpPr>
          <p:cNvPr id="25" name="Text 144"/>
          <p:cNvSpPr txBox="1"/>
          <p:nvPr/>
        </p:nvSpPr>
        <p:spPr>
          <a:xfrm>
            <a:off x="7045452" y="1719072"/>
            <a:ext cx="1499616" cy="960120"/>
          </a:xfrm>
          <a:prstGeom prst="rect">
            <a:avLst/>
          </a:prstGeom>
          <a:noFill/>
          <a:ln/>
        </p:spPr>
        <p:txBody>
          <a:bodyPr wrap="square" lIns="0" tIns="0" rIns="0" bIns="0" rtlCol="0" anchor="ctr"/>
          <a:lstStyle/>
          <a:p>
            <a:pPr algn="ctr" indent="0" marL="0">
              <a:buNone/>
            </a:pPr>
            <a:r>
              <a:rPr lang="en-US" sz="1100" i="1" dirty="0">
                <a:solidFill>
                  <a:schemeClr val="tx2"/>
                </a:solidFill>
              </a:rPr>
              <a:t>Kubernetes pulls the image from Harbor at deploy time</a:t>
            </a:r>
            <a:endParaRPr lang="en-US" sz="1100" dirty="0"/>
          </a:p>
        </p:txBody>
      </p:sp>
      <p:sp>
        <p:nvSpPr>
          <p:cNvPr id="26" name="Card 145"/>
          <p:cNvSpPr/>
          <p:nvPr/>
        </p:nvSpPr>
        <p:spPr>
          <a:xfrm>
            <a:off x="525780" y="3547872"/>
            <a:ext cx="1645920" cy="960120"/>
          </a:xfrm>
          <a:prstGeom prst="roundRect">
            <a:avLst>
              <a:gd name="adj" fmla="val 7619"/>
            </a:avLst>
          </a:prstGeom>
          <a:solidFill>
            <a:schemeClr val="bg1"/>
          </a:solidFill>
          <a:ln w="12700">
            <a:solidFill>
              <a:schemeClr val="tx2"/>
            </a:solidFill>
            <a:prstDash val="solid"/>
          </a:ln>
        </p:spPr>
      </p:sp>
      <p:sp>
        <p:nvSpPr>
          <p:cNvPr id="27" name="Text 146"/>
          <p:cNvSpPr txBox="1"/>
          <p:nvPr/>
        </p:nvSpPr>
        <p:spPr>
          <a:xfrm>
            <a:off x="617220" y="3547872"/>
            <a:ext cx="1463040" cy="960120"/>
          </a:xfrm>
          <a:prstGeom prst="rect">
            <a:avLst/>
          </a:prstGeom>
          <a:noFill/>
          <a:ln/>
        </p:spPr>
        <p:txBody>
          <a:bodyPr wrap="square" lIns="0" tIns="0" rIns="0" bIns="0" rtlCol="0" anchor="ctr"/>
          <a:lstStyle/>
          <a:p>
            <a:pPr indent="0" marL="0">
              <a:buNone/>
            </a:pPr>
            <a:r>
              <a:rPr lang="en-US" sz="1100" dirty="0">
                <a:solidFill>
                  <a:schemeClr val="tx1"/>
                </a:solidFill>
              </a:rPr>
              <a:t>CI = GitHub Actions</a:t>
            </a:r>
            <a:endParaRPr lang="en-US" sz="1100" dirty="0"/>
          </a:p>
          <a:p>
            <a:pPr indent="0" marL="0">
              <a:buNone/>
            </a:pPr>
            <a:r>
              <a:rPr lang="en-US" sz="1100" dirty="0">
                <a:solidFill>
                  <a:schemeClr val="tx1"/>
                </a:solidFill>
              </a:rPr>
              <a:t>Registry = Harbor</a:t>
            </a:r>
            <a:endParaRPr lang="en-US" sz="1100" dirty="0"/>
          </a:p>
          <a:p>
            <a:pPr indent="0" marL="0">
              <a:buNone/>
            </a:pPr>
            <a:r>
              <a:rPr lang="en-US" sz="1100" dirty="0">
                <a:solidFill>
                  <a:schemeClr val="tx1"/>
                </a:solidFill>
              </a:rPr>
              <a:t>CD = Argo CD</a:t>
            </a:r>
            <a:endParaRPr lang="en-US" sz="1100" dirty="0"/>
          </a:p>
          <a:p>
            <a:pPr indent="0" marL="0">
              <a:buNone/>
            </a:pPr>
            <a:r>
              <a:rPr lang="en-US" sz="1100" dirty="0">
                <a:solidFill>
                  <a:schemeClr val="tx1"/>
                </a:solidFill>
              </a:rPr>
              <a:t>Desired state = Git</a:t>
            </a:r>
            <a:endParaRPr lang="en-US" sz="1100" dirty="0"/>
          </a:p>
          <a:p>
            <a:pPr indent="0" marL="0">
              <a:buNone/>
            </a:pPr>
            <a:r>
              <a:rPr lang="en-US" sz="1100" dirty="0">
                <a:solidFill>
                  <a:schemeClr val="tx1"/>
                </a:solidFill>
              </a:rPr>
              <a:t>Runtime = Kubernetes</a:t>
            </a:r>
            <a:endParaRPr lang="en-US" sz="1100" dirty="0"/>
          </a:p>
        </p:txBody>
      </p:sp>
      <p:sp>
        <p:nvSpPr>
          <p:cNvPr id="28" name="Card 147"/>
          <p:cNvSpPr/>
          <p:nvPr/>
        </p:nvSpPr>
        <p:spPr>
          <a:xfrm>
            <a:off x="2674620" y="3547872"/>
            <a:ext cx="1645920" cy="960120"/>
          </a:xfrm>
          <a:prstGeom prst="roundRect">
            <a:avLst>
              <a:gd name="adj" fmla="val 7619"/>
            </a:avLst>
          </a:prstGeom>
          <a:solidFill>
            <a:schemeClr val="accent5"/>
          </a:solidFill>
          <a:ln/>
        </p:spPr>
      </p:sp>
      <p:pic>
        <p:nvPicPr>
          <p:cNvPr id="29" name="Icon 148" descr="SiGit">    </p:cNvPr>
          <p:cNvPicPr>
            <a:picLocks noChangeAspect="1"/>
          </p:cNvPicPr>
          <p:nvPr/>
        </p:nvPicPr>
        <p:blipFill>
          <a:blip r:embed="rId4"/>
          <a:stretch>
            <a:fillRect/>
          </a:stretch>
        </p:blipFill>
        <p:spPr>
          <a:xfrm>
            <a:off x="3323844" y="3657600"/>
            <a:ext cx="347472" cy="347472"/>
          </a:xfrm>
          <a:prstGeom prst="rect">
            <a:avLst/>
          </a:prstGeom>
        </p:spPr>
      </p:pic>
      <p:sp>
        <p:nvSpPr>
          <p:cNvPr id="30" name="Text 149"/>
          <p:cNvSpPr txBox="1"/>
          <p:nvPr/>
        </p:nvSpPr>
        <p:spPr>
          <a:xfrm>
            <a:off x="2720340" y="4041648"/>
            <a:ext cx="1554480" cy="237744"/>
          </a:xfrm>
          <a:prstGeom prst="rect">
            <a:avLst/>
          </a:prstGeom>
          <a:noFill/>
          <a:ln/>
        </p:spPr>
        <p:txBody>
          <a:bodyPr wrap="square" lIns="0" tIns="0" rIns="0" bIns="0" rtlCol="0" anchor="ctr"/>
          <a:lstStyle/>
          <a:p>
            <a:pPr algn="ctr" indent="0" marL="0">
              <a:buNone/>
            </a:pPr>
            <a:r>
              <a:rPr lang="en-US" sz="1200" b="1" dirty="0">
                <a:solidFill>
                  <a:schemeClr val="bg1"/>
                </a:solidFill>
              </a:rPr>
              <a:t>GitOps Repository</a:t>
            </a:r>
            <a:endParaRPr lang="en-US" sz="1200" dirty="0"/>
          </a:p>
        </p:txBody>
      </p:sp>
      <p:sp>
        <p:nvSpPr>
          <p:cNvPr id="31" name="Text 150"/>
          <p:cNvSpPr txBox="1"/>
          <p:nvPr/>
        </p:nvSpPr>
        <p:spPr>
          <a:xfrm>
            <a:off x="2720340" y="4270248"/>
            <a:ext cx="1554480" cy="201168"/>
          </a:xfrm>
          <a:prstGeom prst="rect">
            <a:avLst/>
          </a:prstGeom>
          <a:noFill/>
          <a:ln/>
        </p:spPr>
        <p:txBody>
          <a:bodyPr wrap="square" lIns="0" tIns="0" rIns="0" bIns="0" rtlCol="0" anchor="ctr"/>
          <a:lstStyle/>
          <a:p>
            <a:pPr algn="ctr" indent="0" marL="0">
              <a:buNone/>
            </a:pPr>
            <a:r>
              <a:rPr lang="en-US" sz="1100" dirty="0">
                <a:solidFill>
                  <a:schemeClr val="bg1"/>
                </a:solidFill>
              </a:rPr>
              <a:t>desired state</a:t>
            </a:r>
            <a:endParaRPr lang="en-US" sz="1100" dirty="0"/>
          </a:p>
        </p:txBody>
      </p:sp>
      <p:sp>
        <p:nvSpPr>
          <p:cNvPr id="32" name="Card 151"/>
          <p:cNvSpPr/>
          <p:nvPr/>
        </p:nvSpPr>
        <p:spPr>
          <a:xfrm>
            <a:off x="4823460" y="3547872"/>
            <a:ext cx="1645920" cy="960120"/>
          </a:xfrm>
          <a:prstGeom prst="roundRect">
            <a:avLst>
              <a:gd name="adj" fmla="val 7619"/>
            </a:avLst>
          </a:prstGeom>
          <a:solidFill>
            <a:schemeClr val="accent2"/>
          </a:solidFill>
          <a:ln/>
        </p:spPr>
      </p:sp>
      <p:pic>
        <p:nvPicPr>
          <p:cNvPr id="33" name="Icon 152" descr="SiArgo">    </p:cNvPr>
          <p:cNvPicPr>
            <a:picLocks noChangeAspect="1"/>
          </p:cNvPicPr>
          <p:nvPr/>
        </p:nvPicPr>
        <p:blipFill>
          <a:blip r:embed="rId5"/>
          <a:stretch>
            <a:fillRect/>
          </a:stretch>
        </p:blipFill>
        <p:spPr>
          <a:xfrm>
            <a:off x="5472684" y="3657600"/>
            <a:ext cx="347472" cy="347472"/>
          </a:xfrm>
          <a:prstGeom prst="rect">
            <a:avLst/>
          </a:prstGeom>
        </p:spPr>
      </p:pic>
      <p:sp>
        <p:nvSpPr>
          <p:cNvPr id="34" name="Text 153"/>
          <p:cNvSpPr txBox="1"/>
          <p:nvPr/>
        </p:nvSpPr>
        <p:spPr>
          <a:xfrm>
            <a:off x="4869180" y="4041648"/>
            <a:ext cx="1554480" cy="237744"/>
          </a:xfrm>
          <a:prstGeom prst="rect">
            <a:avLst/>
          </a:prstGeom>
          <a:noFill/>
          <a:ln/>
        </p:spPr>
        <p:txBody>
          <a:bodyPr wrap="square" lIns="0" tIns="0" rIns="0" bIns="0" rtlCol="0" anchor="ctr"/>
          <a:lstStyle/>
          <a:p>
            <a:pPr algn="ctr" indent="0" marL="0">
              <a:buNone/>
            </a:pPr>
            <a:r>
              <a:rPr lang="en-US" sz="1300" b="1" dirty="0">
                <a:solidFill>
                  <a:schemeClr val="tx1"/>
                </a:solidFill>
              </a:rPr>
              <a:t>Argo CD</a:t>
            </a:r>
            <a:endParaRPr lang="en-US" sz="1300" dirty="0"/>
          </a:p>
        </p:txBody>
      </p:sp>
      <p:sp>
        <p:nvSpPr>
          <p:cNvPr id="35" name="Text 154"/>
          <p:cNvSpPr txBox="1"/>
          <p:nvPr/>
        </p:nvSpPr>
        <p:spPr>
          <a:xfrm>
            <a:off x="4869180" y="4270248"/>
            <a:ext cx="1554480" cy="201168"/>
          </a:xfrm>
          <a:prstGeom prst="rect">
            <a:avLst/>
          </a:prstGeom>
          <a:noFill/>
          <a:ln/>
        </p:spPr>
        <p:txBody>
          <a:bodyPr wrap="square" lIns="0" tIns="0" rIns="0" bIns="0" rtlCol="0" anchor="ctr"/>
          <a:lstStyle/>
          <a:p>
            <a:pPr algn="ctr" indent="0" marL="0">
              <a:buNone/>
            </a:pPr>
            <a:r>
              <a:rPr lang="en-US" sz="1100" dirty="0">
                <a:solidFill>
                  <a:schemeClr val="tx1"/>
                </a:solidFill>
              </a:rPr>
              <a:t>detect · compare · sync</a:t>
            </a:r>
            <a:endParaRPr lang="en-US" sz="1100" dirty="0"/>
          </a:p>
        </p:txBody>
      </p:sp>
      <p:sp>
        <p:nvSpPr>
          <p:cNvPr id="36" name="Card 155"/>
          <p:cNvSpPr/>
          <p:nvPr/>
        </p:nvSpPr>
        <p:spPr>
          <a:xfrm>
            <a:off x="6972300" y="3547872"/>
            <a:ext cx="1645920" cy="960120"/>
          </a:xfrm>
          <a:prstGeom prst="roundRect">
            <a:avLst>
              <a:gd name="adj" fmla="val 7619"/>
            </a:avLst>
          </a:prstGeom>
          <a:solidFill>
            <a:schemeClr val="accent1"/>
          </a:solidFill>
          <a:ln/>
        </p:spPr>
      </p:sp>
      <p:pic>
        <p:nvPicPr>
          <p:cNvPr id="37" name="Icon 156" descr="SiKubernetes">    </p:cNvPr>
          <p:cNvPicPr>
            <a:picLocks noChangeAspect="1"/>
          </p:cNvPicPr>
          <p:nvPr/>
        </p:nvPicPr>
        <p:blipFill>
          <a:blip r:embed="rId6"/>
          <a:stretch>
            <a:fillRect/>
          </a:stretch>
        </p:blipFill>
        <p:spPr>
          <a:xfrm>
            <a:off x="7621524" y="3657600"/>
            <a:ext cx="347472" cy="347472"/>
          </a:xfrm>
          <a:prstGeom prst="rect">
            <a:avLst/>
          </a:prstGeom>
        </p:spPr>
      </p:pic>
      <p:sp>
        <p:nvSpPr>
          <p:cNvPr id="38" name="Text 157"/>
          <p:cNvSpPr txBox="1"/>
          <p:nvPr/>
        </p:nvSpPr>
        <p:spPr>
          <a:xfrm>
            <a:off x="7018020" y="4041648"/>
            <a:ext cx="1554480" cy="237744"/>
          </a:xfrm>
          <a:prstGeom prst="rect">
            <a:avLst/>
          </a:prstGeom>
          <a:noFill/>
          <a:ln/>
        </p:spPr>
        <p:txBody>
          <a:bodyPr wrap="square" lIns="0" tIns="0" rIns="0" bIns="0" rtlCol="0" anchor="ctr"/>
          <a:lstStyle/>
          <a:p>
            <a:pPr algn="ctr" indent="0" marL="0">
              <a:buNone/>
            </a:pPr>
            <a:r>
              <a:rPr lang="en-US" sz="1300" b="1" dirty="0">
                <a:solidFill>
                  <a:schemeClr val="bg1"/>
                </a:solidFill>
              </a:rPr>
              <a:t>Kubernetes</a:t>
            </a:r>
            <a:endParaRPr lang="en-US" sz="1300" dirty="0"/>
          </a:p>
        </p:txBody>
      </p:sp>
      <p:sp>
        <p:nvSpPr>
          <p:cNvPr id="39" name="Text 158"/>
          <p:cNvSpPr txBox="1"/>
          <p:nvPr/>
        </p:nvSpPr>
        <p:spPr>
          <a:xfrm>
            <a:off x="7018020" y="4270248"/>
            <a:ext cx="1554480" cy="201168"/>
          </a:xfrm>
          <a:prstGeom prst="rect">
            <a:avLst/>
          </a:prstGeom>
          <a:noFill/>
          <a:ln/>
        </p:spPr>
        <p:txBody>
          <a:bodyPr wrap="square" lIns="0" tIns="0" rIns="0" bIns="0" rtlCol="0" anchor="ctr"/>
          <a:lstStyle/>
          <a:p>
            <a:pPr algn="ctr" indent="0" marL="0">
              <a:buNone/>
            </a:pPr>
            <a:r>
              <a:rPr lang="en-US" sz="1100" dirty="0">
                <a:solidFill>
                  <a:schemeClr val="bg1"/>
                </a:solidFill>
              </a:rPr>
              <a:t>DEV · QA · UAT · PROD</a:t>
            </a:r>
            <a:endParaRPr lang="en-US" sz="1100" dirty="0"/>
          </a:p>
        </p:txBody>
      </p:sp>
      <p:sp>
        <p:nvSpPr>
          <p:cNvPr id="40" name="Connector 159"/>
          <p:cNvSpPr/>
          <p:nvPr/>
        </p:nvSpPr>
        <p:spPr>
          <a:xfrm>
            <a:off x="4347972" y="4023360"/>
            <a:ext cx="448056" cy="0"/>
          </a:xfrm>
          <a:prstGeom prst="line">
            <a:avLst/>
          </a:prstGeom>
          <a:noFill/>
          <a:ln w="19050">
            <a:solidFill>
              <a:schemeClr val="tx1"/>
            </a:solidFill>
            <a:prstDash val="solid"/>
            <a:tailEnd type="triangle"/>
          </a:ln>
        </p:spPr>
      </p:sp>
      <p:sp>
        <p:nvSpPr>
          <p:cNvPr id="41" name="Connector 160"/>
          <p:cNvSpPr/>
          <p:nvPr/>
        </p:nvSpPr>
        <p:spPr>
          <a:xfrm>
            <a:off x="6496812" y="4023360"/>
            <a:ext cx="448056" cy="0"/>
          </a:xfrm>
          <a:prstGeom prst="line">
            <a:avLst/>
          </a:prstGeom>
          <a:noFill/>
          <a:ln w="19050">
            <a:solidFill>
              <a:schemeClr val="tx1"/>
            </a:solidFill>
            <a:prstDash val="solid"/>
            <a:tailEnd type="triangle"/>
          </a:ln>
        </p:spPr>
      </p:sp>
      <p:sp>
        <p:nvSpPr>
          <p:cNvPr id="42" name="Connector 161"/>
          <p:cNvSpPr/>
          <p:nvPr/>
        </p:nvSpPr>
        <p:spPr>
          <a:xfrm>
            <a:off x="3497580" y="2679192"/>
            <a:ext cx="0" cy="850392"/>
          </a:xfrm>
          <a:prstGeom prst="line">
            <a:avLst/>
          </a:prstGeom>
          <a:noFill/>
          <a:ln w="28575">
            <a:solidFill>
              <a:schemeClr val="accent2"/>
            </a:solidFill>
            <a:prstDash val="solid"/>
            <a:tailEnd type="triangle"/>
          </a:ln>
        </p:spPr>
      </p:sp>
      <p:sp>
        <p:nvSpPr>
          <p:cNvPr id="43" name="Text 162"/>
          <p:cNvSpPr txBox="1"/>
          <p:nvPr/>
        </p:nvSpPr>
        <p:spPr>
          <a:xfrm>
            <a:off x="3607308" y="2834640"/>
            <a:ext cx="2194560" cy="256032"/>
          </a:xfrm>
          <a:prstGeom prst="rect">
            <a:avLst/>
          </a:prstGeom>
          <a:noFill/>
          <a:ln/>
        </p:spPr>
        <p:txBody>
          <a:bodyPr wrap="square" lIns="0" tIns="0" rIns="0" bIns="0" rtlCol="0" anchor="ctr"/>
          <a:lstStyle/>
          <a:p>
            <a:pPr indent="0" marL="0">
              <a:buNone/>
            </a:pPr>
            <a:r>
              <a:rPr lang="en-US" sz="1100" i="1" dirty="0">
                <a:solidFill>
                  <a:schemeClr val="tx1"/>
                </a:solidFill>
              </a:rPr>
              <a:t>commit / PR: new image tag</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How the New Deployment Flow Works</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Ten steps from code change to a Healthy, Synced application</a:t>
            </a:r>
            <a:endParaRPr lang="en-US" sz="1500" dirty="0"/>
          </a:p>
        </p:txBody>
      </p:sp>
      <p:sp>
        <p:nvSpPr>
          <p:cNvPr id="4" name="Card 163"/>
          <p:cNvSpPr/>
          <p:nvPr/>
        </p:nvSpPr>
        <p:spPr>
          <a:xfrm>
            <a:off x="502920" y="1371600"/>
            <a:ext cx="1481328" cy="1325880"/>
          </a:xfrm>
          <a:prstGeom prst="roundRect">
            <a:avLst>
              <a:gd name="adj" fmla="val 5517"/>
            </a:avLst>
          </a:prstGeom>
          <a:solidFill>
            <a:schemeClr val="bg2"/>
          </a:solidFill>
          <a:ln/>
        </p:spPr>
      </p:sp>
      <p:sp>
        <p:nvSpPr>
          <p:cNvPr id="5" name="Step number 164"/>
          <p:cNvSpPr/>
          <p:nvPr/>
        </p:nvSpPr>
        <p:spPr>
          <a:xfrm>
            <a:off x="612648" y="1481328"/>
            <a:ext cx="365760" cy="365760"/>
          </a:xfrm>
          <a:prstGeom prst="ellipse">
            <a:avLst/>
          </a:prstGeom>
          <a:solidFill>
            <a:schemeClr val="tx2"/>
          </a:solidFill>
          <a:ln/>
        </p:spPr>
      </p:sp>
      <p:sp>
        <p:nvSpPr>
          <p:cNvPr id="6" name="Text 165"/>
          <p:cNvSpPr txBox="1"/>
          <p:nvPr/>
        </p:nvSpPr>
        <p:spPr>
          <a:xfrm>
            <a:off x="612648" y="148132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166"/>
          <p:cNvSpPr txBox="1"/>
          <p:nvPr/>
        </p:nvSpPr>
        <p:spPr>
          <a:xfrm>
            <a:off x="612648" y="1920240"/>
            <a:ext cx="1280160" cy="713232"/>
          </a:xfrm>
          <a:prstGeom prst="rect">
            <a:avLst/>
          </a:prstGeom>
          <a:noFill/>
          <a:ln/>
        </p:spPr>
        <p:txBody>
          <a:bodyPr wrap="square" lIns="0" tIns="0" rIns="0" bIns="0" rtlCol="0" anchor="t"/>
          <a:lstStyle/>
          <a:p>
            <a:pPr indent="0" marL="0">
              <a:buNone/>
            </a:pPr>
            <a:r>
              <a:rPr lang="en-US" sz="1400" b="1" dirty="0">
                <a:solidFill>
                  <a:schemeClr val="tx1"/>
                </a:solidFill>
              </a:rPr>
              <a:t>Developer changes app code</a:t>
            </a:r>
            <a:endParaRPr lang="en-US" sz="1400" dirty="0"/>
          </a:p>
        </p:txBody>
      </p:sp>
      <p:sp>
        <p:nvSpPr>
          <p:cNvPr id="8" name="Connector 167"/>
          <p:cNvSpPr/>
          <p:nvPr/>
        </p:nvSpPr>
        <p:spPr>
          <a:xfrm>
            <a:off x="1993392" y="1664208"/>
            <a:ext cx="164592" cy="0"/>
          </a:xfrm>
          <a:prstGeom prst="line">
            <a:avLst/>
          </a:prstGeom>
          <a:noFill/>
          <a:ln w="15875">
            <a:solidFill>
              <a:schemeClr val="tx1"/>
            </a:solidFill>
            <a:prstDash val="solid"/>
            <a:tailEnd type="triangle"/>
          </a:ln>
        </p:spPr>
      </p:sp>
      <p:sp>
        <p:nvSpPr>
          <p:cNvPr id="9" name="Card 168"/>
          <p:cNvSpPr/>
          <p:nvPr/>
        </p:nvSpPr>
        <p:spPr>
          <a:xfrm>
            <a:off x="2167128" y="1371600"/>
            <a:ext cx="1481328" cy="1325880"/>
          </a:xfrm>
          <a:prstGeom prst="roundRect">
            <a:avLst>
              <a:gd name="adj" fmla="val 5517"/>
            </a:avLst>
          </a:prstGeom>
          <a:solidFill>
            <a:schemeClr val="bg2"/>
          </a:solidFill>
          <a:ln/>
        </p:spPr>
      </p:sp>
      <p:sp>
        <p:nvSpPr>
          <p:cNvPr id="10" name="Step number 169"/>
          <p:cNvSpPr/>
          <p:nvPr/>
        </p:nvSpPr>
        <p:spPr>
          <a:xfrm>
            <a:off x="2276856" y="1481328"/>
            <a:ext cx="365760" cy="365760"/>
          </a:xfrm>
          <a:prstGeom prst="ellipse">
            <a:avLst/>
          </a:prstGeom>
          <a:solidFill>
            <a:schemeClr val="tx2"/>
          </a:solidFill>
          <a:ln/>
        </p:spPr>
      </p:sp>
      <p:sp>
        <p:nvSpPr>
          <p:cNvPr id="11" name="Text 170"/>
          <p:cNvSpPr txBox="1"/>
          <p:nvPr/>
        </p:nvSpPr>
        <p:spPr>
          <a:xfrm>
            <a:off x="2276856" y="148132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71"/>
          <p:cNvSpPr txBox="1"/>
          <p:nvPr/>
        </p:nvSpPr>
        <p:spPr>
          <a:xfrm>
            <a:off x="2276856" y="1920240"/>
            <a:ext cx="1280160" cy="713232"/>
          </a:xfrm>
          <a:prstGeom prst="rect">
            <a:avLst/>
          </a:prstGeom>
          <a:noFill/>
          <a:ln/>
        </p:spPr>
        <p:txBody>
          <a:bodyPr wrap="square" lIns="0" tIns="0" rIns="0" bIns="0" rtlCol="0" anchor="t"/>
          <a:lstStyle/>
          <a:p>
            <a:pPr indent="0" marL="0">
              <a:buNone/>
            </a:pPr>
            <a:r>
              <a:rPr lang="en-US" sz="1400" b="1" dirty="0">
                <a:solidFill>
                  <a:schemeClr val="tx1"/>
                </a:solidFill>
              </a:rPr>
              <a:t>Pull Request opened</a:t>
            </a:r>
            <a:endParaRPr lang="en-US" sz="1400" dirty="0"/>
          </a:p>
        </p:txBody>
      </p:sp>
      <p:sp>
        <p:nvSpPr>
          <p:cNvPr id="13" name="Connector 172"/>
          <p:cNvSpPr/>
          <p:nvPr/>
        </p:nvSpPr>
        <p:spPr>
          <a:xfrm>
            <a:off x="3657600" y="1664208"/>
            <a:ext cx="164592" cy="0"/>
          </a:xfrm>
          <a:prstGeom prst="line">
            <a:avLst/>
          </a:prstGeom>
          <a:noFill/>
          <a:ln w="15875">
            <a:solidFill>
              <a:schemeClr val="tx1"/>
            </a:solidFill>
            <a:prstDash val="solid"/>
            <a:tailEnd type="triangle"/>
          </a:ln>
        </p:spPr>
      </p:sp>
      <p:sp>
        <p:nvSpPr>
          <p:cNvPr id="14" name="Card 173"/>
          <p:cNvSpPr/>
          <p:nvPr/>
        </p:nvSpPr>
        <p:spPr>
          <a:xfrm>
            <a:off x="3831336" y="1371600"/>
            <a:ext cx="1481328" cy="1325880"/>
          </a:xfrm>
          <a:prstGeom prst="roundRect">
            <a:avLst>
              <a:gd name="adj" fmla="val 5517"/>
            </a:avLst>
          </a:prstGeom>
          <a:solidFill>
            <a:schemeClr val="bg2"/>
          </a:solidFill>
          <a:ln/>
        </p:spPr>
      </p:sp>
      <p:sp>
        <p:nvSpPr>
          <p:cNvPr id="15" name="Step number 174"/>
          <p:cNvSpPr/>
          <p:nvPr/>
        </p:nvSpPr>
        <p:spPr>
          <a:xfrm>
            <a:off x="3941064" y="1481328"/>
            <a:ext cx="365760" cy="365760"/>
          </a:xfrm>
          <a:prstGeom prst="ellipse">
            <a:avLst/>
          </a:prstGeom>
          <a:solidFill>
            <a:schemeClr val="tx2"/>
          </a:solidFill>
          <a:ln/>
        </p:spPr>
      </p:sp>
      <p:sp>
        <p:nvSpPr>
          <p:cNvPr id="16" name="Text 175"/>
          <p:cNvSpPr txBox="1"/>
          <p:nvPr/>
        </p:nvSpPr>
        <p:spPr>
          <a:xfrm>
            <a:off x="3941064" y="148132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76"/>
          <p:cNvSpPr txBox="1"/>
          <p:nvPr/>
        </p:nvSpPr>
        <p:spPr>
          <a:xfrm>
            <a:off x="3941064" y="1920240"/>
            <a:ext cx="1280160" cy="713232"/>
          </a:xfrm>
          <a:prstGeom prst="rect">
            <a:avLst/>
          </a:prstGeom>
          <a:noFill/>
          <a:ln/>
        </p:spPr>
        <p:txBody>
          <a:bodyPr wrap="square" lIns="0" tIns="0" rIns="0" bIns="0" rtlCol="0" anchor="t"/>
          <a:lstStyle/>
          <a:p>
            <a:pPr indent="0" marL="0">
              <a:buNone/>
            </a:pPr>
            <a:r>
              <a:rPr lang="en-US" sz="1400" b="1" dirty="0">
                <a:solidFill>
                  <a:schemeClr val="tx1"/>
                </a:solidFill>
              </a:rPr>
              <a:t>Peer review</a:t>
            </a:r>
            <a:endParaRPr lang="en-US" sz="1400" dirty="0"/>
          </a:p>
        </p:txBody>
      </p:sp>
      <p:sp>
        <p:nvSpPr>
          <p:cNvPr id="18" name="Connector 177"/>
          <p:cNvSpPr/>
          <p:nvPr/>
        </p:nvSpPr>
        <p:spPr>
          <a:xfrm>
            <a:off x="5321808" y="1664208"/>
            <a:ext cx="164592" cy="0"/>
          </a:xfrm>
          <a:prstGeom prst="line">
            <a:avLst/>
          </a:prstGeom>
          <a:noFill/>
          <a:ln w="15875">
            <a:solidFill>
              <a:schemeClr val="tx1"/>
            </a:solidFill>
            <a:prstDash val="solid"/>
            <a:tailEnd type="triangle"/>
          </a:ln>
        </p:spPr>
      </p:sp>
      <p:sp>
        <p:nvSpPr>
          <p:cNvPr id="19" name="Card 178"/>
          <p:cNvSpPr/>
          <p:nvPr/>
        </p:nvSpPr>
        <p:spPr>
          <a:xfrm>
            <a:off x="5495544" y="1371600"/>
            <a:ext cx="1481328" cy="1325880"/>
          </a:xfrm>
          <a:prstGeom prst="roundRect">
            <a:avLst>
              <a:gd name="adj" fmla="val 5517"/>
            </a:avLst>
          </a:prstGeom>
          <a:solidFill>
            <a:schemeClr val="bg2"/>
          </a:solidFill>
          <a:ln/>
        </p:spPr>
      </p:sp>
      <p:sp>
        <p:nvSpPr>
          <p:cNvPr id="20" name="Step number 179"/>
          <p:cNvSpPr/>
          <p:nvPr/>
        </p:nvSpPr>
        <p:spPr>
          <a:xfrm>
            <a:off x="5605272" y="1481328"/>
            <a:ext cx="365760" cy="365760"/>
          </a:xfrm>
          <a:prstGeom prst="ellipse">
            <a:avLst/>
          </a:prstGeom>
          <a:solidFill>
            <a:schemeClr val="accent5"/>
          </a:solidFill>
          <a:ln/>
        </p:spPr>
      </p:sp>
      <p:sp>
        <p:nvSpPr>
          <p:cNvPr id="21" name="Text 180"/>
          <p:cNvSpPr txBox="1"/>
          <p:nvPr/>
        </p:nvSpPr>
        <p:spPr>
          <a:xfrm>
            <a:off x="5605272" y="148132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81"/>
          <p:cNvSpPr txBox="1"/>
          <p:nvPr/>
        </p:nvSpPr>
        <p:spPr>
          <a:xfrm>
            <a:off x="5605272" y="1920240"/>
            <a:ext cx="1280160" cy="713232"/>
          </a:xfrm>
          <a:prstGeom prst="rect">
            <a:avLst/>
          </a:prstGeom>
          <a:noFill/>
          <a:ln/>
        </p:spPr>
        <p:txBody>
          <a:bodyPr wrap="square" lIns="0" tIns="0" rIns="0" bIns="0" rtlCol="0" anchor="t"/>
          <a:lstStyle/>
          <a:p>
            <a:pPr indent="0" marL="0">
              <a:buNone/>
            </a:pPr>
            <a:r>
              <a:rPr lang="en-US" sz="1400" b="1" dirty="0">
                <a:solidFill>
                  <a:schemeClr val="tx1"/>
                </a:solidFill>
              </a:rPr>
              <a:t>GitHub Actions CI runs</a:t>
            </a:r>
            <a:endParaRPr lang="en-US" sz="1400" dirty="0"/>
          </a:p>
        </p:txBody>
      </p:sp>
      <p:sp>
        <p:nvSpPr>
          <p:cNvPr id="23" name="Connector 182"/>
          <p:cNvSpPr/>
          <p:nvPr/>
        </p:nvSpPr>
        <p:spPr>
          <a:xfrm>
            <a:off x="6986016" y="1664208"/>
            <a:ext cx="164592" cy="0"/>
          </a:xfrm>
          <a:prstGeom prst="line">
            <a:avLst/>
          </a:prstGeom>
          <a:noFill/>
          <a:ln w="15875">
            <a:solidFill>
              <a:schemeClr val="tx1"/>
            </a:solidFill>
            <a:prstDash val="solid"/>
            <a:tailEnd type="triangle"/>
          </a:ln>
        </p:spPr>
      </p:sp>
      <p:sp>
        <p:nvSpPr>
          <p:cNvPr id="24" name="Card 183"/>
          <p:cNvSpPr/>
          <p:nvPr/>
        </p:nvSpPr>
        <p:spPr>
          <a:xfrm>
            <a:off x="7159752" y="1371600"/>
            <a:ext cx="1481328" cy="1325880"/>
          </a:xfrm>
          <a:prstGeom prst="roundRect">
            <a:avLst>
              <a:gd name="adj" fmla="val 5517"/>
            </a:avLst>
          </a:prstGeom>
          <a:solidFill>
            <a:schemeClr val="bg2"/>
          </a:solidFill>
          <a:ln/>
        </p:spPr>
      </p:sp>
      <p:sp>
        <p:nvSpPr>
          <p:cNvPr id="25" name="Step number 184"/>
          <p:cNvSpPr/>
          <p:nvPr/>
        </p:nvSpPr>
        <p:spPr>
          <a:xfrm>
            <a:off x="7269480" y="1481328"/>
            <a:ext cx="365760" cy="365760"/>
          </a:xfrm>
          <a:prstGeom prst="ellipse">
            <a:avLst/>
          </a:prstGeom>
          <a:solidFill>
            <a:schemeClr val="accent5"/>
          </a:solidFill>
          <a:ln/>
        </p:spPr>
      </p:sp>
      <p:sp>
        <p:nvSpPr>
          <p:cNvPr id="26" name="Text 185"/>
          <p:cNvSpPr txBox="1"/>
          <p:nvPr/>
        </p:nvSpPr>
        <p:spPr>
          <a:xfrm>
            <a:off x="7269480" y="148132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186"/>
          <p:cNvSpPr txBox="1"/>
          <p:nvPr/>
        </p:nvSpPr>
        <p:spPr>
          <a:xfrm>
            <a:off x="7269480" y="1920240"/>
            <a:ext cx="1280160" cy="713232"/>
          </a:xfrm>
          <a:prstGeom prst="rect">
            <a:avLst/>
          </a:prstGeom>
          <a:noFill/>
          <a:ln/>
        </p:spPr>
        <p:txBody>
          <a:bodyPr wrap="square" lIns="0" tIns="0" rIns="0" bIns="0" rtlCol="0" anchor="t"/>
          <a:lstStyle/>
          <a:p>
            <a:pPr indent="0" marL="0">
              <a:buNone/>
            </a:pPr>
            <a:r>
              <a:rPr lang="en-US" sz="1400" b="1" dirty="0">
                <a:solidFill>
                  <a:schemeClr val="tx1"/>
                </a:solidFill>
              </a:rPr>
              <a:t>Build container image</a:t>
            </a:r>
            <a:endParaRPr lang="en-US" sz="1400" dirty="0"/>
          </a:p>
        </p:txBody>
      </p:sp>
      <p:sp>
        <p:nvSpPr>
          <p:cNvPr id="28" name="Card 187"/>
          <p:cNvSpPr/>
          <p:nvPr/>
        </p:nvSpPr>
        <p:spPr>
          <a:xfrm>
            <a:off x="502920" y="2880360"/>
            <a:ext cx="1481328" cy="1325880"/>
          </a:xfrm>
          <a:prstGeom prst="roundRect">
            <a:avLst>
              <a:gd name="adj" fmla="val 5517"/>
            </a:avLst>
          </a:prstGeom>
          <a:solidFill>
            <a:schemeClr val="bg2"/>
          </a:solidFill>
          <a:ln/>
        </p:spPr>
      </p:sp>
      <p:sp>
        <p:nvSpPr>
          <p:cNvPr id="29" name="Step number 188"/>
          <p:cNvSpPr/>
          <p:nvPr/>
        </p:nvSpPr>
        <p:spPr>
          <a:xfrm>
            <a:off x="612648" y="2990088"/>
            <a:ext cx="365760" cy="365760"/>
          </a:xfrm>
          <a:prstGeom prst="ellipse">
            <a:avLst/>
          </a:prstGeom>
          <a:solidFill>
            <a:schemeClr val="accent5"/>
          </a:solidFill>
          <a:ln/>
        </p:spPr>
      </p:sp>
      <p:sp>
        <p:nvSpPr>
          <p:cNvPr id="30" name="Text 189"/>
          <p:cNvSpPr txBox="1"/>
          <p:nvPr/>
        </p:nvSpPr>
        <p:spPr>
          <a:xfrm>
            <a:off x="612648" y="29900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Text 190"/>
          <p:cNvSpPr txBox="1"/>
          <p:nvPr/>
        </p:nvSpPr>
        <p:spPr>
          <a:xfrm>
            <a:off x="612648" y="3429000"/>
            <a:ext cx="1280160" cy="713232"/>
          </a:xfrm>
          <a:prstGeom prst="rect">
            <a:avLst/>
          </a:prstGeom>
          <a:noFill/>
          <a:ln/>
        </p:spPr>
        <p:txBody>
          <a:bodyPr wrap="square" lIns="0" tIns="0" rIns="0" bIns="0" rtlCol="0" anchor="t"/>
          <a:lstStyle/>
          <a:p>
            <a:pPr indent="0" marL="0">
              <a:buNone/>
            </a:pPr>
            <a:r>
              <a:rPr lang="en-US" sz="1400" b="1" dirty="0">
                <a:solidFill>
                  <a:schemeClr val="tx1"/>
                </a:solidFill>
              </a:rPr>
              <a:t>Push image to Harbor</a:t>
            </a:r>
            <a:endParaRPr lang="en-US" sz="1400" dirty="0"/>
          </a:p>
        </p:txBody>
      </p:sp>
      <p:sp>
        <p:nvSpPr>
          <p:cNvPr id="32" name="Connector 191"/>
          <p:cNvSpPr/>
          <p:nvPr/>
        </p:nvSpPr>
        <p:spPr>
          <a:xfrm>
            <a:off x="1993392" y="3172968"/>
            <a:ext cx="164592" cy="0"/>
          </a:xfrm>
          <a:prstGeom prst="line">
            <a:avLst/>
          </a:prstGeom>
          <a:noFill/>
          <a:ln w="15875">
            <a:solidFill>
              <a:schemeClr val="tx1"/>
            </a:solidFill>
            <a:prstDash val="solid"/>
            <a:tailEnd type="triangle"/>
          </a:ln>
        </p:spPr>
      </p:sp>
      <p:sp>
        <p:nvSpPr>
          <p:cNvPr id="33" name="Card 192"/>
          <p:cNvSpPr/>
          <p:nvPr/>
        </p:nvSpPr>
        <p:spPr>
          <a:xfrm>
            <a:off x="2167128" y="2880360"/>
            <a:ext cx="1481328" cy="1325880"/>
          </a:xfrm>
          <a:prstGeom prst="roundRect">
            <a:avLst>
              <a:gd name="adj" fmla="val 5517"/>
            </a:avLst>
          </a:prstGeom>
          <a:solidFill>
            <a:schemeClr val="bg2"/>
          </a:solidFill>
          <a:ln/>
        </p:spPr>
      </p:sp>
      <p:sp>
        <p:nvSpPr>
          <p:cNvPr id="34" name="Step number 193"/>
          <p:cNvSpPr/>
          <p:nvPr/>
        </p:nvSpPr>
        <p:spPr>
          <a:xfrm>
            <a:off x="2276856" y="2990088"/>
            <a:ext cx="365760" cy="365760"/>
          </a:xfrm>
          <a:prstGeom prst="ellipse">
            <a:avLst/>
          </a:prstGeom>
          <a:solidFill>
            <a:schemeClr val="accent5"/>
          </a:solidFill>
          <a:ln/>
        </p:spPr>
      </p:sp>
      <p:sp>
        <p:nvSpPr>
          <p:cNvPr id="35" name="Text 194"/>
          <p:cNvSpPr txBox="1"/>
          <p:nvPr/>
        </p:nvSpPr>
        <p:spPr>
          <a:xfrm>
            <a:off x="2276856" y="29900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6" name="Text 195"/>
          <p:cNvSpPr txBox="1"/>
          <p:nvPr/>
        </p:nvSpPr>
        <p:spPr>
          <a:xfrm>
            <a:off x="2276856" y="3429000"/>
            <a:ext cx="1280160" cy="713232"/>
          </a:xfrm>
          <a:prstGeom prst="rect">
            <a:avLst/>
          </a:prstGeom>
          <a:noFill/>
          <a:ln/>
        </p:spPr>
        <p:txBody>
          <a:bodyPr wrap="square" lIns="0" tIns="0" rIns="0" bIns="0" rtlCol="0" anchor="t"/>
          <a:lstStyle/>
          <a:p>
            <a:pPr indent="0" marL="0">
              <a:buNone/>
            </a:pPr>
            <a:r>
              <a:rPr lang="en-US" sz="1400" b="1" dirty="0">
                <a:solidFill>
                  <a:schemeClr val="tx1"/>
                </a:solidFill>
              </a:rPr>
              <a:t>Update GitOps repository</a:t>
            </a:r>
            <a:endParaRPr lang="en-US" sz="1400" dirty="0"/>
          </a:p>
        </p:txBody>
      </p:sp>
      <p:sp>
        <p:nvSpPr>
          <p:cNvPr id="37" name="Connector 196"/>
          <p:cNvSpPr/>
          <p:nvPr/>
        </p:nvSpPr>
        <p:spPr>
          <a:xfrm>
            <a:off x="3657600" y="3172968"/>
            <a:ext cx="164592" cy="0"/>
          </a:xfrm>
          <a:prstGeom prst="line">
            <a:avLst/>
          </a:prstGeom>
          <a:noFill/>
          <a:ln w="15875">
            <a:solidFill>
              <a:schemeClr val="tx1"/>
            </a:solidFill>
            <a:prstDash val="solid"/>
            <a:tailEnd type="triangle"/>
          </a:ln>
        </p:spPr>
      </p:sp>
      <p:sp>
        <p:nvSpPr>
          <p:cNvPr id="38" name="Card 197"/>
          <p:cNvSpPr/>
          <p:nvPr/>
        </p:nvSpPr>
        <p:spPr>
          <a:xfrm>
            <a:off x="3831336" y="2880360"/>
            <a:ext cx="1481328" cy="1325880"/>
          </a:xfrm>
          <a:prstGeom prst="roundRect">
            <a:avLst>
              <a:gd name="adj" fmla="val 5517"/>
            </a:avLst>
          </a:prstGeom>
          <a:solidFill>
            <a:schemeClr val="bg2"/>
          </a:solidFill>
          <a:ln/>
        </p:spPr>
      </p:sp>
      <p:sp>
        <p:nvSpPr>
          <p:cNvPr id="39" name="Step number 198"/>
          <p:cNvSpPr/>
          <p:nvPr/>
        </p:nvSpPr>
        <p:spPr>
          <a:xfrm>
            <a:off x="3941064" y="2990088"/>
            <a:ext cx="365760" cy="365760"/>
          </a:xfrm>
          <a:prstGeom prst="ellipse">
            <a:avLst/>
          </a:prstGeom>
          <a:solidFill>
            <a:schemeClr val="accent2"/>
          </a:solidFill>
          <a:ln/>
        </p:spPr>
      </p:sp>
      <p:sp>
        <p:nvSpPr>
          <p:cNvPr id="40" name="Text 199"/>
          <p:cNvSpPr txBox="1"/>
          <p:nvPr/>
        </p:nvSpPr>
        <p:spPr>
          <a:xfrm>
            <a:off x="3941064" y="2990088"/>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8</a:t>
            </a:r>
            <a:endParaRPr lang="en-US" sz="1400" dirty="0"/>
          </a:p>
        </p:txBody>
      </p:sp>
      <p:sp>
        <p:nvSpPr>
          <p:cNvPr id="41" name="Text 200"/>
          <p:cNvSpPr txBox="1"/>
          <p:nvPr/>
        </p:nvSpPr>
        <p:spPr>
          <a:xfrm>
            <a:off x="3941064" y="3429000"/>
            <a:ext cx="1280160" cy="713232"/>
          </a:xfrm>
          <a:prstGeom prst="rect">
            <a:avLst/>
          </a:prstGeom>
          <a:noFill/>
          <a:ln/>
        </p:spPr>
        <p:txBody>
          <a:bodyPr wrap="square" lIns="0" tIns="0" rIns="0" bIns="0" rtlCol="0" anchor="t"/>
          <a:lstStyle/>
          <a:p>
            <a:pPr indent="0" marL="0">
              <a:buNone/>
            </a:pPr>
            <a:r>
              <a:rPr lang="en-US" sz="1400" b="1" dirty="0">
                <a:solidFill>
                  <a:schemeClr val="tx1"/>
                </a:solidFill>
              </a:rPr>
              <a:t>Argo CD detects Git change</a:t>
            </a:r>
            <a:endParaRPr lang="en-US" sz="1400" dirty="0"/>
          </a:p>
        </p:txBody>
      </p:sp>
      <p:sp>
        <p:nvSpPr>
          <p:cNvPr id="42" name="Connector 201"/>
          <p:cNvSpPr/>
          <p:nvPr/>
        </p:nvSpPr>
        <p:spPr>
          <a:xfrm>
            <a:off x="5321808" y="3172968"/>
            <a:ext cx="164592" cy="0"/>
          </a:xfrm>
          <a:prstGeom prst="line">
            <a:avLst/>
          </a:prstGeom>
          <a:noFill/>
          <a:ln w="15875">
            <a:solidFill>
              <a:schemeClr val="tx1"/>
            </a:solidFill>
            <a:prstDash val="solid"/>
            <a:tailEnd type="triangle"/>
          </a:ln>
        </p:spPr>
      </p:sp>
      <p:sp>
        <p:nvSpPr>
          <p:cNvPr id="43" name="Card 202"/>
          <p:cNvSpPr/>
          <p:nvPr/>
        </p:nvSpPr>
        <p:spPr>
          <a:xfrm>
            <a:off x="5495544" y="2880360"/>
            <a:ext cx="1481328" cy="1325880"/>
          </a:xfrm>
          <a:prstGeom prst="roundRect">
            <a:avLst>
              <a:gd name="adj" fmla="val 5517"/>
            </a:avLst>
          </a:prstGeom>
          <a:solidFill>
            <a:schemeClr val="bg2"/>
          </a:solidFill>
          <a:ln/>
        </p:spPr>
      </p:sp>
      <p:sp>
        <p:nvSpPr>
          <p:cNvPr id="44" name="Step number 203"/>
          <p:cNvSpPr/>
          <p:nvPr/>
        </p:nvSpPr>
        <p:spPr>
          <a:xfrm>
            <a:off x="5605272" y="2990088"/>
            <a:ext cx="365760" cy="365760"/>
          </a:xfrm>
          <a:prstGeom prst="ellipse">
            <a:avLst/>
          </a:prstGeom>
          <a:solidFill>
            <a:schemeClr val="accent2"/>
          </a:solidFill>
          <a:ln/>
        </p:spPr>
      </p:sp>
      <p:sp>
        <p:nvSpPr>
          <p:cNvPr id="45" name="Text 204"/>
          <p:cNvSpPr txBox="1"/>
          <p:nvPr/>
        </p:nvSpPr>
        <p:spPr>
          <a:xfrm>
            <a:off x="5605272" y="2990088"/>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9</a:t>
            </a:r>
            <a:endParaRPr lang="en-US" sz="1400" dirty="0"/>
          </a:p>
        </p:txBody>
      </p:sp>
      <p:sp>
        <p:nvSpPr>
          <p:cNvPr id="46" name="Text 205"/>
          <p:cNvSpPr txBox="1"/>
          <p:nvPr/>
        </p:nvSpPr>
        <p:spPr>
          <a:xfrm>
            <a:off x="5605272" y="3429000"/>
            <a:ext cx="1280160" cy="713232"/>
          </a:xfrm>
          <a:prstGeom prst="rect">
            <a:avLst/>
          </a:prstGeom>
          <a:noFill/>
          <a:ln/>
        </p:spPr>
        <p:txBody>
          <a:bodyPr wrap="square" lIns="0" tIns="0" rIns="0" bIns="0" rtlCol="0" anchor="t"/>
          <a:lstStyle/>
          <a:p>
            <a:pPr indent="0" marL="0">
              <a:buNone/>
            </a:pPr>
            <a:r>
              <a:rPr lang="en-US" sz="1400" b="1" dirty="0">
                <a:solidFill>
                  <a:schemeClr val="tx1"/>
                </a:solidFill>
              </a:rPr>
              <a:t>Argo CD syncs Kubernetes</a:t>
            </a:r>
            <a:endParaRPr lang="en-US" sz="1400" dirty="0"/>
          </a:p>
        </p:txBody>
      </p:sp>
      <p:sp>
        <p:nvSpPr>
          <p:cNvPr id="47" name="Connector 206"/>
          <p:cNvSpPr/>
          <p:nvPr/>
        </p:nvSpPr>
        <p:spPr>
          <a:xfrm>
            <a:off x="6986016" y="3172968"/>
            <a:ext cx="164592" cy="0"/>
          </a:xfrm>
          <a:prstGeom prst="line">
            <a:avLst/>
          </a:prstGeom>
          <a:noFill/>
          <a:ln w="15875">
            <a:solidFill>
              <a:schemeClr val="tx1"/>
            </a:solidFill>
            <a:prstDash val="solid"/>
            <a:tailEnd type="triangle"/>
          </a:ln>
        </p:spPr>
      </p:sp>
      <p:sp>
        <p:nvSpPr>
          <p:cNvPr id="48" name="Card 207"/>
          <p:cNvSpPr/>
          <p:nvPr/>
        </p:nvSpPr>
        <p:spPr>
          <a:xfrm>
            <a:off x="7159752" y="2880360"/>
            <a:ext cx="1481328" cy="1325880"/>
          </a:xfrm>
          <a:prstGeom prst="roundRect">
            <a:avLst>
              <a:gd name="adj" fmla="val 5517"/>
            </a:avLst>
          </a:prstGeom>
          <a:solidFill>
            <a:schemeClr val="bg2"/>
          </a:solidFill>
          <a:ln/>
        </p:spPr>
      </p:sp>
      <p:sp>
        <p:nvSpPr>
          <p:cNvPr id="49" name="Step number 208"/>
          <p:cNvSpPr/>
          <p:nvPr/>
        </p:nvSpPr>
        <p:spPr>
          <a:xfrm>
            <a:off x="7269480" y="2990088"/>
            <a:ext cx="365760" cy="365760"/>
          </a:xfrm>
          <a:prstGeom prst="ellipse">
            <a:avLst/>
          </a:prstGeom>
          <a:solidFill>
            <a:schemeClr val="accent2"/>
          </a:solidFill>
          <a:ln/>
        </p:spPr>
      </p:sp>
      <p:sp>
        <p:nvSpPr>
          <p:cNvPr id="50" name="Text 209"/>
          <p:cNvSpPr txBox="1"/>
          <p:nvPr/>
        </p:nvSpPr>
        <p:spPr>
          <a:xfrm>
            <a:off x="7269480" y="2990088"/>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10</a:t>
            </a:r>
            <a:endParaRPr lang="en-US" sz="1400" dirty="0"/>
          </a:p>
        </p:txBody>
      </p:sp>
      <p:sp>
        <p:nvSpPr>
          <p:cNvPr id="51" name="Text 210"/>
          <p:cNvSpPr txBox="1"/>
          <p:nvPr/>
        </p:nvSpPr>
        <p:spPr>
          <a:xfrm>
            <a:off x="7269480" y="3429000"/>
            <a:ext cx="1280160" cy="713232"/>
          </a:xfrm>
          <a:prstGeom prst="rect">
            <a:avLst/>
          </a:prstGeom>
          <a:noFill/>
          <a:ln/>
        </p:spPr>
        <p:txBody>
          <a:bodyPr wrap="square" lIns="0" tIns="0" rIns="0" bIns="0" rtlCol="0" anchor="t"/>
          <a:lstStyle/>
          <a:p>
            <a:pPr indent="0" marL="0">
              <a:buNone/>
            </a:pPr>
            <a:r>
              <a:rPr lang="en-US" sz="1400" b="1" dirty="0">
                <a:solidFill>
                  <a:schemeClr val="tx1"/>
                </a:solidFill>
              </a:rPr>
              <a:t>App is Healthy / Synced</a:t>
            </a:r>
            <a:endParaRPr lang="en-US" sz="1400" dirty="0"/>
          </a:p>
        </p:txBody>
      </p:sp>
      <p:sp>
        <p:nvSpPr>
          <p:cNvPr id="52" name="Block 211"/>
          <p:cNvSpPr/>
          <p:nvPr/>
        </p:nvSpPr>
        <p:spPr>
          <a:xfrm>
            <a:off x="502920" y="4507992"/>
            <a:ext cx="146304" cy="146304"/>
          </a:xfrm>
          <a:prstGeom prst="rect">
            <a:avLst/>
          </a:prstGeom>
          <a:solidFill>
            <a:schemeClr val="tx2"/>
          </a:solidFill>
          <a:ln/>
        </p:spPr>
      </p:sp>
      <p:sp>
        <p:nvSpPr>
          <p:cNvPr id="53" name="Text 212"/>
          <p:cNvSpPr txBox="1"/>
          <p:nvPr/>
        </p:nvSpPr>
        <p:spPr>
          <a:xfrm>
            <a:off x="731520" y="4462272"/>
            <a:ext cx="2011680" cy="237744"/>
          </a:xfrm>
          <a:prstGeom prst="rect">
            <a:avLst/>
          </a:prstGeom>
          <a:noFill/>
          <a:ln/>
        </p:spPr>
        <p:txBody>
          <a:bodyPr wrap="square" lIns="0" tIns="0" rIns="0" bIns="0" rtlCol="0" anchor="ctr"/>
          <a:lstStyle/>
          <a:p>
            <a:pPr indent="0" marL="0">
              <a:buNone/>
            </a:pPr>
            <a:r>
              <a:rPr lang="en-US" sz="1200" dirty="0">
                <a:solidFill>
                  <a:schemeClr val="tx1"/>
                </a:solidFill>
              </a:rPr>
              <a:t>Change &amp; review</a:t>
            </a:r>
            <a:endParaRPr lang="en-US" sz="1200" dirty="0"/>
          </a:p>
        </p:txBody>
      </p:sp>
      <p:sp>
        <p:nvSpPr>
          <p:cNvPr id="54" name="Block 213"/>
          <p:cNvSpPr/>
          <p:nvPr/>
        </p:nvSpPr>
        <p:spPr>
          <a:xfrm>
            <a:off x="2514600" y="4507992"/>
            <a:ext cx="146304" cy="146304"/>
          </a:xfrm>
          <a:prstGeom prst="rect">
            <a:avLst/>
          </a:prstGeom>
          <a:solidFill>
            <a:schemeClr val="accent5"/>
          </a:solidFill>
          <a:ln/>
        </p:spPr>
      </p:sp>
      <p:sp>
        <p:nvSpPr>
          <p:cNvPr id="55" name="Text 214"/>
          <p:cNvSpPr txBox="1"/>
          <p:nvPr/>
        </p:nvSpPr>
        <p:spPr>
          <a:xfrm>
            <a:off x="2743200" y="4462272"/>
            <a:ext cx="2011680" cy="237744"/>
          </a:xfrm>
          <a:prstGeom prst="rect">
            <a:avLst/>
          </a:prstGeom>
          <a:noFill/>
          <a:ln/>
        </p:spPr>
        <p:txBody>
          <a:bodyPr wrap="square" lIns="0" tIns="0" rIns="0" bIns="0" rtlCol="0" anchor="ctr"/>
          <a:lstStyle/>
          <a:p>
            <a:pPr indent="0" marL="0">
              <a:buNone/>
            </a:pPr>
            <a:r>
              <a:rPr lang="en-US" sz="1200" dirty="0">
                <a:solidFill>
                  <a:schemeClr val="tx1"/>
                </a:solidFill>
              </a:rPr>
              <a:t>CI · GitHub Actions</a:t>
            </a:r>
            <a:endParaRPr lang="en-US" sz="1200" dirty="0"/>
          </a:p>
        </p:txBody>
      </p:sp>
      <p:sp>
        <p:nvSpPr>
          <p:cNvPr id="56" name="Block 215"/>
          <p:cNvSpPr/>
          <p:nvPr/>
        </p:nvSpPr>
        <p:spPr>
          <a:xfrm>
            <a:off x="4709160" y="4507992"/>
            <a:ext cx="146304" cy="146304"/>
          </a:xfrm>
          <a:prstGeom prst="rect">
            <a:avLst/>
          </a:prstGeom>
          <a:solidFill>
            <a:schemeClr val="accent2"/>
          </a:solidFill>
          <a:ln/>
        </p:spPr>
      </p:sp>
      <p:sp>
        <p:nvSpPr>
          <p:cNvPr id="57" name="Text 216"/>
          <p:cNvSpPr txBox="1"/>
          <p:nvPr/>
        </p:nvSpPr>
        <p:spPr>
          <a:xfrm>
            <a:off x="4937760" y="4462272"/>
            <a:ext cx="2011680" cy="237744"/>
          </a:xfrm>
          <a:prstGeom prst="rect">
            <a:avLst/>
          </a:prstGeom>
          <a:noFill/>
          <a:ln/>
        </p:spPr>
        <p:txBody>
          <a:bodyPr wrap="square" lIns="0" tIns="0" rIns="0" bIns="0" rtlCol="0" anchor="ctr"/>
          <a:lstStyle/>
          <a:p>
            <a:pPr indent="0" marL="0">
              <a:buNone/>
            </a:pPr>
            <a:r>
              <a:rPr lang="en-US" sz="1200" dirty="0">
                <a:solidFill>
                  <a:schemeClr val="tx1"/>
                </a:solidFill>
              </a:rPr>
              <a:t>CD · Argo CD</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Deployment Traceability</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Illustrative example: payments-service in PROD. Facts live in Git and Argo CD, not only in CI logs</a:t>
            </a:r>
            <a:endParaRPr lang="en-US" sz="1500" dirty="0"/>
          </a:p>
        </p:txBody>
      </p:sp>
      <p:sp>
        <p:nvSpPr>
          <p:cNvPr id="4" name="Block 217"/>
          <p:cNvSpPr/>
          <p:nvPr/>
        </p:nvSpPr>
        <p:spPr>
          <a:xfrm>
            <a:off x="457200" y="1371600"/>
            <a:ext cx="1463040" cy="329184"/>
          </a:xfrm>
          <a:prstGeom prst="rect">
            <a:avLst/>
          </a:prstGeom>
          <a:solidFill>
            <a:schemeClr val="accent5"/>
          </a:solidFill>
          <a:ln/>
        </p:spPr>
      </p:sp>
      <p:sp>
        <p:nvSpPr>
          <p:cNvPr id="5" name="Text 218"/>
          <p:cNvSpPr txBox="1"/>
          <p:nvPr/>
        </p:nvSpPr>
        <p:spPr>
          <a:xfrm>
            <a:off x="457200" y="1371600"/>
            <a:ext cx="1463040" cy="329184"/>
          </a:xfrm>
          <a:prstGeom prst="rect">
            <a:avLst/>
          </a:prstGeom>
          <a:noFill/>
          <a:ln/>
        </p:spPr>
        <p:txBody>
          <a:bodyPr wrap="square" lIns="0" tIns="0" rIns="0" bIns="0" rtlCol="0" anchor="ctr"/>
          <a:lstStyle/>
          <a:p>
            <a:pPr algn="ctr" indent="0" marL="0">
              <a:buNone/>
            </a:pPr>
            <a:r>
              <a:rPr lang="en-US" sz="1200" b="1" dirty="0">
                <a:solidFill>
                  <a:schemeClr val="bg1"/>
                </a:solidFill>
              </a:rPr>
              <a:t>Git Commit</a:t>
            </a:r>
            <a:endParaRPr lang="en-US" sz="1200" dirty="0"/>
          </a:p>
        </p:txBody>
      </p:sp>
      <p:sp>
        <p:nvSpPr>
          <p:cNvPr id="6" name="Block 219"/>
          <p:cNvSpPr/>
          <p:nvPr/>
        </p:nvSpPr>
        <p:spPr>
          <a:xfrm>
            <a:off x="457200" y="1700784"/>
            <a:ext cx="1463040" cy="822960"/>
          </a:xfrm>
          <a:prstGeom prst="rect">
            <a:avLst/>
          </a:prstGeom>
          <a:solidFill>
            <a:schemeClr val="bg2"/>
          </a:solidFill>
          <a:ln/>
        </p:spPr>
      </p:sp>
      <p:sp>
        <p:nvSpPr>
          <p:cNvPr id="7" name="Text 220"/>
          <p:cNvSpPr txBox="1"/>
          <p:nvPr/>
        </p:nvSpPr>
        <p:spPr>
          <a:xfrm>
            <a:off x="512064" y="1737360"/>
            <a:ext cx="1353312" cy="411480"/>
          </a:xfrm>
          <a:prstGeom prst="rect">
            <a:avLst/>
          </a:prstGeom>
          <a:noFill/>
          <a:ln/>
        </p:spPr>
        <p:txBody>
          <a:bodyPr wrap="square" lIns="0" tIns="0" rIns="0" bIns="0" rtlCol="0" anchor="ctr"/>
          <a:lstStyle/>
          <a:p>
            <a:pPr algn="ctr" indent="0" marL="0">
              <a:buNone/>
            </a:pPr>
            <a:r>
              <a:rPr lang="en-US" sz="1050" b="1" dirty="0">
                <a:solidFill>
                  <a:schemeClr val="tx1"/>
                </a:solidFill>
                <a:latin typeface="Courier New" pitchFamily="34" charset="0"/>
                <a:ea typeface="Courier New" pitchFamily="34" charset="-122"/>
                <a:cs typeface="Courier New" pitchFamily="34" charset="-120"/>
              </a:rPr>
              <a:t>abc1234</a:t>
            </a:r>
            <a:endParaRPr lang="en-US" sz="1050" dirty="0"/>
          </a:p>
        </p:txBody>
      </p:sp>
      <p:sp>
        <p:nvSpPr>
          <p:cNvPr id="8" name="Text 221"/>
          <p:cNvSpPr txBox="1"/>
          <p:nvPr/>
        </p:nvSpPr>
        <p:spPr>
          <a:xfrm>
            <a:off x="512064" y="2130552"/>
            <a:ext cx="1353312" cy="347472"/>
          </a:xfrm>
          <a:prstGeom prst="rect">
            <a:avLst/>
          </a:prstGeom>
          <a:noFill/>
          <a:ln/>
        </p:spPr>
        <p:txBody>
          <a:bodyPr wrap="square" lIns="0" tIns="0" rIns="0" bIns="0" rtlCol="0" anchor="ctr"/>
          <a:lstStyle/>
          <a:p>
            <a:pPr algn="ctr" indent="0" marL="0">
              <a:buNone/>
            </a:pPr>
            <a:r>
              <a:rPr lang="en-US" sz="1000" dirty="0">
                <a:solidFill>
                  <a:schemeClr val="tx2"/>
                </a:solidFill>
              </a:rPr>
              <a:t>author · PR · reviewers</a:t>
            </a:r>
            <a:endParaRPr lang="en-US" sz="1000" dirty="0"/>
          </a:p>
        </p:txBody>
      </p:sp>
      <p:sp>
        <p:nvSpPr>
          <p:cNvPr id="9" name="Connector 222"/>
          <p:cNvSpPr/>
          <p:nvPr/>
        </p:nvSpPr>
        <p:spPr>
          <a:xfrm>
            <a:off x="1938528" y="1920240"/>
            <a:ext cx="192024" cy="0"/>
          </a:xfrm>
          <a:prstGeom prst="line">
            <a:avLst/>
          </a:prstGeom>
          <a:noFill/>
          <a:ln w="19050">
            <a:solidFill>
              <a:schemeClr val="tx1"/>
            </a:solidFill>
            <a:prstDash val="solid"/>
            <a:tailEnd type="triangle"/>
          </a:ln>
        </p:spPr>
      </p:sp>
      <p:sp>
        <p:nvSpPr>
          <p:cNvPr id="10" name="Block 223"/>
          <p:cNvSpPr/>
          <p:nvPr/>
        </p:nvSpPr>
        <p:spPr>
          <a:xfrm>
            <a:off x="2148840" y="1371600"/>
            <a:ext cx="1463040" cy="329184"/>
          </a:xfrm>
          <a:prstGeom prst="rect">
            <a:avLst/>
          </a:prstGeom>
          <a:solidFill>
            <a:schemeClr val="accent4"/>
          </a:solidFill>
          <a:ln/>
        </p:spPr>
      </p:sp>
      <p:sp>
        <p:nvSpPr>
          <p:cNvPr id="11" name="Text 224"/>
          <p:cNvSpPr txBox="1"/>
          <p:nvPr/>
        </p:nvSpPr>
        <p:spPr>
          <a:xfrm>
            <a:off x="2148840" y="1371600"/>
            <a:ext cx="1463040" cy="329184"/>
          </a:xfrm>
          <a:prstGeom prst="rect">
            <a:avLst/>
          </a:prstGeom>
          <a:noFill/>
          <a:ln/>
        </p:spPr>
        <p:txBody>
          <a:bodyPr wrap="square" lIns="0" tIns="0" rIns="0" bIns="0" rtlCol="0" anchor="ctr"/>
          <a:lstStyle/>
          <a:p>
            <a:pPr algn="ctr" indent="0" marL="0">
              <a:buNone/>
            </a:pPr>
            <a:r>
              <a:rPr lang="en-US" sz="1200" b="1" dirty="0">
                <a:solidFill>
                  <a:schemeClr val="bg1"/>
                </a:solidFill>
              </a:rPr>
              <a:t>Image Version</a:t>
            </a:r>
            <a:endParaRPr lang="en-US" sz="1200" dirty="0"/>
          </a:p>
        </p:txBody>
      </p:sp>
      <p:sp>
        <p:nvSpPr>
          <p:cNvPr id="12" name="Block 225"/>
          <p:cNvSpPr/>
          <p:nvPr/>
        </p:nvSpPr>
        <p:spPr>
          <a:xfrm>
            <a:off x="2148840" y="1700784"/>
            <a:ext cx="1463040" cy="822960"/>
          </a:xfrm>
          <a:prstGeom prst="rect">
            <a:avLst/>
          </a:prstGeom>
          <a:solidFill>
            <a:schemeClr val="bg2"/>
          </a:solidFill>
          <a:ln/>
        </p:spPr>
      </p:sp>
      <p:sp>
        <p:nvSpPr>
          <p:cNvPr id="13" name="Text 226"/>
          <p:cNvSpPr txBox="1"/>
          <p:nvPr/>
        </p:nvSpPr>
        <p:spPr>
          <a:xfrm>
            <a:off x="2203704" y="1737360"/>
            <a:ext cx="1353312" cy="749808"/>
          </a:xfrm>
          <a:prstGeom prst="rect">
            <a:avLst/>
          </a:prstGeom>
          <a:noFill/>
          <a:ln/>
        </p:spPr>
        <p:txBody>
          <a:bodyPr wrap="square" lIns="0" tIns="0" rIns="0" bIns="0" rtlCol="0" anchor="ctr"/>
          <a:lstStyle/>
          <a:p>
            <a:pPr algn="ctr" indent="0" marL="0">
              <a:buNone/>
            </a:pPr>
            <a:r>
              <a:rPr lang="en-US" sz="1050" b="1" dirty="0">
                <a:solidFill>
                  <a:schemeClr val="tx1"/>
                </a:solidFill>
                <a:latin typeface="Courier New" pitchFamily="34" charset="0"/>
                <a:ea typeface="Courier New" pitchFamily="34" charset="-122"/>
                <a:cs typeface="Courier New" pitchFamily="34" charset="-120"/>
              </a:rPr>
              <a:t>payments-service:2.4.7</a:t>
            </a:r>
            <a:endParaRPr lang="en-US" sz="1050" dirty="0"/>
          </a:p>
        </p:txBody>
      </p:sp>
      <p:sp>
        <p:nvSpPr>
          <p:cNvPr id="14" name="Connector 227"/>
          <p:cNvSpPr/>
          <p:nvPr/>
        </p:nvSpPr>
        <p:spPr>
          <a:xfrm>
            <a:off x="3630168" y="1920240"/>
            <a:ext cx="192024" cy="0"/>
          </a:xfrm>
          <a:prstGeom prst="line">
            <a:avLst/>
          </a:prstGeom>
          <a:noFill/>
          <a:ln w="19050">
            <a:solidFill>
              <a:schemeClr val="tx1"/>
            </a:solidFill>
            <a:prstDash val="solid"/>
            <a:tailEnd type="triangle"/>
          </a:ln>
        </p:spPr>
      </p:sp>
      <p:sp>
        <p:nvSpPr>
          <p:cNvPr id="15" name="Block 228"/>
          <p:cNvSpPr/>
          <p:nvPr/>
        </p:nvSpPr>
        <p:spPr>
          <a:xfrm>
            <a:off x="3840480" y="1371600"/>
            <a:ext cx="1463040" cy="329184"/>
          </a:xfrm>
          <a:prstGeom prst="rect">
            <a:avLst/>
          </a:prstGeom>
          <a:solidFill>
            <a:schemeClr val="accent5"/>
          </a:solidFill>
          <a:ln/>
        </p:spPr>
      </p:sp>
      <p:sp>
        <p:nvSpPr>
          <p:cNvPr id="16" name="Text 229"/>
          <p:cNvSpPr txBox="1"/>
          <p:nvPr/>
        </p:nvSpPr>
        <p:spPr>
          <a:xfrm>
            <a:off x="3840480" y="1371600"/>
            <a:ext cx="1463040" cy="329184"/>
          </a:xfrm>
          <a:prstGeom prst="rect">
            <a:avLst/>
          </a:prstGeom>
          <a:noFill/>
          <a:ln/>
        </p:spPr>
        <p:txBody>
          <a:bodyPr wrap="square" lIns="0" tIns="0" rIns="0" bIns="0" rtlCol="0" anchor="ctr"/>
          <a:lstStyle/>
          <a:p>
            <a:pPr algn="ctr" indent="0" marL="0">
              <a:buNone/>
            </a:pPr>
            <a:r>
              <a:rPr lang="en-US" sz="1200" b="1" dirty="0">
                <a:solidFill>
                  <a:schemeClr val="bg1"/>
                </a:solidFill>
              </a:rPr>
              <a:t>GitOps Change</a:t>
            </a:r>
            <a:endParaRPr lang="en-US" sz="1200" dirty="0"/>
          </a:p>
        </p:txBody>
      </p:sp>
      <p:sp>
        <p:nvSpPr>
          <p:cNvPr id="17" name="Block 230"/>
          <p:cNvSpPr/>
          <p:nvPr/>
        </p:nvSpPr>
        <p:spPr>
          <a:xfrm>
            <a:off x="3840480" y="1700784"/>
            <a:ext cx="1463040" cy="822960"/>
          </a:xfrm>
          <a:prstGeom prst="rect">
            <a:avLst/>
          </a:prstGeom>
          <a:solidFill>
            <a:schemeClr val="bg2"/>
          </a:solidFill>
          <a:ln/>
        </p:spPr>
      </p:sp>
      <p:sp>
        <p:nvSpPr>
          <p:cNvPr id="18" name="Text 231"/>
          <p:cNvSpPr txBox="1"/>
          <p:nvPr/>
        </p:nvSpPr>
        <p:spPr>
          <a:xfrm>
            <a:off x="3895344" y="1737360"/>
            <a:ext cx="1353312" cy="749808"/>
          </a:xfrm>
          <a:prstGeom prst="rect">
            <a:avLst/>
          </a:prstGeom>
          <a:noFill/>
          <a:ln/>
        </p:spPr>
        <p:txBody>
          <a:bodyPr wrap="square" lIns="0" tIns="0" rIns="0" bIns="0" rtlCol="0" anchor="ctr"/>
          <a:lstStyle/>
          <a:p>
            <a:pPr algn="ctr" indent="0" marL="0">
              <a:buNone/>
            </a:pPr>
            <a:r>
              <a:rPr lang="en-US" sz="1050" b="1" dirty="0">
                <a:solidFill>
                  <a:schemeClr val="tx1"/>
                </a:solidFill>
                <a:latin typeface="Courier New" pitchFamily="34" charset="0"/>
                <a:ea typeface="Courier New" pitchFamily="34" charset="-122"/>
                <a:cs typeface="Courier New" pitchFamily="34" charset="-120"/>
              </a:rPr>
              <a:t>prod/payments/values.yaml</a:t>
            </a:r>
            <a:endParaRPr lang="en-US" sz="1050" dirty="0"/>
          </a:p>
        </p:txBody>
      </p:sp>
      <p:sp>
        <p:nvSpPr>
          <p:cNvPr id="19" name="Connector 232"/>
          <p:cNvSpPr/>
          <p:nvPr/>
        </p:nvSpPr>
        <p:spPr>
          <a:xfrm>
            <a:off x="5321808" y="1920240"/>
            <a:ext cx="192024" cy="0"/>
          </a:xfrm>
          <a:prstGeom prst="line">
            <a:avLst/>
          </a:prstGeom>
          <a:noFill/>
          <a:ln w="19050">
            <a:solidFill>
              <a:schemeClr val="tx1"/>
            </a:solidFill>
            <a:prstDash val="solid"/>
            <a:tailEnd type="triangle"/>
          </a:ln>
        </p:spPr>
      </p:sp>
      <p:sp>
        <p:nvSpPr>
          <p:cNvPr id="20" name="Block 233"/>
          <p:cNvSpPr/>
          <p:nvPr/>
        </p:nvSpPr>
        <p:spPr>
          <a:xfrm>
            <a:off x="5532120" y="1371600"/>
            <a:ext cx="1463040" cy="329184"/>
          </a:xfrm>
          <a:prstGeom prst="rect">
            <a:avLst/>
          </a:prstGeom>
          <a:solidFill>
            <a:schemeClr val="accent2"/>
          </a:solidFill>
          <a:ln/>
        </p:spPr>
      </p:sp>
      <p:sp>
        <p:nvSpPr>
          <p:cNvPr id="21" name="Text 234"/>
          <p:cNvSpPr txBox="1"/>
          <p:nvPr/>
        </p:nvSpPr>
        <p:spPr>
          <a:xfrm>
            <a:off x="5532120" y="1371600"/>
            <a:ext cx="1463040" cy="329184"/>
          </a:xfrm>
          <a:prstGeom prst="rect">
            <a:avLst/>
          </a:prstGeom>
          <a:noFill/>
          <a:ln/>
        </p:spPr>
        <p:txBody>
          <a:bodyPr wrap="square" lIns="0" tIns="0" rIns="0" bIns="0" rtlCol="0" anchor="ctr"/>
          <a:lstStyle/>
          <a:p>
            <a:pPr algn="ctr" indent="0" marL="0">
              <a:buNone/>
            </a:pPr>
            <a:r>
              <a:rPr lang="en-US" sz="1200" b="1" dirty="0">
                <a:solidFill>
                  <a:schemeClr val="tx1"/>
                </a:solidFill>
              </a:rPr>
              <a:t>Argo CD Sync</a:t>
            </a:r>
            <a:endParaRPr lang="en-US" sz="1200" dirty="0"/>
          </a:p>
        </p:txBody>
      </p:sp>
      <p:sp>
        <p:nvSpPr>
          <p:cNvPr id="22" name="Block 235"/>
          <p:cNvSpPr/>
          <p:nvPr/>
        </p:nvSpPr>
        <p:spPr>
          <a:xfrm>
            <a:off x="5532120" y="1700784"/>
            <a:ext cx="1463040" cy="822960"/>
          </a:xfrm>
          <a:prstGeom prst="rect">
            <a:avLst/>
          </a:prstGeom>
          <a:solidFill>
            <a:schemeClr val="bg2"/>
          </a:solidFill>
          <a:ln/>
        </p:spPr>
      </p:sp>
      <p:sp>
        <p:nvSpPr>
          <p:cNvPr id="23" name="Text 236"/>
          <p:cNvSpPr txBox="1"/>
          <p:nvPr/>
        </p:nvSpPr>
        <p:spPr>
          <a:xfrm>
            <a:off x="5586984" y="1737360"/>
            <a:ext cx="1353312" cy="749808"/>
          </a:xfrm>
          <a:prstGeom prst="rect">
            <a:avLst/>
          </a:prstGeom>
          <a:noFill/>
          <a:ln/>
        </p:spPr>
        <p:txBody>
          <a:bodyPr wrap="square" lIns="0" tIns="0" rIns="0" bIns="0" rtlCol="0" anchor="ctr"/>
          <a:lstStyle/>
          <a:p>
            <a:pPr algn="ctr" indent="0" marL="0">
              <a:buNone/>
            </a:pPr>
            <a:r>
              <a:rPr lang="en-US" sz="1050" b="1" dirty="0">
                <a:solidFill>
                  <a:schemeClr val="tx1"/>
                </a:solidFill>
                <a:latin typeface="Courier New" pitchFamily="34" charset="0"/>
                <a:ea typeface="Courier New" pitchFamily="34" charset="-122"/>
                <a:cs typeface="Courier New" pitchFamily="34" charset="-120"/>
              </a:rPr>
              <a:t>Synced / Healthy</a:t>
            </a:r>
            <a:endParaRPr lang="en-US" sz="1050" dirty="0"/>
          </a:p>
        </p:txBody>
      </p:sp>
      <p:sp>
        <p:nvSpPr>
          <p:cNvPr id="24" name="Connector 237"/>
          <p:cNvSpPr/>
          <p:nvPr/>
        </p:nvSpPr>
        <p:spPr>
          <a:xfrm>
            <a:off x="7013448" y="1920240"/>
            <a:ext cx="192024" cy="0"/>
          </a:xfrm>
          <a:prstGeom prst="line">
            <a:avLst/>
          </a:prstGeom>
          <a:noFill/>
          <a:ln w="19050">
            <a:solidFill>
              <a:schemeClr val="tx1"/>
            </a:solidFill>
            <a:prstDash val="solid"/>
            <a:tailEnd type="triangle"/>
          </a:ln>
        </p:spPr>
      </p:sp>
      <p:sp>
        <p:nvSpPr>
          <p:cNvPr id="25" name="Block 238"/>
          <p:cNvSpPr/>
          <p:nvPr/>
        </p:nvSpPr>
        <p:spPr>
          <a:xfrm>
            <a:off x="7223760" y="1371600"/>
            <a:ext cx="1463040" cy="329184"/>
          </a:xfrm>
          <a:prstGeom prst="rect">
            <a:avLst/>
          </a:prstGeom>
          <a:solidFill>
            <a:schemeClr val="accent1"/>
          </a:solidFill>
          <a:ln/>
        </p:spPr>
      </p:sp>
      <p:sp>
        <p:nvSpPr>
          <p:cNvPr id="26" name="Text 239"/>
          <p:cNvSpPr txBox="1"/>
          <p:nvPr/>
        </p:nvSpPr>
        <p:spPr>
          <a:xfrm>
            <a:off x="7223760" y="1371600"/>
            <a:ext cx="1463040" cy="329184"/>
          </a:xfrm>
          <a:prstGeom prst="rect">
            <a:avLst/>
          </a:prstGeom>
          <a:noFill/>
          <a:ln/>
        </p:spPr>
        <p:txBody>
          <a:bodyPr wrap="square" lIns="0" tIns="0" rIns="0" bIns="0" rtlCol="0" anchor="ctr"/>
          <a:lstStyle/>
          <a:p>
            <a:pPr algn="ctr" indent="0" marL="0">
              <a:buNone/>
            </a:pPr>
            <a:r>
              <a:rPr lang="en-US" sz="1200" b="1" dirty="0">
                <a:solidFill>
                  <a:schemeClr val="bg1"/>
                </a:solidFill>
              </a:rPr>
              <a:t>Kubernetes State</a:t>
            </a:r>
            <a:endParaRPr lang="en-US" sz="1200" dirty="0"/>
          </a:p>
        </p:txBody>
      </p:sp>
      <p:sp>
        <p:nvSpPr>
          <p:cNvPr id="27" name="Block 240"/>
          <p:cNvSpPr/>
          <p:nvPr/>
        </p:nvSpPr>
        <p:spPr>
          <a:xfrm>
            <a:off x="7223760" y="1700784"/>
            <a:ext cx="1463040" cy="822960"/>
          </a:xfrm>
          <a:prstGeom prst="rect">
            <a:avLst/>
          </a:prstGeom>
          <a:solidFill>
            <a:schemeClr val="bg2"/>
          </a:solidFill>
          <a:ln/>
        </p:spPr>
      </p:sp>
      <p:sp>
        <p:nvSpPr>
          <p:cNvPr id="28" name="Text 241"/>
          <p:cNvSpPr txBox="1"/>
          <p:nvPr/>
        </p:nvSpPr>
        <p:spPr>
          <a:xfrm>
            <a:off x="7278624" y="1737360"/>
            <a:ext cx="1353312" cy="749808"/>
          </a:xfrm>
          <a:prstGeom prst="rect">
            <a:avLst/>
          </a:prstGeom>
          <a:noFill/>
          <a:ln/>
        </p:spPr>
        <p:txBody>
          <a:bodyPr wrap="square" lIns="0" tIns="0" rIns="0" bIns="0" rtlCol="0" anchor="ctr"/>
          <a:lstStyle/>
          <a:p>
            <a:pPr algn="ctr" indent="0" marL="0">
              <a:buNone/>
            </a:pPr>
            <a:r>
              <a:rPr lang="en-US" sz="1050" b="1" dirty="0">
                <a:solidFill>
                  <a:schemeClr val="tx1"/>
                </a:solidFill>
                <a:latin typeface="Courier New" pitchFamily="34" charset="0"/>
                <a:ea typeface="Courier New" pitchFamily="34" charset="-122"/>
                <a:cs typeface="Courier New" pitchFamily="34" charset="-120"/>
              </a:rPr>
              <a:t>Running 2.4.7</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4572000" cy="914400"/>
        </p:xfrm>
        <a:graphic>
          <a:graphicData uri="http://schemas.openxmlformats.org/drawingml/2006/table">
            <a:tbl>
              <a:tblPr/>
              <a:tblGrid>
                <a:gridCol w="1143000"/>
                <a:gridCol w="3429000"/>
              </a:tblGrid>
              <a:tr h="292608">
                <a:tc>
                  <a:txBody>
                    <a:bodyPr/>
                    <a:lstStyle/>
                    <a:p>
                      <a:pPr indent="0" marL="0">
                        <a:buNone/>
                      </a:pPr>
                      <a:r>
                        <a:rPr lang="en-US" sz="1200" b="1" dirty="0">
                          <a:solidFill>
                            <a:srgbClr val="0A1A33"/>
                          </a:solidFill>
                        </a:rPr>
                        <a:t>App / Env</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0A1A33"/>
                          </a:solidFill>
                          <a:latin typeface="Calibri" pitchFamily="34" charset="0"/>
                          <a:ea typeface="Calibri" pitchFamily="34" charset="-122"/>
                          <a:cs typeface="Calibri" pitchFamily="34" charset="-120"/>
                        </a:rPr>
                        <a:t>payments-service  /  PROD</a:t>
                      </a:r>
                      <a:endParaRPr lang="en-US" sz="1100" dirty="0">
                        <a:latin typeface="Calibri" charset="0"/>
                        <a:ea typeface="Calibri" charset="0"/>
                        <a:cs typeface="Calibri" charset="0"/>
                      </a:endParaRPr>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292608">
                <a:tc>
                  <a:txBody>
                    <a:bodyPr/>
                    <a:lstStyle/>
                    <a:p>
                      <a:pPr indent="0" marL="0">
                        <a:buNone/>
                      </a:pPr>
                      <a:r>
                        <a:rPr lang="en-US" sz="1200" b="1" dirty="0">
                          <a:solidFill>
                            <a:srgbClr val="0A1A33"/>
                          </a:solidFill>
                        </a:rPr>
                        <a:t>Version</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0A1A33"/>
                          </a:solidFill>
                          <a:latin typeface="Calibri" pitchFamily="34" charset="0"/>
                          <a:ea typeface="Calibri" pitchFamily="34" charset="-122"/>
                          <a:cs typeface="Calibri" pitchFamily="34" charset="-120"/>
                        </a:rPr>
                        <a:t>2.4.7</a:t>
                      </a:r>
                      <a:endParaRPr lang="en-US" sz="1100" dirty="0">
                        <a:latin typeface="Calibri" charset="0"/>
                        <a:ea typeface="Calibri" charset="0"/>
                        <a:cs typeface="Calibri" charset="0"/>
                      </a:endParaRPr>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0A1A33"/>
                          </a:solidFill>
                        </a:rPr>
                        <a:t>Image</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0A1A33"/>
                          </a:solidFill>
                          <a:latin typeface="Courier New" pitchFamily="34" charset="0"/>
                          <a:ea typeface="Courier New" pitchFamily="34" charset="-122"/>
                          <a:cs typeface="Courier New" pitchFamily="34" charset="-120"/>
                        </a:rPr>
                        <a:t>harbor.company.com/payments-service:2.4.7</a:t>
                      </a:r>
                      <a:endParaRPr lang="en-US" sz="1100" dirty="0">
                        <a:latin typeface="Courier New" charset="0"/>
                        <a:ea typeface="Courier New" charset="0"/>
                        <a:cs typeface="Courier New" charset="0"/>
                      </a:endParaRPr>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292608">
                <a:tc>
                  <a:txBody>
                    <a:bodyPr/>
                    <a:lstStyle/>
                    <a:p>
                      <a:pPr indent="0" marL="0">
                        <a:buNone/>
                      </a:pPr>
                      <a:r>
                        <a:rPr lang="en-US" sz="1200" b="1" dirty="0">
                          <a:solidFill>
                            <a:srgbClr val="0A1A33"/>
                          </a:solidFill>
                        </a:rPr>
                        <a:t>Git commit</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0A1A33"/>
                          </a:solidFill>
                          <a:latin typeface="Courier New" pitchFamily="34" charset="0"/>
                          <a:ea typeface="Courier New" pitchFamily="34" charset="-122"/>
                          <a:cs typeface="Courier New" pitchFamily="34" charset="-120"/>
                        </a:rPr>
                        <a:t>abc1234</a:t>
                      </a:r>
                      <a:endParaRPr lang="en-US" sz="1100" dirty="0">
                        <a:latin typeface="Courier New" charset="0"/>
                        <a:ea typeface="Courier New" charset="0"/>
                        <a:cs typeface="Courier New" charset="0"/>
                      </a:endParaRPr>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0A1A33"/>
                          </a:solidFill>
                        </a:rPr>
                        <a:t>GitOps change</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100" dirty="0">
                          <a:solidFill>
                            <a:srgbClr val="0A1A33"/>
                          </a:solidFill>
                          <a:latin typeface="Courier New" pitchFamily="34" charset="0"/>
                          <a:ea typeface="Courier New" pitchFamily="34" charset="-122"/>
                          <a:cs typeface="Courier New" pitchFamily="34" charset="-120"/>
                        </a:rPr>
                        <a:t>prod/payments/values.yaml</a:t>
                      </a:r>
                      <a:endParaRPr lang="en-US" sz="1100" dirty="0">
                        <a:latin typeface="Courier New" charset="0"/>
                        <a:ea typeface="Courier New" charset="0"/>
                        <a:cs typeface="Courier New" charset="0"/>
                      </a:endParaRPr>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292608">
                <a:tc>
                  <a:txBody>
                    <a:bodyPr/>
                    <a:lstStyle/>
                    <a:p>
                      <a:pPr indent="0" marL="0">
                        <a:buNone/>
                      </a:pPr>
                      <a:r>
                        <a:rPr lang="en-US" sz="1200" b="1" dirty="0">
                          <a:solidFill>
                            <a:srgbClr val="0A1A33"/>
                          </a:solidFill>
                        </a:rPr>
                        <a:t>Argo CD</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100" dirty="0">
                          <a:solidFill>
                            <a:srgbClr val="0A1A33"/>
                          </a:solidFill>
                          <a:latin typeface="Calibri" pitchFamily="34" charset="0"/>
                          <a:ea typeface="Calibri" pitchFamily="34" charset="-122"/>
                          <a:cs typeface="Calibri" pitchFamily="34" charset="-120"/>
                        </a:rPr>
                        <a:t>Synced / Healthy</a:t>
                      </a:r>
                      <a:endParaRPr lang="en-US" sz="1100" dirty="0">
                        <a:latin typeface="Calibri" charset="0"/>
                        <a:ea typeface="Calibri" charset="0"/>
                        <a:cs typeface="Calibri" charset="0"/>
                      </a:endParaRPr>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bl>
          </a:graphicData>
        </a:graphic>
      </p:graphicFrame>
      <p:sp>
        <p:nvSpPr>
          <p:cNvPr id="30" name="Card 242"/>
          <p:cNvSpPr/>
          <p:nvPr/>
        </p:nvSpPr>
        <p:spPr>
          <a:xfrm>
            <a:off x="5257800" y="2743200"/>
            <a:ext cx="3429000" cy="868680"/>
          </a:xfrm>
          <a:prstGeom prst="roundRect">
            <a:avLst>
              <a:gd name="adj" fmla="val 8421"/>
            </a:avLst>
          </a:prstGeom>
          <a:solidFill>
            <a:schemeClr val="bg2"/>
          </a:solidFill>
          <a:ln/>
        </p:spPr>
      </p:sp>
      <p:sp>
        <p:nvSpPr>
          <p:cNvPr id="31" name="Text 243"/>
          <p:cNvSpPr txBox="1"/>
          <p:nvPr/>
        </p:nvSpPr>
        <p:spPr>
          <a:xfrm>
            <a:off x="5394960" y="2743200"/>
            <a:ext cx="3154680" cy="868680"/>
          </a:xfrm>
          <a:prstGeom prst="rect">
            <a:avLst/>
          </a:prstGeom>
          <a:noFill/>
          <a:ln/>
        </p:spPr>
        <p:txBody>
          <a:bodyPr wrap="square" lIns="0" tIns="0" rIns="0" bIns="0" rtlCol="0" anchor="ctr"/>
          <a:lstStyle/>
          <a:p>
            <a:pPr indent="0" marL="0">
              <a:buNone/>
            </a:pPr>
            <a:r>
              <a:rPr lang="en-US" sz="1300" b="1" dirty="0">
                <a:solidFill>
                  <a:schemeClr val="tx1"/>
                </a:solidFill>
              </a:rPr>
              <a:t>Visibility &amp; GitOps history</a:t>
            </a:r>
            <a:endParaRPr lang="en-US" sz="1400" dirty="0"/>
          </a:p>
          <a:p>
            <a:pPr indent="0" marL="0">
              <a:buNone/>
            </a:pPr>
            <a:r>
              <a:rPr lang="en-US" sz="1200" dirty="0">
                <a:solidFill>
                  <a:schemeClr val="tx1"/>
                </a:solidFill>
              </a:rPr>
              <a:t>Commits, PRs, sync status and health show who, what and when</a:t>
            </a:r>
            <a:endParaRPr lang="en-US" sz="1400" dirty="0"/>
          </a:p>
        </p:txBody>
      </p:sp>
      <p:sp>
        <p:nvSpPr>
          <p:cNvPr id="32" name="Card 244"/>
          <p:cNvSpPr/>
          <p:nvPr/>
        </p:nvSpPr>
        <p:spPr>
          <a:xfrm>
            <a:off x="5257800" y="3703320"/>
            <a:ext cx="3429000" cy="868680"/>
          </a:xfrm>
          <a:prstGeom prst="roundRect">
            <a:avLst>
              <a:gd name="adj" fmla="val 8421"/>
            </a:avLst>
          </a:prstGeom>
          <a:solidFill>
            <a:schemeClr val="bg1"/>
          </a:solidFill>
          <a:ln w="19050">
            <a:solidFill>
              <a:schemeClr val="accent2"/>
            </a:solidFill>
            <a:prstDash val="solid"/>
          </a:ln>
        </p:spPr>
      </p:sp>
      <p:sp>
        <p:nvSpPr>
          <p:cNvPr id="33" name="Text 245"/>
          <p:cNvSpPr txBox="1"/>
          <p:nvPr/>
        </p:nvSpPr>
        <p:spPr>
          <a:xfrm>
            <a:off x="5394960" y="3703320"/>
            <a:ext cx="3154680" cy="868680"/>
          </a:xfrm>
          <a:prstGeom prst="rect">
            <a:avLst/>
          </a:prstGeom>
          <a:noFill/>
          <a:ln/>
        </p:spPr>
        <p:txBody>
          <a:bodyPr wrap="square" lIns="0" tIns="0" rIns="0" bIns="0" rtlCol="0" anchor="ctr"/>
          <a:lstStyle/>
          <a:p>
            <a:pPr indent="0" marL="0">
              <a:buNone/>
            </a:pPr>
            <a:r>
              <a:rPr lang="en-US" sz="1300" b="1" dirty="0">
                <a:solidFill>
                  <a:schemeClr val="tx1"/>
                </a:solidFill>
              </a:rPr>
              <a:t>Formal evidence retention</a:t>
            </a:r>
            <a:endParaRPr lang="en-US" sz="1400" dirty="0"/>
          </a:p>
          <a:p>
            <a:pPr indent="0" marL="0">
              <a:buNone/>
            </a:pPr>
            <a:r>
              <a:rPr lang="en-US" sz="1200" dirty="0">
                <a:solidFill>
                  <a:schemeClr val="tx1"/>
                </a:solidFill>
              </a:rPr>
              <a:t>Still needs Git retention, Kubernetes audit logs, central logging / SIEM and org policy</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Current vs Proposed</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A factual comparison of how deployment information is produced and found</a:t>
            </a:r>
            <a:endParaRPr lang="en-US" sz="1500" dirty="0"/>
          </a:p>
        </p:txBody>
      </p:sp>
      <p:sp>
        <p:nvSpPr>
          <p:cNvPr id="4" name="Block 246"/>
          <p:cNvSpPr/>
          <p:nvPr/>
        </p:nvSpPr>
        <p:spPr>
          <a:xfrm>
            <a:off x="457200" y="1325880"/>
            <a:ext cx="4023360" cy="329184"/>
          </a:xfrm>
          <a:prstGeom prst="rect">
            <a:avLst/>
          </a:prstGeom>
          <a:solidFill>
            <a:schemeClr val="accent5"/>
          </a:solidFill>
          <a:ln/>
        </p:spPr>
      </p:sp>
      <p:sp>
        <p:nvSpPr>
          <p:cNvPr id="5" name="Text 247"/>
          <p:cNvSpPr txBox="1"/>
          <p:nvPr/>
        </p:nvSpPr>
        <p:spPr>
          <a:xfrm>
            <a:off x="457200" y="1325880"/>
            <a:ext cx="4023360" cy="329184"/>
          </a:xfrm>
          <a:prstGeom prst="rect">
            <a:avLst/>
          </a:prstGeom>
          <a:noFill/>
          <a:ln/>
        </p:spPr>
        <p:txBody>
          <a:bodyPr wrap="square" lIns="0" tIns="0" rIns="0" bIns="0" rtlCol="0" anchor="ctr"/>
          <a:lstStyle/>
          <a:p>
            <a:pPr algn="ctr" indent="0" marL="0">
              <a:buNone/>
            </a:pPr>
            <a:r>
              <a:rPr lang="en-US" sz="1300" b="1" dirty="0">
                <a:solidFill>
                  <a:schemeClr val="bg1"/>
                </a:solidFill>
              </a:rPr>
              <a:t>CURRENT  ·  pipeline-driven</a:t>
            </a:r>
            <a:endParaRPr lang="en-US" sz="1300" dirty="0"/>
          </a:p>
        </p:txBody>
      </p:sp>
      <p:sp>
        <p:nvSpPr>
          <p:cNvPr id="6" name="Block 248"/>
          <p:cNvSpPr/>
          <p:nvPr/>
        </p:nvSpPr>
        <p:spPr>
          <a:xfrm>
            <a:off x="4663440" y="1325880"/>
            <a:ext cx="4023360" cy="329184"/>
          </a:xfrm>
          <a:prstGeom prst="rect">
            <a:avLst/>
          </a:prstGeom>
          <a:solidFill>
            <a:schemeClr val="accent2"/>
          </a:solidFill>
          <a:ln/>
        </p:spPr>
      </p:sp>
      <p:sp>
        <p:nvSpPr>
          <p:cNvPr id="7" name="Text 249"/>
          <p:cNvSpPr txBox="1"/>
          <p:nvPr/>
        </p:nvSpPr>
        <p:spPr>
          <a:xfrm>
            <a:off x="4663440" y="1325880"/>
            <a:ext cx="4023360" cy="329184"/>
          </a:xfrm>
          <a:prstGeom prst="rect">
            <a:avLst/>
          </a:prstGeom>
          <a:noFill/>
          <a:ln/>
        </p:spPr>
        <p:txBody>
          <a:bodyPr wrap="square" lIns="0" tIns="0" rIns="0" bIns="0" rtlCol="0" anchor="ctr"/>
          <a:lstStyle/>
          <a:p>
            <a:pPr algn="ctr" indent="0" marL="0">
              <a:buNone/>
            </a:pPr>
            <a:r>
              <a:rPr lang="en-US" sz="1300" b="1" dirty="0">
                <a:solidFill>
                  <a:schemeClr val="tx1"/>
                </a:solidFill>
              </a:rPr>
              <a:t>PROPOSED  ·  GitOps</a:t>
            </a:r>
            <a:endParaRPr lang="en-US" sz="1300" dirty="0"/>
          </a:p>
        </p:txBody>
      </p:sp>
      <p:sp>
        <p:nvSpPr>
          <p:cNvPr id="8" name="Card 250"/>
          <p:cNvSpPr/>
          <p:nvPr/>
        </p:nvSpPr>
        <p:spPr>
          <a:xfrm>
            <a:off x="457200" y="1737360"/>
            <a:ext cx="1188720" cy="411480"/>
          </a:xfrm>
          <a:prstGeom prst="roundRect">
            <a:avLst>
              <a:gd name="adj" fmla="val 17778"/>
            </a:avLst>
          </a:prstGeom>
          <a:solidFill>
            <a:schemeClr val="bg2"/>
          </a:solidFill>
          <a:ln/>
        </p:spPr>
      </p:sp>
      <p:sp>
        <p:nvSpPr>
          <p:cNvPr id="9" name="Text 251"/>
          <p:cNvSpPr txBox="1"/>
          <p:nvPr/>
        </p:nvSpPr>
        <p:spPr>
          <a:xfrm>
            <a:off x="493776" y="1737360"/>
            <a:ext cx="1115568" cy="411480"/>
          </a:xfrm>
          <a:prstGeom prst="rect">
            <a:avLst/>
          </a:prstGeom>
          <a:noFill/>
          <a:ln/>
        </p:spPr>
        <p:txBody>
          <a:bodyPr wrap="square" lIns="0" tIns="0" rIns="0" bIns="0" rtlCol="0" anchor="ctr"/>
          <a:lstStyle/>
          <a:p>
            <a:pPr algn="ctr" indent="0" marL="0">
              <a:buNone/>
            </a:pPr>
            <a:r>
              <a:rPr lang="en-US" sz="1100" b="1" dirty="0">
                <a:solidFill>
                  <a:schemeClr val="tx1"/>
                </a:solidFill>
              </a:rPr>
              <a:t>GitHub Actions</a:t>
            </a:r>
            <a:endParaRPr lang="en-US" sz="1100" dirty="0"/>
          </a:p>
        </p:txBody>
      </p:sp>
      <p:sp>
        <p:nvSpPr>
          <p:cNvPr id="10" name="Connector 252"/>
          <p:cNvSpPr/>
          <p:nvPr/>
        </p:nvSpPr>
        <p:spPr>
          <a:xfrm>
            <a:off x="1655064" y="1943100"/>
            <a:ext cx="210312" cy="0"/>
          </a:xfrm>
          <a:prstGeom prst="line">
            <a:avLst/>
          </a:prstGeom>
          <a:noFill/>
          <a:ln w="15875">
            <a:solidFill>
              <a:schemeClr val="tx1"/>
            </a:solidFill>
            <a:prstDash val="solid"/>
            <a:tailEnd type="triangle"/>
          </a:ln>
        </p:spPr>
      </p:sp>
      <p:sp>
        <p:nvSpPr>
          <p:cNvPr id="11" name="Card 253"/>
          <p:cNvSpPr/>
          <p:nvPr/>
        </p:nvSpPr>
        <p:spPr>
          <a:xfrm>
            <a:off x="1874520" y="1737360"/>
            <a:ext cx="1188720" cy="411480"/>
          </a:xfrm>
          <a:prstGeom prst="roundRect">
            <a:avLst>
              <a:gd name="adj" fmla="val 17778"/>
            </a:avLst>
          </a:prstGeom>
          <a:solidFill>
            <a:schemeClr val="bg2"/>
          </a:solidFill>
          <a:ln/>
        </p:spPr>
      </p:sp>
      <p:sp>
        <p:nvSpPr>
          <p:cNvPr id="12" name="Text 254"/>
          <p:cNvSpPr txBox="1"/>
          <p:nvPr/>
        </p:nvSpPr>
        <p:spPr>
          <a:xfrm>
            <a:off x="1911096" y="1737360"/>
            <a:ext cx="1115568" cy="411480"/>
          </a:xfrm>
          <a:prstGeom prst="rect">
            <a:avLst/>
          </a:prstGeom>
          <a:noFill/>
          <a:ln/>
        </p:spPr>
        <p:txBody>
          <a:bodyPr wrap="square" lIns="0" tIns="0" rIns="0" bIns="0" rtlCol="0" anchor="ctr"/>
          <a:lstStyle/>
          <a:p>
            <a:pPr algn="ctr" indent="0" marL="0">
              <a:buNone/>
            </a:pPr>
            <a:r>
              <a:rPr lang="en-US" sz="1100" b="1" dirty="0">
                <a:solidFill>
                  <a:schemeClr val="tx1"/>
                </a:solidFill>
              </a:rPr>
              <a:t>Deploy</a:t>
            </a:r>
            <a:endParaRPr lang="en-US" sz="1100" dirty="0"/>
          </a:p>
        </p:txBody>
      </p:sp>
      <p:sp>
        <p:nvSpPr>
          <p:cNvPr id="13" name="Connector 255"/>
          <p:cNvSpPr/>
          <p:nvPr/>
        </p:nvSpPr>
        <p:spPr>
          <a:xfrm>
            <a:off x="3072384" y="1943100"/>
            <a:ext cx="210312" cy="0"/>
          </a:xfrm>
          <a:prstGeom prst="line">
            <a:avLst/>
          </a:prstGeom>
          <a:noFill/>
          <a:ln w="15875">
            <a:solidFill>
              <a:schemeClr val="tx1"/>
            </a:solidFill>
            <a:prstDash val="solid"/>
            <a:tailEnd type="triangle"/>
          </a:ln>
        </p:spPr>
      </p:sp>
      <p:sp>
        <p:nvSpPr>
          <p:cNvPr id="14" name="Card 256"/>
          <p:cNvSpPr/>
          <p:nvPr/>
        </p:nvSpPr>
        <p:spPr>
          <a:xfrm>
            <a:off x="3291840" y="1737360"/>
            <a:ext cx="1188720" cy="411480"/>
          </a:xfrm>
          <a:prstGeom prst="roundRect">
            <a:avLst>
              <a:gd name="adj" fmla="val 17778"/>
            </a:avLst>
          </a:prstGeom>
          <a:solidFill>
            <a:schemeClr val="bg2"/>
          </a:solidFill>
          <a:ln/>
        </p:spPr>
      </p:sp>
      <p:sp>
        <p:nvSpPr>
          <p:cNvPr id="15" name="Text 257"/>
          <p:cNvSpPr txBox="1"/>
          <p:nvPr/>
        </p:nvSpPr>
        <p:spPr>
          <a:xfrm>
            <a:off x="3328416" y="1737360"/>
            <a:ext cx="1115568" cy="411480"/>
          </a:xfrm>
          <a:prstGeom prst="rect">
            <a:avLst/>
          </a:prstGeom>
          <a:noFill/>
          <a:ln/>
        </p:spPr>
        <p:txBody>
          <a:bodyPr wrap="square" lIns="0" tIns="0" rIns="0" bIns="0" rtlCol="0" anchor="ctr"/>
          <a:lstStyle/>
          <a:p>
            <a:pPr algn="ctr" indent="0" marL="0">
              <a:buNone/>
            </a:pPr>
            <a:r>
              <a:rPr lang="en-US" sz="1100" b="1" dirty="0">
                <a:solidFill>
                  <a:schemeClr val="tx1"/>
                </a:solidFill>
              </a:rPr>
              <a:t>Search logs</a:t>
            </a:r>
            <a:endParaRPr lang="en-US" sz="1100" dirty="0"/>
          </a:p>
        </p:txBody>
      </p:sp>
      <p:sp>
        <p:nvSpPr>
          <p:cNvPr id="16" name="Card 258"/>
          <p:cNvSpPr/>
          <p:nvPr/>
        </p:nvSpPr>
        <p:spPr>
          <a:xfrm>
            <a:off x="457200" y="2240280"/>
            <a:ext cx="1188720" cy="411480"/>
          </a:xfrm>
          <a:prstGeom prst="roundRect">
            <a:avLst>
              <a:gd name="adj" fmla="val 17778"/>
            </a:avLst>
          </a:prstGeom>
          <a:solidFill>
            <a:schemeClr val="bg2"/>
          </a:solidFill>
          <a:ln/>
        </p:spPr>
      </p:sp>
      <p:sp>
        <p:nvSpPr>
          <p:cNvPr id="17" name="Text 259"/>
          <p:cNvSpPr txBox="1"/>
          <p:nvPr/>
        </p:nvSpPr>
        <p:spPr>
          <a:xfrm>
            <a:off x="493776" y="2240280"/>
            <a:ext cx="1115568" cy="411480"/>
          </a:xfrm>
          <a:prstGeom prst="rect">
            <a:avLst/>
          </a:prstGeom>
          <a:noFill/>
          <a:ln/>
        </p:spPr>
        <p:txBody>
          <a:bodyPr wrap="square" lIns="0" tIns="0" rIns="0" bIns="0" rtlCol="0" anchor="ctr"/>
          <a:lstStyle/>
          <a:p>
            <a:pPr algn="ctr" indent="0" marL="0">
              <a:buNone/>
            </a:pPr>
            <a:r>
              <a:rPr lang="en-US" sz="1100" b="1" dirty="0">
                <a:solidFill>
                  <a:schemeClr val="tx1"/>
                </a:solidFill>
              </a:rPr>
              <a:t>Check Harbor</a:t>
            </a:r>
            <a:endParaRPr lang="en-US" sz="1100" dirty="0"/>
          </a:p>
        </p:txBody>
      </p:sp>
      <p:sp>
        <p:nvSpPr>
          <p:cNvPr id="18" name="Connector 260"/>
          <p:cNvSpPr/>
          <p:nvPr/>
        </p:nvSpPr>
        <p:spPr>
          <a:xfrm>
            <a:off x="1655064" y="2446020"/>
            <a:ext cx="210312" cy="0"/>
          </a:xfrm>
          <a:prstGeom prst="line">
            <a:avLst/>
          </a:prstGeom>
          <a:noFill/>
          <a:ln w="15875">
            <a:solidFill>
              <a:schemeClr val="tx1"/>
            </a:solidFill>
            <a:prstDash val="solid"/>
            <a:tailEnd type="triangle"/>
          </a:ln>
        </p:spPr>
      </p:sp>
      <p:sp>
        <p:nvSpPr>
          <p:cNvPr id="19" name="Card 261"/>
          <p:cNvSpPr/>
          <p:nvPr/>
        </p:nvSpPr>
        <p:spPr>
          <a:xfrm>
            <a:off x="1874520" y="2240280"/>
            <a:ext cx="1188720" cy="411480"/>
          </a:xfrm>
          <a:prstGeom prst="roundRect">
            <a:avLst>
              <a:gd name="adj" fmla="val 17778"/>
            </a:avLst>
          </a:prstGeom>
          <a:solidFill>
            <a:schemeClr val="bg2"/>
          </a:solidFill>
          <a:ln/>
        </p:spPr>
      </p:sp>
      <p:sp>
        <p:nvSpPr>
          <p:cNvPr id="20" name="Text 262"/>
          <p:cNvSpPr txBox="1"/>
          <p:nvPr/>
        </p:nvSpPr>
        <p:spPr>
          <a:xfrm>
            <a:off x="1911096" y="2240280"/>
            <a:ext cx="1115568" cy="411480"/>
          </a:xfrm>
          <a:prstGeom prst="rect">
            <a:avLst/>
          </a:prstGeom>
          <a:noFill/>
          <a:ln/>
        </p:spPr>
        <p:txBody>
          <a:bodyPr wrap="square" lIns="0" tIns="0" rIns="0" bIns="0" rtlCol="0" anchor="ctr"/>
          <a:lstStyle/>
          <a:p>
            <a:pPr algn="ctr" indent="0" marL="0">
              <a:buNone/>
            </a:pPr>
            <a:r>
              <a:rPr lang="en-US" sz="1100" b="1" dirty="0">
                <a:solidFill>
                  <a:schemeClr val="tx1"/>
                </a:solidFill>
              </a:rPr>
              <a:t>Capture screenshots</a:t>
            </a:r>
            <a:endParaRPr lang="en-US" sz="1100" dirty="0"/>
          </a:p>
        </p:txBody>
      </p:sp>
      <p:sp>
        <p:nvSpPr>
          <p:cNvPr id="21" name="Connector 263"/>
          <p:cNvSpPr/>
          <p:nvPr/>
        </p:nvSpPr>
        <p:spPr>
          <a:xfrm>
            <a:off x="3072384" y="2446020"/>
            <a:ext cx="210312" cy="0"/>
          </a:xfrm>
          <a:prstGeom prst="line">
            <a:avLst/>
          </a:prstGeom>
          <a:noFill/>
          <a:ln w="15875">
            <a:solidFill>
              <a:schemeClr val="tx1"/>
            </a:solidFill>
            <a:prstDash val="solid"/>
            <a:tailEnd type="triangle"/>
          </a:ln>
        </p:spPr>
      </p:sp>
      <p:sp>
        <p:nvSpPr>
          <p:cNvPr id="22" name="Card 264"/>
          <p:cNvSpPr/>
          <p:nvPr/>
        </p:nvSpPr>
        <p:spPr>
          <a:xfrm>
            <a:off x="3291840" y="2240280"/>
            <a:ext cx="1188720" cy="411480"/>
          </a:xfrm>
          <a:prstGeom prst="roundRect">
            <a:avLst>
              <a:gd name="adj" fmla="val 17778"/>
            </a:avLst>
          </a:prstGeom>
          <a:solidFill>
            <a:schemeClr val="bg2"/>
          </a:solidFill>
          <a:ln/>
        </p:spPr>
      </p:sp>
      <p:sp>
        <p:nvSpPr>
          <p:cNvPr id="23" name="Text 265"/>
          <p:cNvSpPr txBox="1"/>
          <p:nvPr/>
        </p:nvSpPr>
        <p:spPr>
          <a:xfrm>
            <a:off x="3328416" y="2240280"/>
            <a:ext cx="1115568" cy="411480"/>
          </a:xfrm>
          <a:prstGeom prst="rect">
            <a:avLst/>
          </a:prstGeom>
          <a:noFill/>
          <a:ln/>
        </p:spPr>
        <p:txBody>
          <a:bodyPr wrap="square" lIns="0" tIns="0" rIns="0" bIns="0" rtlCol="0" anchor="ctr"/>
          <a:lstStyle/>
          <a:p>
            <a:pPr algn="ctr" indent="0" marL="0">
              <a:buNone/>
            </a:pPr>
            <a:r>
              <a:rPr lang="en-US" sz="1100" b="1" dirty="0">
                <a:solidFill>
                  <a:schemeClr val="tx1"/>
                </a:solidFill>
              </a:rPr>
              <a:t>Store evidence</a:t>
            </a:r>
            <a:endParaRPr lang="en-US" sz="1100" dirty="0"/>
          </a:p>
        </p:txBody>
      </p:sp>
      <p:sp>
        <p:nvSpPr>
          <p:cNvPr id="24" name="Card 266"/>
          <p:cNvSpPr/>
          <p:nvPr/>
        </p:nvSpPr>
        <p:spPr>
          <a:xfrm>
            <a:off x="4663440" y="1984248"/>
            <a:ext cx="868680" cy="457200"/>
          </a:xfrm>
          <a:prstGeom prst="roundRect">
            <a:avLst>
              <a:gd name="adj" fmla="val 16000"/>
            </a:avLst>
          </a:prstGeom>
          <a:solidFill>
            <a:schemeClr val="bg2"/>
          </a:solidFill>
          <a:ln/>
        </p:spPr>
      </p:sp>
      <p:sp>
        <p:nvSpPr>
          <p:cNvPr id="25" name="Text 267"/>
          <p:cNvSpPr txBox="1"/>
          <p:nvPr/>
        </p:nvSpPr>
        <p:spPr>
          <a:xfrm>
            <a:off x="4681728" y="1984248"/>
            <a:ext cx="832104" cy="457200"/>
          </a:xfrm>
          <a:prstGeom prst="rect">
            <a:avLst/>
          </a:prstGeom>
          <a:noFill/>
          <a:ln/>
        </p:spPr>
        <p:txBody>
          <a:bodyPr wrap="square" lIns="0" tIns="0" rIns="0" bIns="0" rtlCol="0" anchor="ctr"/>
          <a:lstStyle/>
          <a:p>
            <a:pPr algn="ctr" indent="0" marL="0">
              <a:buNone/>
            </a:pPr>
            <a:r>
              <a:rPr lang="en-US" sz="1100" b="1" dirty="0">
                <a:solidFill>
                  <a:schemeClr val="tx1"/>
                </a:solidFill>
              </a:rPr>
              <a:t>Git</a:t>
            </a:r>
            <a:endParaRPr lang="en-US" sz="1100" dirty="0"/>
          </a:p>
        </p:txBody>
      </p:sp>
      <p:sp>
        <p:nvSpPr>
          <p:cNvPr id="26" name="Connector 268"/>
          <p:cNvSpPr/>
          <p:nvPr/>
        </p:nvSpPr>
        <p:spPr>
          <a:xfrm>
            <a:off x="5541264" y="2212848"/>
            <a:ext cx="164592" cy="0"/>
          </a:xfrm>
          <a:prstGeom prst="line">
            <a:avLst/>
          </a:prstGeom>
          <a:noFill/>
          <a:ln w="15875">
            <a:solidFill>
              <a:schemeClr val="tx1"/>
            </a:solidFill>
            <a:prstDash val="solid"/>
            <a:tailEnd type="triangle"/>
          </a:ln>
        </p:spPr>
      </p:sp>
      <p:sp>
        <p:nvSpPr>
          <p:cNvPr id="27" name="Card 269"/>
          <p:cNvSpPr/>
          <p:nvPr/>
        </p:nvSpPr>
        <p:spPr>
          <a:xfrm>
            <a:off x="5715000" y="1984248"/>
            <a:ext cx="868680" cy="457200"/>
          </a:xfrm>
          <a:prstGeom prst="roundRect">
            <a:avLst>
              <a:gd name="adj" fmla="val 16000"/>
            </a:avLst>
          </a:prstGeom>
          <a:solidFill>
            <a:schemeClr val="bg2"/>
          </a:solidFill>
          <a:ln/>
        </p:spPr>
      </p:sp>
      <p:sp>
        <p:nvSpPr>
          <p:cNvPr id="28" name="Text 270"/>
          <p:cNvSpPr txBox="1"/>
          <p:nvPr/>
        </p:nvSpPr>
        <p:spPr>
          <a:xfrm>
            <a:off x="5733288" y="1984248"/>
            <a:ext cx="832104" cy="457200"/>
          </a:xfrm>
          <a:prstGeom prst="rect">
            <a:avLst/>
          </a:prstGeom>
          <a:noFill/>
          <a:ln/>
        </p:spPr>
        <p:txBody>
          <a:bodyPr wrap="square" lIns="0" tIns="0" rIns="0" bIns="0" rtlCol="0" anchor="ctr"/>
          <a:lstStyle/>
          <a:p>
            <a:pPr algn="ctr" indent="0" marL="0">
              <a:buNone/>
            </a:pPr>
            <a:r>
              <a:rPr lang="en-US" sz="1100" b="1" dirty="0">
                <a:solidFill>
                  <a:schemeClr val="tx1"/>
                </a:solidFill>
              </a:rPr>
              <a:t>GitOps repo</a:t>
            </a:r>
            <a:endParaRPr lang="en-US" sz="1100" dirty="0"/>
          </a:p>
        </p:txBody>
      </p:sp>
      <p:sp>
        <p:nvSpPr>
          <p:cNvPr id="29" name="Connector 271"/>
          <p:cNvSpPr/>
          <p:nvPr/>
        </p:nvSpPr>
        <p:spPr>
          <a:xfrm>
            <a:off x="6592824" y="2212848"/>
            <a:ext cx="164592" cy="0"/>
          </a:xfrm>
          <a:prstGeom prst="line">
            <a:avLst/>
          </a:prstGeom>
          <a:noFill/>
          <a:ln w="15875">
            <a:solidFill>
              <a:schemeClr val="tx1"/>
            </a:solidFill>
            <a:prstDash val="solid"/>
            <a:tailEnd type="triangle"/>
          </a:ln>
        </p:spPr>
      </p:sp>
      <p:sp>
        <p:nvSpPr>
          <p:cNvPr id="30" name="Card 272"/>
          <p:cNvSpPr/>
          <p:nvPr/>
        </p:nvSpPr>
        <p:spPr>
          <a:xfrm>
            <a:off x="6766560" y="1984248"/>
            <a:ext cx="868680" cy="457200"/>
          </a:xfrm>
          <a:prstGeom prst="roundRect">
            <a:avLst>
              <a:gd name="adj" fmla="val 16000"/>
            </a:avLst>
          </a:prstGeom>
          <a:solidFill>
            <a:schemeClr val="bg2"/>
          </a:solidFill>
          <a:ln/>
        </p:spPr>
      </p:sp>
      <p:sp>
        <p:nvSpPr>
          <p:cNvPr id="31" name="Text 273"/>
          <p:cNvSpPr txBox="1"/>
          <p:nvPr/>
        </p:nvSpPr>
        <p:spPr>
          <a:xfrm>
            <a:off x="6784848" y="1984248"/>
            <a:ext cx="832104" cy="457200"/>
          </a:xfrm>
          <a:prstGeom prst="rect">
            <a:avLst/>
          </a:prstGeom>
          <a:noFill/>
          <a:ln/>
        </p:spPr>
        <p:txBody>
          <a:bodyPr wrap="square" lIns="0" tIns="0" rIns="0" bIns="0" rtlCol="0" anchor="ctr"/>
          <a:lstStyle/>
          <a:p>
            <a:pPr algn="ctr" indent="0" marL="0">
              <a:buNone/>
            </a:pPr>
            <a:r>
              <a:rPr lang="en-US" sz="1100" b="1" dirty="0">
                <a:solidFill>
                  <a:schemeClr val="tx1"/>
                </a:solidFill>
              </a:rPr>
              <a:t>Argo CD</a:t>
            </a:r>
            <a:endParaRPr lang="en-US" sz="1100" dirty="0"/>
          </a:p>
        </p:txBody>
      </p:sp>
      <p:sp>
        <p:nvSpPr>
          <p:cNvPr id="32" name="Connector 274"/>
          <p:cNvSpPr/>
          <p:nvPr/>
        </p:nvSpPr>
        <p:spPr>
          <a:xfrm>
            <a:off x="7644384" y="2212848"/>
            <a:ext cx="164592" cy="0"/>
          </a:xfrm>
          <a:prstGeom prst="line">
            <a:avLst/>
          </a:prstGeom>
          <a:noFill/>
          <a:ln w="15875">
            <a:solidFill>
              <a:schemeClr val="tx1"/>
            </a:solidFill>
            <a:prstDash val="solid"/>
            <a:tailEnd type="triangle"/>
          </a:ln>
        </p:spPr>
      </p:sp>
      <p:sp>
        <p:nvSpPr>
          <p:cNvPr id="33" name="Card 275"/>
          <p:cNvSpPr/>
          <p:nvPr/>
        </p:nvSpPr>
        <p:spPr>
          <a:xfrm>
            <a:off x="7818120" y="1984248"/>
            <a:ext cx="868680" cy="457200"/>
          </a:xfrm>
          <a:prstGeom prst="roundRect">
            <a:avLst>
              <a:gd name="adj" fmla="val 16000"/>
            </a:avLst>
          </a:prstGeom>
          <a:solidFill>
            <a:schemeClr val="bg2"/>
          </a:solidFill>
          <a:ln/>
        </p:spPr>
      </p:sp>
      <p:sp>
        <p:nvSpPr>
          <p:cNvPr id="34" name="Text 276"/>
          <p:cNvSpPr txBox="1"/>
          <p:nvPr/>
        </p:nvSpPr>
        <p:spPr>
          <a:xfrm>
            <a:off x="7836408" y="1984248"/>
            <a:ext cx="832104" cy="457200"/>
          </a:xfrm>
          <a:prstGeom prst="rect">
            <a:avLst/>
          </a:prstGeom>
          <a:noFill/>
          <a:ln/>
        </p:spPr>
        <p:txBody>
          <a:bodyPr wrap="square" lIns="0" tIns="0" rIns="0" bIns="0" rtlCol="0" anchor="ctr"/>
          <a:lstStyle/>
          <a:p>
            <a:pPr algn="ctr" indent="0" marL="0">
              <a:buNone/>
            </a:pPr>
            <a:r>
              <a:rPr lang="en-US" sz="1100" b="1" dirty="0">
                <a:solidFill>
                  <a:schemeClr val="tx1"/>
                </a:solidFill>
              </a:rPr>
              <a:t>Kubernetes</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788920"/>
          <a:ext cx="8229600" cy="914400"/>
        </p:xfrm>
        <a:graphic>
          <a:graphicData uri="http://schemas.openxmlformats.org/drawingml/2006/table">
            <a:tbl>
              <a:tblPr/>
              <a:tblGrid>
                <a:gridCol w="1737360"/>
                <a:gridCol w="2926080"/>
                <a:gridCol w="3566160"/>
              </a:tblGrid>
              <a:tr h="246888">
                <a:tc>
                  <a:txBody>
                    <a:bodyPr/>
                    <a:lstStyle/>
                    <a:p>
                      <a:pPr indent="0" marL="0">
                        <a:buNone/>
                      </a:pPr>
                      <a:r>
                        <a:rPr lang="en-US" sz="1200" b="1" dirty="0">
                          <a:solidFill>
                            <a:srgbClr val="FFFFFF"/>
                          </a:solidFill>
                        </a:rPr>
                        <a:t>Capability</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0A1A33"/>
                    </a:solidFill>
                  </a:tcPr>
                </a:tc>
                <a:tc>
                  <a:txBody>
                    <a:bodyPr/>
                    <a:lstStyle/>
                    <a:p>
                      <a:pPr indent="0" marL="0">
                        <a:buNone/>
                      </a:pPr>
                      <a:r>
                        <a:rPr lang="en-US" sz="1200" b="1" dirty="0">
                          <a:solidFill>
                            <a:srgbClr val="FFFFFF"/>
                          </a:solidFill>
                        </a:rPr>
                        <a:t>Current</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0A1A33"/>
                    </a:solidFill>
                  </a:tcPr>
                </a:tc>
                <a:tc>
                  <a:txBody>
                    <a:bodyPr/>
                    <a:lstStyle/>
                    <a:p>
                      <a:pPr indent="0" marL="0">
                        <a:buNone/>
                      </a:pPr>
                      <a:r>
                        <a:rPr lang="en-US" sz="1200" b="1" dirty="0">
                          <a:solidFill>
                            <a:srgbClr val="FFFFFF"/>
                          </a:solidFill>
                        </a:rPr>
                        <a:t>Proposed</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0A1A33"/>
                    </a:solidFill>
                  </a:tcPr>
                </a:tc>
              </a:tr>
              <a:tr h="246888">
                <a:tc>
                  <a:txBody>
                    <a:bodyPr/>
                    <a:lstStyle/>
                    <a:p>
                      <a:pPr indent="0" marL="0">
                        <a:buNone/>
                      </a:pPr>
                      <a:r>
                        <a:rPr lang="en-US" sz="1200" b="1" dirty="0">
                          <a:solidFill>
                            <a:srgbClr val="0A1A33"/>
                          </a:solidFill>
                        </a:rPr>
                        <a:t>Git history</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App code history only</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Desired-state commits and PRs</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246888">
                <a:tc>
                  <a:txBody>
                    <a:bodyPr/>
                    <a:lstStyle/>
                    <a:p>
                      <a:pPr indent="0" marL="0">
                        <a:buNone/>
                      </a:pPr>
                      <a:r>
                        <a:rPr lang="en-US" sz="1200" b="1" dirty="0">
                          <a:solidFill>
                            <a:srgbClr val="0A1A33"/>
                          </a:solidFill>
                        </a:rPr>
                        <a:t>Deployment state</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Inferred from workflow run</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Per-application status in Argo CD</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246888">
                <a:tc>
                  <a:txBody>
                    <a:bodyPr/>
                    <a:lstStyle/>
                    <a:p>
                      <a:pPr indent="0" marL="0">
                        <a:buNone/>
                      </a:pPr>
                      <a:r>
                        <a:rPr lang="en-US" sz="1200" b="1" dirty="0">
                          <a:solidFill>
                            <a:srgbClr val="0A1A33"/>
                          </a:solidFill>
                        </a:rPr>
                        <a:t>Sync status</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No continuous view</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Synced / OutOfSync</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246888">
                <a:tc>
                  <a:txBody>
                    <a:bodyPr/>
                    <a:lstStyle/>
                    <a:p>
                      <a:pPr indent="0" marL="0">
                        <a:buNone/>
                      </a:pPr>
                      <a:r>
                        <a:rPr lang="en-US" sz="1200" b="1" dirty="0">
                          <a:solidFill>
                            <a:srgbClr val="0A1A33"/>
                          </a:solidFill>
                        </a:rPr>
                        <a:t>Health</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Checked ad hoc</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Health per resource in Argo CD</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246888">
                <a:tc>
                  <a:txBody>
                    <a:bodyPr/>
                    <a:lstStyle/>
                    <a:p>
                      <a:pPr indent="0" marL="0">
                        <a:buNone/>
                      </a:pPr>
                      <a:r>
                        <a:rPr lang="en-US" sz="1200" b="1" dirty="0">
                          <a:solidFill>
                            <a:srgbClr val="0A1A33"/>
                          </a:solidFill>
                        </a:rPr>
                        <a:t>Version visibility</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Logs, Harbor, Kubernetes</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Single view plus Git history</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246888">
                <a:tc>
                  <a:txBody>
                    <a:bodyPr/>
                    <a:lstStyle/>
                    <a:p>
                      <a:pPr indent="0" marL="0">
                        <a:buNone/>
                      </a:pPr>
                      <a:r>
                        <a:rPr lang="en-US" sz="1200" b="1" dirty="0">
                          <a:solidFill>
                            <a:srgbClr val="0A1A33"/>
                          </a:solidFill>
                        </a:rPr>
                        <a:t>Drift detection</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Limited visibility</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Continuous comparison with Git</a:t>
                      </a:r>
                      <a:endParaRPr lang="en-US" sz="1200" dirty="0"/>
                    </a:p>
                  </a:txBody>
                  <a:tcPr marL="73152" marR="73152"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Drift Detection</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Argo CD compares desired state in Git with live Kubernetes state and reports the difference</a:t>
            </a:r>
            <a:endParaRPr lang="en-US" sz="1500" dirty="0"/>
          </a:p>
        </p:txBody>
      </p:sp>
      <p:sp>
        <p:nvSpPr>
          <p:cNvPr id="4" name="Block 277"/>
          <p:cNvSpPr/>
          <p:nvPr/>
        </p:nvSpPr>
        <p:spPr>
          <a:xfrm>
            <a:off x="457200" y="1417320"/>
            <a:ext cx="2560320" cy="365760"/>
          </a:xfrm>
          <a:prstGeom prst="rect">
            <a:avLst/>
          </a:prstGeom>
          <a:solidFill>
            <a:schemeClr val="accent5"/>
          </a:solidFill>
          <a:ln/>
        </p:spPr>
      </p:sp>
      <p:sp>
        <p:nvSpPr>
          <p:cNvPr id="5" name="Text 278"/>
          <p:cNvSpPr txBox="1"/>
          <p:nvPr/>
        </p:nvSpPr>
        <p:spPr>
          <a:xfrm>
            <a:off x="457200" y="1417320"/>
            <a:ext cx="2560320" cy="365760"/>
          </a:xfrm>
          <a:prstGeom prst="rect">
            <a:avLst/>
          </a:prstGeom>
          <a:noFill/>
          <a:ln/>
        </p:spPr>
        <p:txBody>
          <a:bodyPr wrap="square" lIns="0" tIns="0" rIns="0" bIns="0" rtlCol="0" anchor="ctr"/>
          <a:lstStyle/>
          <a:p>
            <a:pPr algn="ctr" indent="0" marL="0">
              <a:buNone/>
            </a:pPr>
            <a:r>
              <a:rPr lang="en-US" sz="1300" b="1" dirty="0">
                <a:solidFill>
                  <a:schemeClr val="bg1"/>
                </a:solidFill>
              </a:rPr>
              <a:t>GIT  ·  Desired state</a:t>
            </a:r>
            <a:endParaRPr lang="en-US" sz="1300" dirty="0"/>
          </a:p>
        </p:txBody>
      </p:sp>
      <p:sp>
        <p:nvSpPr>
          <p:cNvPr id="6" name="Block 279"/>
          <p:cNvSpPr/>
          <p:nvPr/>
        </p:nvSpPr>
        <p:spPr>
          <a:xfrm>
            <a:off x="457200" y="1783080"/>
            <a:ext cx="2560320" cy="1234440"/>
          </a:xfrm>
          <a:prstGeom prst="rect">
            <a:avLst/>
          </a:prstGeom>
          <a:solidFill>
            <a:schemeClr val="bg2"/>
          </a:solidFill>
          <a:ln/>
        </p:spPr>
      </p:sp>
      <p:sp>
        <p:nvSpPr>
          <p:cNvPr id="7" name="Text 280"/>
          <p:cNvSpPr txBox="1"/>
          <p:nvPr/>
        </p:nvSpPr>
        <p:spPr>
          <a:xfrm>
            <a:off x="457200" y="1847088"/>
            <a:ext cx="2560320" cy="32004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payments-service</a:t>
            </a:r>
            <a:endParaRPr lang="en-US" sz="1300" dirty="0"/>
          </a:p>
        </p:txBody>
      </p:sp>
      <p:sp>
        <p:nvSpPr>
          <p:cNvPr id="8" name="Text 281"/>
          <p:cNvSpPr txBox="1"/>
          <p:nvPr/>
        </p:nvSpPr>
        <p:spPr>
          <a:xfrm>
            <a:off x="457200" y="2194560"/>
            <a:ext cx="2560320" cy="685800"/>
          </a:xfrm>
          <a:prstGeom prst="rect">
            <a:avLst/>
          </a:prstGeom>
          <a:noFill/>
          <a:ln/>
        </p:spPr>
        <p:txBody>
          <a:bodyPr wrap="square" lIns="0" tIns="0" rIns="0" bIns="0" rtlCol="0" anchor="ctr"/>
          <a:lstStyle/>
          <a:p>
            <a:pPr algn="ctr" indent="0" marL="0">
              <a:buNone/>
            </a:pPr>
            <a:r>
              <a:rPr lang="en-US" sz="3800" b="1" dirty="0">
                <a:solidFill>
                  <a:schemeClr val="tx1"/>
                </a:solidFill>
              </a:rPr>
              <a:t>2.4.7</a:t>
            </a:r>
            <a:endParaRPr lang="en-US" sz="3800" dirty="0"/>
          </a:p>
        </p:txBody>
      </p:sp>
      <p:sp>
        <p:nvSpPr>
          <p:cNvPr id="9" name="Block 282"/>
          <p:cNvSpPr/>
          <p:nvPr/>
        </p:nvSpPr>
        <p:spPr>
          <a:xfrm>
            <a:off x="6126480" y="1417320"/>
            <a:ext cx="2560320" cy="365760"/>
          </a:xfrm>
          <a:prstGeom prst="rect">
            <a:avLst/>
          </a:prstGeom>
          <a:solidFill>
            <a:schemeClr val="accent1"/>
          </a:solidFill>
          <a:ln/>
        </p:spPr>
      </p:sp>
      <p:sp>
        <p:nvSpPr>
          <p:cNvPr id="10" name="Text 283"/>
          <p:cNvSpPr txBox="1"/>
          <p:nvPr/>
        </p:nvSpPr>
        <p:spPr>
          <a:xfrm>
            <a:off x="6126480" y="1417320"/>
            <a:ext cx="2560320" cy="365760"/>
          </a:xfrm>
          <a:prstGeom prst="rect">
            <a:avLst/>
          </a:prstGeom>
          <a:noFill/>
          <a:ln/>
        </p:spPr>
        <p:txBody>
          <a:bodyPr wrap="square" lIns="0" tIns="0" rIns="0" bIns="0" rtlCol="0" anchor="ctr"/>
          <a:lstStyle/>
          <a:p>
            <a:pPr algn="ctr" indent="0" marL="0">
              <a:buNone/>
            </a:pPr>
            <a:r>
              <a:rPr lang="en-US" sz="1300" b="1" dirty="0">
                <a:solidFill>
                  <a:schemeClr val="bg1"/>
                </a:solidFill>
              </a:rPr>
              <a:t>KUBERNETES  ·  Live state</a:t>
            </a:r>
            <a:endParaRPr lang="en-US" sz="1300" dirty="0"/>
          </a:p>
        </p:txBody>
      </p:sp>
      <p:sp>
        <p:nvSpPr>
          <p:cNvPr id="11" name="Block 284"/>
          <p:cNvSpPr/>
          <p:nvPr/>
        </p:nvSpPr>
        <p:spPr>
          <a:xfrm>
            <a:off x="6126480" y="1783080"/>
            <a:ext cx="2560320" cy="1234440"/>
          </a:xfrm>
          <a:prstGeom prst="rect">
            <a:avLst/>
          </a:prstGeom>
          <a:solidFill>
            <a:schemeClr val="bg2"/>
          </a:solidFill>
          <a:ln/>
        </p:spPr>
      </p:sp>
      <p:sp>
        <p:nvSpPr>
          <p:cNvPr id="12" name="Text 285"/>
          <p:cNvSpPr txBox="1"/>
          <p:nvPr/>
        </p:nvSpPr>
        <p:spPr>
          <a:xfrm>
            <a:off x="6126480" y="1847088"/>
            <a:ext cx="2560320" cy="32004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payments-service</a:t>
            </a:r>
            <a:endParaRPr lang="en-US" sz="1300" dirty="0"/>
          </a:p>
        </p:txBody>
      </p:sp>
      <p:sp>
        <p:nvSpPr>
          <p:cNvPr id="13" name="Text 286"/>
          <p:cNvSpPr txBox="1"/>
          <p:nvPr/>
        </p:nvSpPr>
        <p:spPr>
          <a:xfrm>
            <a:off x="6126480" y="2194560"/>
            <a:ext cx="2560320" cy="685800"/>
          </a:xfrm>
          <a:prstGeom prst="rect">
            <a:avLst/>
          </a:prstGeom>
          <a:noFill/>
          <a:ln/>
        </p:spPr>
        <p:txBody>
          <a:bodyPr wrap="square" lIns="0" tIns="0" rIns="0" bIns="0" rtlCol="0" anchor="ctr"/>
          <a:lstStyle/>
          <a:p>
            <a:pPr algn="ctr" indent="0" marL="0">
              <a:buNone/>
            </a:pPr>
            <a:r>
              <a:rPr lang="en-US" sz="3800" b="1" dirty="0">
                <a:solidFill>
                  <a:schemeClr val="accent6"/>
                </a:solidFill>
              </a:rPr>
              <a:t>2.4.6</a:t>
            </a:r>
            <a:endParaRPr lang="en-US" sz="3800" dirty="0"/>
          </a:p>
        </p:txBody>
      </p:sp>
      <p:sp>
        <p:nvSpPr>
          <p:cNvPr id="14" name="Icon circle 287"/>
          <p:cNvSpPr/>
          <p:nvPr/>
        </p:nvSpPr>
        <p:spPr>
          <a:xfrm>
            <a:off x="4160520" y="1600200"/>
            <a:ext cx="822960" cy="822960"/>
          </a:xfrm>
          <a:prstGeom prst="ellipse">
            <a:avLst/>
          </a:prstGeom>
          <a:solidFill>
            <a:schemeClr val="accent2"/>
          </a:solidFill>
          <a:ln/>
        </p:spPr>
      </p:sp>
      <p:pic>
        <p:nvPicPr>
          <p:cNvPr id="15" name="Icon 288" descr="SiArgo">    </p:cNvPr>
          <p:cNvPicPr>
            <a:picLocks noChangeAspect="1"/>
          </p:cNvPicPr>
          <p:nvPr/>
        </p:nvPicPr>
        <p:blipFill>
          <a:blip r:embed="rId1"/>
          <a:stretch>
            <a:fillRect/>
          </a:stretch>
        </p:blipFill>
        <p:spPr>
          <a:xfrm>
            <a:off x="4345686" y="1785366"/>
            <a:ext cx="452628" cy="452628"/>
          </a:xfrm>
          <a:prstGeom prst="rect">
            <a:avLst/>
          </a:prstGeom>
        </p:spPr>
      </p:pic>
      <p:sp>
        <p:nvSpPr>
          <p:cNvPr id="16" name="Text 289"/>
          <p:cNvSpPr txBox="1"/>
          <p:nvPr/>
        </p:nvSpPr>
        <p:spPr>
          <a:xfrm>
            <a:off x="3566160" y="2468880"/>
            <a:ext cx="2011680" cy="228600"/>
          </a:xfrm>
          <a:prstGeom prst="rect">
            <a:avLst/>
          </a:prstGeom>
          <a:noFill/>
          <a:ln/>
        </p:spPr>
        <p:txBody>
          <a:bodyPr wrap="square" lIns="0" tIns="0" rIns="0" bIns="0" rtlCol="0" anchor="ctr"/>
          <a:lstStyle/>
          <a:p>
            <a:pPr algn="ctr" indent="0" marL="0">
              <a:buNone/>
            </a:pPr>
            <a:r>
              <a:rPr lang="en-US" sz="1200" i="1" dirty="0">
                <a:solidFill>
                  <a:schemeClr val="tx1"/>
                </a:solidFill>
              </a:rPr>
              <a:t>Argo CD compares</a:t>
            </a:r>
            <a:endParaRPr lang="en-US" sz="1200" dirty="0"/>
          </a:p>
        </p:txBody>
      </p:sp>
      <p:sp>
        <p:nvSpPr>
          <p:cNvPr id="17" name="Card 290"/>
          <p:cNvSpPr/>
          <p:nvPr/>
        </p:nvSpPr>
        <p:spPr>
          <a:xfrm>
            <a:off x="3703320" y="2743200"/>
            <a:ext cx="1737360" cy="292608"/>
          </a:xfrm>
          <a:prstGeom prst="roundRect">
            <a:avLst>
              <a:gd name="adj" fmla="val 50000"/>
            </a:avLst>
          </a:prstGeom>
          <a:solidFill>
            <a:schemeClr val="accent6"/>
          </a:solidFill>
          <a:ln/>
        </p:spPr>
      </p:sp>
      <p:sp>
        <p:nvSpPr>
          <p:cNvPr id="18" name="Text 291"/>
          <p:cNvSpPr txBox="1"/>
          <p:nvPr/>
        </p:nvSpPr>
        <p:spPr>
          <a:xfrm>
            <a:off x="3703320" y="2743200"/>
            <a:ext cx="1737360" cy="292608"/>
          </a:xfrm>
          <a:prstGeom prst="rect">
            <a:avLst/>
          </a:prstGeom>
          <a:noFill/>
          <a:ln/>
        </p:spPr>
        <p:txBody>
          <a:bodyPr wrap="square" lIns="0" tIns="0" rIns="0" bIns="0" rtlCol="0" anchor="ctr"/>
          <a:lstStyle/>
          <a:p>
            <a:pPr algn="ctr" indent="0" marL="0">
              <a:buNone/>
            </a:pPr>
            <a:r>
              <a:rPr lang="en-US" sz="1300" b="1" dirty="0">
                <a:solidFill>
                  <a:schemeClr val="bg1"/>
                </a:solidFill>
              </a:rPr>
              <a:t>OUT OF SYNC</a:t>
            </a:r>
            <a:endParaRPr lang="en-US" sz="1300" dirty="0"/>
          </a:p>
        </p:txBody>
      </p:sp>
      <p:sp>
        <p:nvSpPr>
          <p:cNvPr id="19" name="Connector 292"/>
          <p:cNvSpPr/>
          <p:nvPr/>
        </p:nvSpPr>
        <p:spPr>
          <a:xfrm>
            <a:off x="3044952" y="2011680"/>
            <a:ext cx="1069848" cy="0"/>
          </a:xfrm>
          <a:prstGeom prst="line">
            <a:avLst/>
          </a:prstGeom>
          <a:noFill/>
          <a:ln w="22225">
            <a:solidFill>
              <a:schemeClr val="tx1"/>
            </a:solidFill>
            <a:prstDash val="solid"/>
            <a:tailEnd type="triangle"/>
          </a:ln>
        </p:spPr>
      </p:sp>
      <p:sp>
        <p:nvSpPr>
          <p:cNvPr id="20" name="Connector 293"/>
          <p:cNvSpPr/>
          <p:nvPr/>
        </p:nvSpPr>
        <p:spPr>
          <a:xfrm flipH="1">
            <a:off x="5029200" y="2011680"/>
            <a:ext cx="1069848" cy="0"/>
          </a:xfrm>
          <a:prstGeom prst="line">
            <a:avLst/>
          </a:prstGeom>
          <a:noFill/>
          <a:ln w="22225">
            <a:solidFill>
              <a:schemeClr val="tx1"/>
            </a:solidFill>
            <a:prstDash val="solid"/>
            <a:tailEnd type="triangle"/>
          </a:ln>
        </p:spPr>
      </p:sp>
      <p:sp>
        <p:nvSpPr>
          <p:cNvPr id="21" name="Text 294"/>
          <p:cNvSpPr txBox="1"/>
          <p:nvPr/>
        </p:nvSpPr>
        <p:spPr>
          <a:xfrm>
            <a:off x="457200" y="3154680"/>
            <a:ext cx="8229600" cy="274320"/>
          </a:xfrm>
          <a:prstGeom prst="rect">
            <a:avLst/>
          </a:prstGeom>
          <a:noFill/>
          <a:ln/>
        </p:spPr>
        <p:txBody>
          <a:bodyPr wrap="square" lIns="0" tIns="0" rIns="0" bIns="0" rtlCol="0" anchor="ctr"/>
          <a:lstStyle/>
          <a:p>
            <a:pPr indent="0" marL="0">
              <a:buNone/>
            </a:pPr>
            <a:r>
              <a:rPr lang="en-US" sz="1400" b="1" dirty="0">
                <a:solidFill>
                  <a:schemeClr val="tx2"/>
                </a:solidFill>
              </a:rPr>
              <a:t>Sync policy is a choice, set per application or environment</a:t>
            </a:r>
            <a:endParaRPr lang="en-US" sz="1400" dirty="0"/>
          </a:p>
        </p:txBody>
      </p:sp>
      <p:sp>
        <p:nvSpPr>
          <p:cNvPr id="22" name="Card 295"/>
          <p:cNvSpPr/>
          <p:nvPr/>
        </p:nvSpPr>
        <p:spPr>
          <a:xfrm>
            <a:off x="457200" y="3474720"/>
            <a:ext cx="4023360" cy="1097280"/>
          </a:xfrm>
          <a:prstGeom prst="roundRect">
            <a:avLst>
              <a:gd name="adj" fmla="val 6667"/>
            </a:avLst>
          </a:prstGeom>
          <a:solidFill>
            <a:schemeClr val="bg2"/>
          </a:solidFill>
          <a:ln/>
        </p:spPr>
      </p:sp>
      <p:sp>
        <p:nvSpPr>
          <p:cNvPr id="23" name="Text 296"/>
          <p:cNvSpPr txBox="1"/>
          <p:nvPr/>
        </p:nvSpPr>
        <p:spPr>
          <a:xfrm>
            <a:off x="640080" y="3474720"/>
            <a:ext cx="3657600" cy="1097280"/>
          </a:xfrm>
          <a:prstGeom prst="rect">
            <a:avLst/>
          </a:prstGeom>
          <a:noFill/>
          <a:ln/>
        </p:spPr>
        <p:txBody>
          <a:bodyPr wrap="square" lIns="0" tIns="0" rIns="0" bIns="0" rtlCol="0" anchor="ctr"/>
          <a:lstStyle/>
          <a:p>
            <a:pPr indent="0" marL="0">
              <a:buNone/>
            </a:pPr>
            <a:r>
              <a:rPr lang="en-US" sz="1400" b="1" dirty="0">
                <a:solidFill>
                  <a:schemeClr val="tx1"/>
                </a:solidFill>
              </a:rPr>
              <a:t>Automated sync</a:t>
            </a:r>
            <a:endParaRPr lang="en-US" sz="1400" dirty="0"/>
          </a:p>
          <a:p>
            <a:pPr indent="0" marL="0">
              <a:buNone/>
            </a:pPr>
            <a:r>
              <a:rPr lang="en-US" sz="1300" dirty="0">
                <a:solidFill>
                  <a:schemeClr val="tx1"/>
                </a:solidFill>
              </a:rPr>
              <a:t>Argo CD applies the change itself. Self-heal and prune are optional settings.</a:t>
            </a:r>
            <a:endParaRPr lang="en-US" sz="1400" dirty="0"/>
          </a:p>
        </p:txBody>
      </p:sp>
      <p:sp>
        <p:nvSpPr>
          <p:cNvPr id="24" name="Card 297"/>
          <p:cNvSpPr/>
          <p:nvPr/>
        </p:nvSpPr>
        <p:spPr>
          <a:xfrm>
            <a:off x="4663440" y="3474720"/>
            <a:ext cx="4023360" cy="1097280"/>
          </a:xfrm>
          <a:prstGeom prst="roundRect">
            <a:avLst>
              <a:gd name="adj" fmla="val 6667"/>
            </a:avLst>
          </a:prstGeom>
          <a:solidFill>
            <a:schemeClr val="bg2"/>
          </a:solidFill>
          <a:ln/>
        </p:spPr>
      </p:sp>
      <p:sp>
        <p:nvSpPr>
          <p:cNvPr id="25" name="Text 298"/>
          <p:cNvSpPr txBox="1"/>
          <p:nvPr/>
        </p:nvSpPr>
        <p:spPr>
          <a:xfrm>
            <a:off x="4846320" y="3474720"/>
            <a:ext cx="3657600" cy="1097280"/>
          </a:xfrm>
          <a:prstGeom prst="rect">
            <a:avLst/>
          </a:prstGeom>
          <a:noFill/>
          <a:ln/>
        </p:spPr>
        <p:txBody>
          <a:bodyPr wrap="square" lIns="0" tIns="0" rIns="0" bIns="0" rtlCol="0" anchor="ctr"/>
          <a:lstStyle/>
          <a:p>
            <a:pPr indent="0" marL="0">
              <a:buNone/>
            </a:pPr>
            <a:r>
              <a:rPr lang="en-US" sz="1400" b="1" dirty="0">
                <a:solidFill>
                  <a:schemeClr val="tx1"/>
                </a:solidFill>
              </a:rPr>
              <a:t>Manual sync</a:t>
            </a:r>
            <a:endParaRPr lang="en-US" sz="1400" dirty="0"/>
          </a:p>
          <a:p>
            <a:pPr indent="0" marL="0">
              <a:buNone/>
            </a:pPr>
            <a:r>
              <a:rPr lang="en-US" sz="1300" dirty="0">
                <a:solidFill>
                  <a:schemeClr val="tx1"/>
                </a:solidFill>
              </a:rPr>
              <a:t>Argo CD flags OutOfSync. A person with permission triggers the sync.</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Approval &amp; Governance Model</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Existing governance is preserved. It moves to the pull request and the sync step</a:t>
            </a:r>
            <a:endParaRPr lang="en-US" sz="1500" dirty="0"/>
          </a:p>
        </p:txBody>
      </p:sp>
      <p:sp>
        <p:nvSpPr>
          <p:cNvPr id="4" name="Card 299"/>
          <p:cNvSpPr/>
          <p:nvPr/>
        </p:nvSpPr>
        <p:spPr>
          <a:xfrm>
            <a:off x="457200" y="1371600"/>
            <a:ext cx="1828800" cy="685800"/>
          </a:xfrm>
          <a:prstGeom prst="roundRect">
            <a:avLst>
              <a:gd name="adj" fmla="val 10667"/>
            </a:avLst>
          </a:prstGeom>
          <a:solidFill>
            <a:schemeClr val="bg2"/>
          </a:solidFill>
          <a:ln/>
        </p:spPr>
      </p:sp>
      <p:sp>
        <p:nvSpPr>
          <p:cNvPr id="5" name="Text 300"/>
          <p:cNvSpPr txBox="1"/>
          <p:nvPr/>
        </p:nvSpPr>
        <p:spPr>
          <a:xfrm>
            <a:off x="530352" y="1371600"/>
            <a:ext cx="1682496" cy="685800"/>
          </a:xfrm>
          <a:prstGeom prst="rect">
            <a:avLst/>
          </a:prstGeom>
          <a:noFill/>
          <a:ln/>
        </p:spPr>
        <p:txBody>
          <a:bodyPr wrap="square" lIns="0" tIns="0" rIns="0" bIns="0" rtlCol="0" anchor="ctr"/>
          <a:lstStyle/>
          <a:p>
            <a:pPr algn="ctr" indent="0" marL="0">
              <a:buNone/>
            </a:pPr>
            <a:r>
              <a:rPr lang="en-US" sz="1400" b="1" dirty="0">
                <a:solidFill>
                  <a:schemeClr val="tx1"/>
                </a:solidFill>
              </a:rPr>
              <a:t>Developer</a:t>
            </a:r>
            <a:endParaRPr lang="en-US" sz="1400" dirty="0"/>
          </a:p>
        </p:txBody>
      </p:sp>
      <p:sp>
        <p:nvSpPr>
          <p:cNvPr id="6" name="Connector 301"/>
          <p:cNvSpPr/>
          <p:nvPr/>
        </p:nvSpPr>
        <p:spPr>
          <a:xfrm>
            <a:off x="2304288" y="1714500"/>
            <a:ext cx="265176" cy="0"/>
          </a:xfrm>
          <a:prstGeom prst="line">
            <a:avLst/>
          </a:prstGeom>
          <a:noFill/>
          <a:ln w="19050">
            <a:solidFill>
              <a:schemeClr val="tx1"/>
            </a:solidFill>
            <a:prstDash val="solid"/>
            <a:tailEnd type="triangle"/>
          </a:ln>
        </p:spPr>
      </p:sp>
      <p:sp>
        <p:nvSpPr>
          <p:cNvPr id="7" name="Card 302"/>
          <p:cNvSpPr/>
          <p:nvPr/>
        </p:nvSpPr>
        <p:spPr>
          <a:xfrm>
            <a:off x="2587752" y="1371600"/>
            <a:ext cx="1828800" cy="685800"/>
          </a:xfrm>
          <a:prstGeom prst="roundRect">
            <a:avLst>
              <a:gd name="adj" fmla="val 10667"/>
            </a:avLst>
          </a:prstGeom>
          <a:solidFill>
            <a:schemeClr val="bg2"/>
          </a:solidFill>
          <a:ln/>
        </p:spPr>
      </p:sp>
      <p:sp>
        <p:nvSpPr>
          <p:cNvPr id="8" name="Text 303"/>
          <p:cNvSpPr txBox="1"/>
          <p:nvPr/>
        </p:nvSpPr>
        <p:spPr>
          <a:xfrm>
            <a:off x="2660904" y="1371600"/>
            <a:ext cx="1682496" cy="685800"/>
          </a:xfrm>
          <a:prstGeom prst="rect">
            <a:avLst/>
          </a:prstGeom>
          <a:noFill/>
          <a:ln/>
        </p:spPr>
        <p:txBody>
          <a:bodyPr wrap="square" lIns="0" tIns="0" rIns="0" bIns="0" rtlCol="0" anchor="ctr"/>
          <a:lstStyle/>
          <a:p>
            <a:pPr algn="ctr" indent="0" marL="0">
              <a:buNone/>
            </a:pPr>
            <a:r>
              <a:rPr lang="en-US" sz="1400" b="1" dirty="0">
                <a:solidFill>
                  <a:schemeClr val="tx1"/>
                </a:solidFill>
              </a:rPr>
              <a:t>Pull Request</a:t>
            </a:r>
            <a:endParaRPr lang="en-US" sz="1400" dirty="0"/>
          </a:p>
        </p:txBody>
      </p:sp>
      <p:sp>
        <p:nvSpPr>
          <p:cNvPr id="9" name="Connector 304"/>
          <p:cNvSpPr/>
          <p:nvPr/>
        </p:nvSpPr>
        <p:spPr>
          <a:xfrm>
            <a:off x="4434840" y="1714500"/>
            <a:ext cx="265176" cy="0"/>
          </a:xfrm>
          <a:prstGeom prst="line">
            <a:avLst/>
          </a:prstGeom>
          <a:noFill/>
          <a:ln w="19050">
            <a:solidFill>
              <a:schemeClr val="tx1"/>
            </a:solidFill>
            <a:prstDash val="solid"/>
            <a:tailEnd type="triangle"/>
          </a:ln>
        </p:spPr>
      </p:sp>
      <p:sp>
        <p:nvSpPr>
          <p:cNvPr id="10" name="Card 305"/>
          <p:cNvSpPr/>
          <p:nvPr/>
        </p:nvSpPr>
        <p:spPr>
          <a:xfrm>
            <a:off x="4718304" y="1371600"/>
            <a:ext cx="1828800" cy="685800"/>
          </a:xfrm>
          <a:prstGeom prst="roundRect">
            <a:avLst>
              <a:gd name="adj" fmla="val 10667"/>
            </a:avLst>
          </a:prstGeom>
          <a:solidFill>
            <a:schemeClr val="accent3"/>
          </a:solidFill>
          <a:ln/>
        </p:spPr>
      </p:sp>
      <p:sp>
        <p:nvSpPr>
          <p:cNvPr id="11" name="Text 306"/>
          <p:cNvSpPr txBox="1"/>
          <p:nvPr/>
        </p:nvSpPr>
        <p:spPr>
          <a:xfrm>
            <a:off x="4791456" y="1371600"/>
            <a:ext cx="1682496" cy="685800"/>
          </a:xfrm>
          <a:prstGeom prst="rect">
            <a:avLst/>
          </a:prstGeom>
          <a:noFill/>
          <a:ln/>
        </p:spPr>
        <p:txBody>
          <a:bodyPr wrap="square" lIns="0" tIns="0" rIns="0" bIns="0" rtlCol="0" anchor="ctr"/>
          <a:lstStyle/>
          <a:p>
            <a:pPr algn="ctr" indent="0" marL="0">
              <a:buNone/>
            </a:pPr>
            <a:r>
              <a:rPr lang="en-US" sz="1400" b="1" dirty="0">
                <a:solidFill>
                  <a:schemeClr val="bg1"/>
                </a:solidFill>
              </a:rPr>
              <a:t>Review / Approval</a:t>
            </a:r>
            <a:endParaRPr lang="en-US" sz="1400" dirty="0"/>
          </a:p>
        </p:txBody>
      </p:sp>
      <p:sp>
        <p:nvSpPr>
          <p:cNvPr id="12" name="Connector 307"/>
          <p:cNvSpPr/>
          <p:nvPr/>
        </p:nvSpPr>
        <p:spPr>
          <a:xfrm>
            <a:off x="6565392" y="1714500"/>
            <a:ext cx="265176" cy="0"/>
          </a:xfrm>
          <a:prstGeom prst="line">
            <a:avLst/>
          </a:prstGeom>
          <a:noFill/>
          <a:ln w="19050">
            <a:solidFill>
              <a:schemeClr val="tx1"/>
            </a:solidFill>
            <a:prstDash val="solid"/>
            <a:tailEnd type="triangle"/>
          </a:ln>
        </p:spPr>
      </p:sp>
      <p:sp>
        <p:nvSpPr>
          <p:cNvPr id="13" name="Card 308"/>
          <p:cNvSpPr/>
          <p:nvPr/>
        </p:nvSpPr>
        <p:spPr>
          <a:xfrm>
            <a:off x="6848856" y="1371600"/>
            <a:ext cx="1828800" cy="685800"/>
          </a:xfrm>
          <a:prstGeom prst="roundRect">
            <a:avLst>
              <a:gd name="adj" fmla="val 10667"/>
            </a:avLst>
          </a:prstGeom>
          <a:solidFill>
            <a:schemeClr val="accent5"/>
          </a:solidFill>
          <a:ln/>
        </p:spPr>
      </p:sp>
      <p:sp>
        <p:nvSpPr>
          <p:cNvPr id="14" name="Text 309"/>
          <p:cNvSpPr txBox="1"/>
          <p:nvPr/>
        </p:nvSpPr>
        <p:spPr>
          <a:xfrm>
            <a:off x="6922008" y="1371600"/>
            <a:ext cx="1682496" cy="685800"/>
          </a:xfrm>
          <a:prstGeom prst="rect">
            <a:avLst/>
          </a:prstGeom>
          <a:noFill/>
          <a:ln/>
        </p:spPr>
        <p:txBody>
          <a:bodyPr wrap="square" lIns="0" tIns="0" rIns="0" bIns="0" rtlCol="0" anchor="ctr"/>
          <a:lstStyle/>
          <a:p>
            <a:pPr algn="ctr" indent="0" marL="0">
              <a:buNone/>
            </a:pPr>
            <a:r>
              <a:rPr lang="en-US" sz="1400" b="1" dirty="0">
                <a:solidFill>
                  <a:schemeClr val="bg1"/>
                </a:solidFill>
              </a:rPr>
              <a:t>GitHub Actions Validation</a:t>
            </a:r>
            <a:endParaRPr lang="en-US" sz="1400" dirty="0"/>
          </a:p>
        </p:txBody>
      </p:sp>
      <p:sp>
        <p:nvSpPr>
          <p:cNvPr id="15" name="Card 310"/>
          <p:cNvSpPr/>
          <p:nvPr/>
        </p:nvSpPr>
        <p:spPr>
          <a:xfrm>
            <a:off x="457200" y="2514600"/>
            <a:ext cx="1828800" cy="685800"/>
          </a:xfrm>
          <a:prstGeom prst="roundRect">
            <a:avLst>
              <a:gd name="adj" fmla="val 10667"/>
            </a:avLst>
          </a:prstGeom>
          <a:solidFill>
            <a:schemeClr val="bg2"/>
          </a:solidFill>
          <a:ln/>
        </p:spPr>
      </p:sp>
      <p:sp>
        <p:nvSpPr>
          <p:cNvPr id="16" name="Text 311"/>
          <p:cNvSpPr txBox="1"/>
          <p:nvPr/>
        </p:nvSpPr>
        <p:spPr>
          <a:xfrm>
            <a:off x="530352" y="2514600"/>
            <a:ext cx="1682496" cy="685800"/>
          </a:xfrm>
          <a:prstGeom prst="rect">
            <a:avLst/>
          </a:prstGeom>
          <a:noFill/>
          <a:ln/>
        </p:spPr>
        <p:txBody>
          <a:bodyPr wrap="square" lIns="0" tIns="0" rIns="0" bIns="0" rtlCol="0" anchor="ctr"/>
          <a:lstStyle/>
          <a:p>
            <a:pPr algn="ctr" indent="0" marL="0">
              <a:buNone/>
            </a:pPr>
            <a:r>
              <a:rPr lang="en-US" sz="1400" b="1" dirty="0">
                <a:solidFill>
                  <a:schemeClr val="tx1"/>
                </a:solidFill>
              </a:rPr>
              <a:t>Merge</a:t>
            </a:r>
            <a:endParaRPr lang="en-US" sz="1400" dirty="0"/>
          </a:p>
        </p:txBody>
      </p:sp>
      <p:sp>
        <p:nvSpPr>
          <p:cNvPr id="17" name="Connector 312"/>
          <p:cNvSpPr/>
          <p:nvPr/>
        </p:nvSpPr>
        <p:spPr>
          <a:xfrm>
            <a:off x="2304288" y="2857500"/>
            <a:ext cx="265176" cy="0"/>
          </a:xfrm>
          <a:prstGeom prst="line">
            <a:avLst/>
          </a:prstGeom>
          <a:noFill/>
          <a:ln w="19050">
            <a:solidFill>
              <a:schemeClr val="tx1"/>
            </a:solidFill>
            <a:prstDash val="solid"/>
            <a:tailEnd type="triangle"/>
          </a:ln>
        </p:spPr>
      </p:sp>
      <p:sp>
        <p:nvSpPr>
          <p:cNvPr id="18" name="Card 313"/>
          <p:cNvSpPr/>
          <p:nvPr/>
        </p:nvSpPr>
        <p:spPr>
          <a:xfrm>
            <a:off x="2587752" y="2514600"/>
            <a:ext cx="1828800" cy="685800"/>
          </a:xfrm>
          <a:prstGeom prst="roundRect">
            <a:avLst>
              <a:gd name="adj" fmla="val 10667"/>
            </a:avLst>
          </a:prstGeom>
          <a:solidFill>
            <a:schemeClr val="accent5"/>
          </a:solidFill>
          <a:ln/>
        </p:spPr>
      </p:sp>
      <p:sp>
        <p:nvSpPr>
          <p:cNvPr id="19" name="Text 314"/>
          <p:cNvSpPr txBox="1"/>
          <p:nvPr/>
        </p:nvSpPr>
        <p:spPr>
          <a:xfrm>
            <a:off x="2660904" y="2514600"/>
            <a:ext cx="1682496" cy="685800"/>
          </a:xfrm>
          <a:prstGeom prst="rect">
            <a:avLst/>
          </a:prstGeom>
          <a:noFill/>
          <a:ln/>
        </p:spPr>
        <p:txBody>
          <a:bodyPr wrap="square" lIns="0" tIns="0" rIns="0" bIns="0" rtlCol="0" anchor="ctr"/>
          <a:lstStyle/>
          <a:p>
            <a:pPr algn="ctr" indent="0" marL="0">
              <a:buNone/>
            </a:pPr>
            <a:r>
              <a:rPr lang="en-US" sz="1400" b="1" dirty="0">
                <a:solidFill>
                  <a:schemeClr val="bg1"/>
                </a:solidFill>
              </a:rPr>
              <a:t>GitOps Repository</a:t>
            </a:r>
            <a:endParaRPr lang="en-US" sz="1400" dirty="0"/>
          </a:p>
        </p:txBody>
      </p:sp>
      <p:sp>
        <p:nvSpPr>
          <p:cNvPr id="20" name="Connector 315"/>
          <p:cNvSpPr/>
          <p:nvPr/>
        </p:nvSpPr>
        <p:spPr>
          <a:xfrm>
            <a:off x="4434840" y="2857500"/>
            <a:ext cx="265176" cy="0"/>
          </a:xfrm>
          <a:prstGeom prst="line">
            <a:avLst/>
          </a:prstGeom>
          <a:noFill/>
          <a:ln w="19050">
            <a:solidFill>
              <a:schemeClr val="tx1"/>
            </a:solidFill>
            <a:prstDash val="solid"/>
            <a:tailEnd type="triangle"/>
          </a:ln>
        </p:spPr>
      </p:sp>
      <p:sp>
        <p:nvSpPr>
          <p:cNvPr id="21" name="Card 316"/>
          <p:cNvSpPr/>
          <p:nvPr/>
        </p:nvSpPr>
        <p:spPr>
          <a:xfrm>
            <a:off x="4718304" y="2514600"/>
            <a:ext cx="1828800" cy="685800"/>
          </a:xfrm>
          <a:prstGeom prst="roundRect">
            <a:avLst>
              <a:gd name="adj" fmla="val 10667"/>
            </a:avLst>
          </a:prstGeom>
          <a:solidFill>
            <a:schemeClr val="accent2"/>
          </a:solidFill>
          <a:ln/>
        </p:spPr>
      </p:sp>
      <p:sp>
        <p:nvSpPr>
          <p:cNvPr id="22" name="Text 317"/>
          <p:cNvSpPr txBox="1"/>
          <p:nvPr/>
        </p:nvSpPr>
        <p:spPr>
          <a:xfrm>
            <a:off x="4791456" y="2514600"/>
            <a:ext cx="1682496" cy="685800"/>
          </a:xfrm>
          <a:prstGeom prst="rect">
            <a:avLst/>
          </a:prstGeom>
          <a:noFill/>
          <a:ln/>
        </p:spPr>
        <p:txBody>
          <a:bodyPr wrap="square" lIns="0" tIns="0" rIns="0" bIns="0" rtlCol="0" anchor="ctr"/>
          <a:lstStyle/>
          <a:p>
            <a:pPr algn="ctr" indent="0" marL="0">
              <a:buNone/>
            </a:pPr>
            <a:r>
              <a:rPr lang="en-US" sz="1400" b="1" dirty="0">
                <a:solidFill>
                  <a:schemeClr val="tx1"/>
                </a:solidFill>
              </a:rPr>
              <a:t>Argo CD</a:t>
            </a:r>
            <a:endParaRPr lang="en-US" sz="1400" dirty="0"/>
          </a:p>
        </p:txBody>
      </p:sp>
      <p:sp>
        <p:nvSpPr>
          <p:cNvPr id="23" name="Connector 318"/>
          <p:cNvSpPr/>
          <p:nvPr/>
        </p:nvSpPr>
        <p:spPr>
          <a:xfrm>
            <a:off x="6565392" y="2857500"/>
            <a:ext cx="265176" cy="0"/>
          </a:xfrm>
          <a:prstGeom prst="line">
            <a:avLst/>
          </a:prstGeom>
          <a:noFill/>
          <a:ln w="19050">
            <a:solidFill>
              <a:schemeClr val="tx1"/>
            </a:solidFill>
            <a:prstDash val="solid"/>
            <a:tailEnd type="triangle"/>
          </a:ln>
        </p:spPr>
      </p:sp>
      <p:sp>
        <p:nvSpPr>
          <p:cNvPr id="24" name="Card 319"/>
          <p:cNvSpPr/>
          <p:nvPr/>
        </p:nvSpPr>
        <p:spPr>
          <a:xfrm>
            <a:off x="6848856" y="2514600"/>
            <a:ext cx="1828800" cy="685800"/>
          </a:xfrm>
          <a:prstGeom prst="roundRect">
            <a:avLst>
              <a:gd name="adj" fmla="val 10667"/>
            </a:avLst>
          </a:prstGeom>
          <a:solidFill>
            <a:schemeClr val="accent1"/>
          </a:solidFill>
          <a:ln/>
        </p:spPr>
      </p:sp>
      <p:sp>
        <p:nvSpPr>
          <p:cNvPr id="25" name="Text 320"/>
          <p:cNvSpPr txBox="1"/>
          <p:nvPr/>
        </p:nvSpPr>
        <p:spPr>
          <a:xfrm>
            <a:off x="6922008" y="2514600"/>
            <a:ext cx="1682496" cy="685800"/>
          </a:xfrm>
          <a:prstGeom prst="rect">
            <a:avLst/>
          </a:prstGeom>
          <a:noFill/>
          <a:ln/>
        </p:spPr>
        <p:txBody>
          <a:bodyPr wrap="square" lIns="0" tIns="0" rIns="0" bIns="0" rtlCol="0" anchor="ctr"/>
          <a:lstStyle/>
          <a:p>
            <a:pPr algn="ctr" indent="0" marL="0">
              <a:buNone/>
            </a:pPr>
            <a:r>
              <a:rPr lang="en-US" sz="1400" b="1" dirty="0">
                <a:solidFill>
                  <a:schemeClr val="bg1"/>
                </a:solidFill>
              </a:rPr>
              <a:t>Production Kubernetes</a:t>
            </a:r>
            <a:endParaRPr lang="en-US" sz="1400" dirty="0"/>
          </a:p>
        </p:txBody>
      </p:sp>
      <p:sp>
        <p:nvSpPr>
          <p:cNvPr id="26" name="Connector 321"/>
          <p:cNvSpPr/>
          <p:nvPr/>
        </p:nvSpPr>
        <p:spPr>
          <a:xfrm>
            <a:off x="7763256" y="2075688"/>
            <a:ext cx="0" cy="210312"/>
          </a:xfrm>
          <a:prstGeom prst="line">
            <a:avLst/>
          </a:prstGeom>
          <a:noFill/>
          <a:ln w="19050">
            <a:solidFill>
              <a:schemeClr val="tx1"/>
            </a:solidFill>
            <a:prstDash val="solid"/>
          </a:ln>
        </p:spPr>
      </p:sp>
      <p:sp>
        <p:nvSpPr>
          <p:cNvPr id="27" name="Connector 322"/>
          <p:cNvSpPr/>
          <p:nvPr/>
        </p:nvSpPr>
        <p:spPr>
          <a:xfrm flipH="1">
            <a:off x="1371600" y="2286000"/>
            <a:ext cx="6391656" cy="0"/>
          </a:xfrm>
          <a:prstGeom prst="line">
            <a:avLst/>
          </a:prstGeom>
          <a:noFill/>
          <a:ln w="19050">
            <a:solidFill>
              <a:schemeClr val="tx1"/>
            </a:solidFill>
            <a:prstDash val="solid"/>
          </a:ln>
        </p:spPr>
      </p:sp>
      <p:sp>
        <p:nvSpPr>
          <p:cNvPr id="28" name="Connector 323"/>
          <p:cNvSpPr/>
          <p:nvPr/>
        </p:nvSpPr>
        <p:spPr>
          <a:xfrm>
            <a:off x="1371600" y="2286000"/>
            <a:ext cx="0" cy="210312"/>
          </a:xfrm>
          <a:prstGeom prst="line">
            <a:avLst/>
          </a:prstGeom>
          <a:noFill/>
          <a:ln w="19050">
            <a:solidFill>
              <a:schemeClr val="tx1"/>
            </a:solidFill>
            <a:prstDash val="solid"/>
            <a:tailEnd type="triangle"/>
          </a:ln>
        </p:spPr>
      </p:sp>
      <p:sp>
        <p:nvSpPr>
          <p:cNvPr id="29" name="Card 324"/>
          <p:cNvSpPr/>
          <p:nvPr/>
        </p:nvSpPr>
        <p:spPr>
          <a:xfrm>
            <a:off x="457200" y="3383280"/>
            <a:ext cx="1920240" cy="1234440"/>
          </a:xfrm>
          <a:prstGeom prst="roundRect">
            <a:avLst>
              <a:gd name="adj" fmla="val 5926"/>
            </a:avLst>
          </a:prstGeom>
          <a:solidFill>
            <a:schemeClr val="bg2"/>
          </a:solidFill>
          <a:ln/>
        </p:spPr>
      </p:sp>
      <p:sp>
        <p:nvSpPr>
          <p:cNvPr id="30" name="Text 325"/>
          <p:cNvSpPr txBox="1"/>
          <p:nvPr/>
        </p:nvSpPr>
        <p:spPr>
          <a:xfrm>
            <a:off x="566928" y="3383280"/>
            <a:ext cx="1700784" cy="1234440"/>
          </a:xfrm>
          <a:prstGeom prst="rect">
            <a:avLst/>
          </a:prstGeom>
          <a:noFill/>
          <a:ln/>
        </p:spPr>
        <p:txBody>
          <a:bodyPr wrap="square" lIns="0" tIns="0" rIns="0" bIns="0" rtlCol="0" anchor="ctr"/>
          <a:lstStyle/>
          <a:p>
            <a:pPr indent="0" marL="0">
              <a:buNone/>
            </a:pPr>
            <a:r>
              <a:rPr lang="en-US" sz="1400" b="1" dirty="0">
                <a:solidFill>
                  <a:schemeClr val="tx1"/>
                </a:solidFill>
              </a:rPr>
              <a:t>Automated sync</a:t>
            </a:r>
            <a:endParaRPr lang="en-US" sz="1400" dirty="0"/>
          </a:p>
          <a:p>
            <a:pPr indent="0" marL="0">
              <a:buNone/>
            </a:pPr>
            <a:r>
              <a:rPr lang="en-US" sz="1200" dirty="0">
                <a:solidFill>
                  <a:schemeClr val="tx1"/>
                </a:solidFill>
              </a:rPr>
              <a:t>Merged changes apply on their own. Often used for lower environments.</a:t>
            </a:r>
            <a:endParaRPr lang="en-US" sz="1400" dirty="0"/>
          </a:p>
        </p:txBody>
      </p:sp>
      <p:sp>
        <p:nvSpPr>
          <p:cNvPr id="31" name="Card 326"/>
          <p:cNvSpPr/>
          <p:nvPr/>
        </p:nvSpPr>
        <p:spPr>
          <a:xfrm>
            <a:off x="2560320" y="3383280"/>
            <a:ext cx="1920240" cy="1234440"/>
          </a:xfrm>
          <a:prstGeom prst="roundRect">
            <a:avLst>
              <a:gd name="adj" fmla="val 5926"/>
            </a:avLst>
          </a:prstGeom>
          <a:solidFill>
            <a:schemeClr val="bg2"/>
          </a:solidFill>
          <a:ln/>
        </p:spPr>
      </p:sp>
      <p:sp>
        <p:nvSpPr>
          <p:cNvPr id="32" name="Text 327"/>
          <p:cNvSpPr txBox="1"/>
          <p:nvPr/>
        </p:nvSpPr>
        <p:spPr>
          <a:xfrm>
            <a:off x="2670048" y="3383280"/>
            <a:ext cx="1700784" cy="1234440"/>
          </a:xfrm>
          <a:prstGeom prst="rect">
            <a:avLst/>
          </a:prstGeom>
          <a:noFill/>
          <a:ln/>
        </p:spPr>
        <p:txBody>
          <a:bodyPr wrap="square" lIns="0" tIns="0" rIns="0" bIns="0" rtlCol="0" anchor="ctr"/>
          <a:lstStyle/>
          <a:p>
            <a:pPr indent="0" marL="0">
              <a:buNone/>
            </a:pPr>
            <a:r>
              <a:rPr lang="en-US" sz="1400" b="1" dirty="0">
                <a:solidFill>
                  <a:schemeClr val="tx1"/>
                </a:solidFill>
              </a:rPr>
              <a:t>Manual sync</a:t>
            </a:r>
            <a:endParaRPr lang="en-US" sz="1400" dirty="0"/>
          </a:p>
          <a:p>
            <a:pPr indent="0" marL="0">
              <a:buNone/>
            </a:pPr>
            <a:r>
              <a:rPr lang="en-US" sz="1200" dirty="0">
                <a:solidFill>
                  <a:schemeClr val="tx1"/>
                </a:solidFill>
              </a:rPr>
              <a:t>Argo CD shows OutOfSync. A named operator triggers the sync.</a:t>
            </a:r>
            <a:endParaRPr lang="en-US" sz="1400" dirty="0"/>
          </a:p>
        </p:txBody>
      </p:sp>
      <p:sp>
        <p:nvSpPr>
          <p:cNvPr id="33" name="Card 328"/>
          <p:cNvSpPr/>
          <p:nvPr/>
        </p:nvSpPr>
        <p:spPr>
          <a:xfrm>
            <a:off x="4663440" y="3383280"/>
            <a:ext cx="1920240" cy="1234440"/>
          </a:xfrm>
          <a:prstGeom prst="roundRect">
            <a:avLst>
              <a:gd name="adj" fmla="val 5926"/>
            </a:avLst>
          </a:prstGeom>
          <a:solidFill>
            <a:schemeClr val="bg2"/>
          </a:solidFill>
          <a:ln/>
        </p:spPr>
      </p:sp>
      <p:sp>
        <p:nvSpPr>
          <p:cNvPr id="34" name="Text 329"/>
          <p:cNvSpPr txBox="1"/>
          <p:nvPr/>
        </p:nvSpPr>
        <p:spPr>
          <a:xfrm>
            <a:off x="4773168" y="3383280"/>
            <a:ext cx="1700784" cy="1234440"/>
          </a:xfrm>
          <a:prstGeom prst="rect">
            <a:avLst/>
          </a:prstGeom>
          <a:noFill/>
          <a:ln/>
        </p:spPr>
        <p:txBody>
          <a:bodyPr wrap="square" lIns="0" tIns="0" rIns="0" bIns="0" rtlCol="0" anchor="ctr"/>
          <a:lstStyle/>
          <a:p>
            <a:pPr indent="0" marL="0">
              <a:buNone/>
            </a:pPr>
            <a:r>
              <a:rPr lang="en-US" sz="1400" b="1" dirty="0">
                <a:solidFill>
                  <a:schemeClr val="tx1"/>
                </a:solidFill>
              </a:rPr>
              <a:t>PR-based approval</a:t>
            </a:r>
            <a:endParaRPr lang="en-US" sz="1400" dirty="0"/>
          </a:p>
          <a:p>
            <a:pPr indent="0" marL="0">
              <a:buNone/>
            </a:pPr>
            <a:r>
              <a:rPr lang="en-US" sz="1200" dirty="0">
                <a:solidFill>
                  <a:schemeClr val="tx1"/>
                </a:solidFill>
              </a:rPr>
              <a:t>Approval is on the GitOps PR, enforced by branch protection.</a:t>
            </a:r>
            <a:endParaRPr lang="en-US" sz="1400" dirty="0"/>
          </a:p>
        </p:txBody>
      </p:sp>
      <p:sp>
        <p:nvSpPr>
          <p:cNvPr id="35" name="Card 330"/>
          <p:cNvSpPr/>
          <p:nvPr/>
        </p:nvSpPr>
        <p:spPr>
          <a:xfrm>
            <a:off x="6766560" y="3383280"/>
            <a:ext cx="1920240" cy="1234440"/>
          </a:xfrm>
          <a:prstGeom prst="roundRect">
            <a:avLst>
              <a:gd name="adj" fmla="val 5926"/>
            </a:avLst>
          </a:prstGeom>
          <a:solidFill>
            <a:schemeClr val="bg2"/>
          </a:solidFill>
          <a:ln/>
        </p:spPr>
      </p:sp>
      <p:sp>
        <p:nvSpPr>
          <p:cNvPr id="36" name="Text 331"/>
          <p:cNvSpPr txBox="1"/>
          <p:nvPr/>
        </p:nvSpPr>
        <p:spPr>
          <a:xfrm>
            <a:off x="6876288" y="3383280"/>
            <a:ext cx="1700784" cy="1234440"/>
          </a:xfrm>
          <a:prstGeom prst="rect">
            <a:avLst/>
          </a:prstGeom>
          <a:noFill/>
          <a:ln/>
        </p:spPr>
        <p:txBody>
          <a:bodyPr wrap="square" lIns="0" tIns="0" rIns="0" bIns="0" rtlCol="0" anchor="ctr"/>
          <a:lstStyle/>
          <a:p>
            <a:pPr indent="0" marL="0">
              <a:buNone/>
            </a:pPr>
            <a:r>
              <a:rPr lang="en-US" sz="1400" b="1" dirty="0">
                <a:solidFill>
                  <a:schemeClr val="tx1"/>
                </a:solidFill>
              </a:rPr>
              <a:t>Added PROD controls</a:t>
            </a:r>
            <a:endParaRPr lang="en-US" sz="1400" dirty="0"/>
          </a:p>
          <a:p>
            <a:pPr indent="0" marL="0">
              <a:buNone/>
            </a:pPr>
            <a:r>
              <a:rPr lang="en-US" sz="1200" dirty="0">
                <a:solidFill>
                  <a:schemeClr val="tx1"/>
                </a:solidFill>
              </a:rPr>
              <a:t>Optional: sync windows, restricted RBAC, change-ticket checks.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Rollback Scenario</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Rolling back means changing the desired state in Git</a:t>
            </a:r>
            <a:endParaRPr lang="en-US" sz="1500" dirty="0"/>
          </a:p>
        </p:txBody>
      </p:sp>
      <p:sp>
        <p:nvSpPr>
          <p:cNvPr id="4" name="Card 332"/>
          <p:cNvSpPr/>
          <p:nvPr/>
        </p:nvSpPr>
        <p:spPr>
          <a:xfrm>
            <a:off x="457200" y="1371600"/>
            <a:ext cx="3474720" cy="1097280"/>
          </a:xfrm>
          <a:prstGeom prst="roundRect">
            <a:avLst>
              <a:gd name="adj" fmla="val 6667"/>
            </a:avLst>
          </a:prstGeom>
          <a:solidFill>
            <a:schemeClr val="accent6"/>
          </a:solidFill>
          <a:ln/>
        </p:spPr>
      </p:sp>
      <p:sp>
        <p:nvSpPr>
          <p:cNvPr id="5" name="Text 333"/>
          <p:cNvSpPr txBox="1"/>
          <p:nvPr/>
        </p:nvSpPr>
        <p:spPr>
          <a:xfrm>
            <a:off x="685800" y="1371600"/>
            <a:ext cx="3108960" cy="1097280"/>
          </a:xfrm>
          <a:prstGeom prst="rect">
            <a:avLst/>
          </a:prstGeom>
          <a:noFill/>
          <a:ln/>
        </p:spPr>
        <p:txBody>
          <a:bodyPr wrap="square" lIns="0" tIns="0" rIns="0" bIns="0" rtlCol="0" anchor="ctr"/>
          <a:lstStyle/>
          <a:p>
            <a:pPr indent="0" marL="0">
              <a:buNone/>
            </a:pPr>
            <a:r>
              <a:rPr lang="en-US" sz="2600" b="1" dirty="0">
                <a:solidFill>
                  <a:schemeClr val="bg1"/>
                </a:solidFill>
              </a:rPr>
              <a:t>PROD  ·  2.4.7</a:t>
            </a:r>
            <a:endParaRPr lang="en-US" sz="1400" dirty="0"/>
          </a:p>
          <a:p>
            <a:pPr indent="0" marL="0">
              <a:buNone/>
            </a:pPr>
            <a:r>
              <a:rPr lang="en-US" sz="1400" dirty="0">
                <a:solidFill>
                  <a:schemeClr val="bg1"/>
                </a:solidFill>
              </a:rPr>
              <a:t>Issue detected</a:t>
            </a:r>
            <a:endParaRPr lang="en-US" sz="1400" dirty="0"/>
          </a:p>
        </p:txBody>
      </p:sp>
      <p:sp>
        <p:nvSpPr>
          <p:cNvPr id="6" name="Card 334"/>
          <p:cNvSpPr/>
          <p:nvPr/>
        </p:nvSpPr>
        <p:spPr>
          <a:xfrm>
            <a:off x="5212080" y="1371600"/>
            <a:ext cx="3474720" cy="1097280"/>
          </a:xfrm>
          <a:prstGeom prst="roundRect">
            <a:avLst>
              <a:gd name="adj" fmla="val 6667"/>
            </a:avLst>
          </a:prstGeom>
          <a:solidFill>
            <a:schemeClr val="accent3"/>
          </a:solidFill>
          <a:ln/>
        </p:spPr>
      </p:sp>
      <p:sp>
        <p:nvSpPr>
          <p:cNvPr id="7" name="Text 335"/>
          <p:cNvSpPr txBox="1"/>
          <p:nvPr/>
        </p:nvSpPr>
        <p:spPr>
          <a:xfrm>
            <a:off x="5440680" y="1371600"/>
            <a:ext cx="3108960" cy="1097280"/>
          </a:xfrm>
          <a:prstGeom prst="rect">
            <a:avLst/>
          </a:prstGeom>
          <a:noFill/>
          <a:ln/>
        </p:spPr>
        <p:txBody>
          <a:bodyPr wrap="square" lIns="0" tIns="0" rIns="0" bIns="0" rtlCol="0" anchor="ctr"/>
          <a:lstStyle/>
          <a:p>
            <a:pPr indent="0" marL="0">
              <a:buNone/>
            </a:pPr>
            <a:r>
              <a:rPr lang="en-US" sz="2600" b="1" dirty="0">
                <a:solidFill>
                  <a:schemeClr val="bg1"/>
                </a:solidFill>
              </a:rPr>
              <a:t>Known-good  ·  2.4.6</a:t>
            </a:r>
            <a:endParaRPr lang="en-US" sz="1400" dirty="0"/>
          </a:p>
          <a:p>
            <a:pPr indent="0" marL="0">
              <a:buNone/>
            </a:pPr>
            <a:r>
              <a:rPr lang="en-US" sz="1400" dirty="0">
                <a:solidFill>
                  <a:schemeClr val="bg1"/>
                </a:solidFill>
              </a:rPr>
              <a:t>Previous release</a:t>
            </a:r>
            <a:endParaRPr lang="en-US" sz="1400" dirty="0"/>
          </a:p>
        </p:txBody>
      </p:sp>
      <p:sp>
        <p:nvSpPr>
          <p:cNvPr id="8" name="Connector 336"/>
          <p:cNvSpPr/>
          <p:nvPr/>
        </p:nvSpPr>
        <p:spPr>
          <a:xfrm>
            <a:off x="4023360" y="1920240"/>
            <a:ext cx="1097280" cy="0"/>
          </a:xfrm>
          <a:prstGeom prst="line">
            <a:avLst/>
          </a:prstGeom>
          <a:noFill/>
          <a:ln w="28575">
            <a:solidFill>
              <a:schemeClr val="tx1"/>
            </a:solidFill>
            <a:prstDash val="solid"/>
            <a:tailEnd type="triangle"/>
          </a:ln>
        </p:spPr>
      </p:sp>
      <p:sp>
        <p:nvSpPr>
          <p:cNvPr id="9" name="Text 337"/>
          <p:cNvSpPr txBox="1"/>
          <p:nvPr/>
        </p:nvSpPr>
        <p:spPr>
          <a:xfrm>
            <a:off x="4023360" y="1600200"/>
            <a:ext cx="1097280" cy="256032"/>
          </a:xfrm>
          <a:prstGeom prst="rect">
            <a:avLst/>
          </a:prstGeom>
          <a:noFill/>
          <a:ln/>
        </p:spPr>
        <p:txBody>
          <a:bodyPr wrap="square" lIns="0" tIns="0" rIns="0" bIns="0" rtlCol="0" anchor="ctr"/>
          <a:lstStyle/>
          <a:p>
            <a:pPr algn="ctr" indent="0" marL="0">
              <a:buNone/>
            </a:pPr>
            <a:r>
              <a:rPr lang="en-US" sz="1200" b="1" dirty="0">
                <a:solidFill>
                  <a:schemeClr val="tx1"/>
                </a:solidFill>
              </a:rPr>
              <a:t>Git revert</a:t>
            </a:r>
            <a:endParaRPr lang="en-US" sz="1200" dirty="0"/>
          </a:p>
        </p:txBody>
      </p:sp>
      <p:sp>
        <p:nvSpPr>
          <p:cNvPr id="10" name="Card 338"/>
          <p:cNvSpPr/>
          <p:nvPr/>
        </p:nvSpPr>
        <p:spPr>
          <a:xfrm>
            <a:off x="457200" y="2697480"/>
            <a:ext cx="1463040" cy="1188720"/>
          </a:xfrm>
          <a:prstGeom prst="roundRect">
            <a:avLst>
              <a:gd name="adj" fmla="val 6154"/>
            </a:avLst>
          </a:prstGeom>
          <a:solidFill>
            <a:schemeClr val="bg2"/>
          </a:solidFill>
          <a:ln/>
        </p:spPr>
      </p:sp>
      <p:sp>
        <p:nvSpPr>
          <p:cNvPr id="11" name="Step number 339"/>
          <p:cNvSpPr/>
          <p:nvPr/>
        </p:nvSpPr>
        <p:spPr>
          <a:xfrm>
            <a:off x="566928" y="2807208"/>
            <a:ext cx="292608" cy="292608"/>
          </a:xfrm>
          <a:prstGeom prst="ellipse">
            <a:avLst/>
          </a:prstGeom>
          <a:solidFill>
            <a:schemeClr val="tx1"/>
          </a:solidFill>
          <a:ln/>
        </p:spPr>
      </p:sp>
      <p:sp>
        <p:nvSpPr>
          <p:cNvPr id="12" name="Text 340"/>
          <p:cNvSpPr txBox="1"/>
          <p:nvPr/>
        </p:nvSpPr>
        <p:spPr>
          <a:xfrm>
            <a:off x="566928" y="2807208"/>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3" name="Text 341"/>
          <p:cNvSpPr txBox="1"/>
          <p:nvPr/>
        </p:nvSpPr>
        <p:spPr>
          <a:xfrm>
            <a:off x="566928" y="3163824"/>
            <a:ext cx="1261872" cy="658368"/>
          </a:xfrm>
          <a:prstGeom prst="rect">
            <a:avLst/>
          </a:prstGeom>
          <a:noFill/>
          <a:ln/>
        </p:spPr>
        <p:txBody>
          <a:bodyPr wrap="square" lIns="0" tIns="0" rIns="0" bIns="0" rtlCol="0" anchor="t"/>
          <a:lstStyle/>
          <a:p>
            <a:pPr indent="0" marL="0">
              <a:buNone/>
            </a:pPr>
            <a:r>
              <a:rPr lang="en-US" sz="1400" b="1" dirty="0">
                <a:solidFill>
                  <a:schemeClr val="tx1"/>
                </a:solidFill>
              </a:rPr>
              <a:t>Revert desired state</a:t>
            </a:r>
            <a:endParaRPr lang="en-US" sz="1400" dirty="0"/>
          </a:p>
        </p:txBody>
      </p:sp>
      <p:sp>
        <p:nvSpPr>
          <p:cNvPr id="14" name="Connector 342"/>
          <p:cNvSpPr/>
          <p:nvPr/>
        </p:nvSpPr>
        <p:spPr>
          <a:xfrm>
            <a:off x="1938528" y="3291840"/>
            <a:ext cx="192024" cy="0"/>
          </a:xfrm>
          <a:prstGeom prst="line">
            <a:avLst/>
          </a:prstGeom>
          <a:noFill/>
          <a:ln w="19050">
            <a:solidFill>
              <a:schemeClr val="tx1"/>
            </a:solidFill>
            <a:prstDash val="solid"/>
            <a:tailEnd type="triangle"/>
          </a:ln>
        </p:spPr>
      </p:sp>
      <p:sp>
        <p:nvSpPr>
          <p:cNvPr id="15" name="Card 343"/>
          <p:cNvSpPr/>
          <p:nvPr/>
        </p:nvSpPr>
        <p:spPr>
          <a:xfrm>
            <a:off x="2148840" y="2697480"/>
            <a:ext cx="1463040" cy="1188720"/>
          </a:xfrm>
          <a:prstGeom prst="roundRect">
            <a:avLst>
              <a:gd name="adj" fmla="val 6154"/>
            </a:avLst>
          </a:prstGeom>
          <a:solidFill>
            <a:schemeClr val="bg2"/>
          </a:solidFill>
          <a:ln/>
        </p:spPr>
      </p:sp>
      <p:sp>
        <p:nvSpPr>
          <p:cNvPr id="16" name="Step number 344"/>
          <p:cNvSpPr/>
          <p:nvPr/>
        </p:nvSpPr>
        <p:spPr>
          <a:xfrm>
            <a:off x="2258568" y="2807208"/>
            <a:ext cx="292608" cy="292608"/>
          </a:xfrm>
          <a:prstGeom prst="ellipse">
            <a:avLst/>
          </a:prstGeom>
          <a:solidFill>
            <a:schemeClr val="tx1"/>
          </a:solidFill>
          <a:ln/>
        </p:spPr>
      </p:sp>
      <p:sp>
        <p:nvSpPr>
          <p:cNvPr id="17" name="Text 345"/>
          <p:cNvSpPr txBox="1"/>
          <p:nvPr/>
        </p:nvSpPr>
        <p:spPr>
          <a:xfrm>
            <a:off x="2258568" y="2807208"/>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8" name="Text 346"/>
          <p:cNvSpPr txBox="1"/>
          <p:nvPr/>
        </p:nvSpPr>
        <p:spPr>
          <a:xfrm>
            <a:off x="2258568" y="3163824"/>
            <a:ext cx="1261872" cy="658368"/>
          </a:xfrm>
          <a:prstGeom prst="rect">
            <a:avLst/>
          </a:prstGeom>
          <a:noFill/>
          <a:ln/>
        </p:spPr>
        <p:txBody>
          <a:bodyPr wrap="square" lIns="0" tIns="0" rIns="0" bIns="0" rtlCol="0" anchor="t"/>
          <a:lstStyle/>
          <a:p>
            <a:pPr indent="0" marL="0">
              <a:buNone/>
            </a:pPr>
            <a:r>
              <a:rPr lang="en-US" sz="1400" b="1" dirty="0">
                <a:solidFill>
                  <a:schemeClr val="tx1"/>
                </a:solidFill>
              </a:rPr>
              <a:t>Git change (revert / PR)</a:t>
            </a:r>
            <a:endParaRPr lang="en-US" sz="1400" dirty="0"/>
          </a:p>
        </p:txBody>
      </p:sp>
      <p:sp>
        <p:nvSpPr>
          <p:cNvPr id="19" name="Connector 347"/>
          <p:cNvSpPr/>
          <p:nvPr/>
        </p:nvSpPr>
        <p:spPr>
          <a:xfrm>
            <a:off x="3630168" y="3291840"/>
            <a:ext cx="192024" cy="0"/>
          </a:xfrm>
          <a:prstGeom prst="line">
            <a:avLst/>
          </a:prstGeom>
          <a:noFill/>
          <a:ln w="19050">
            <a:solidFill>
              <a:schemeClr val="tx1"/>
            </a:solidFill>
            <a:prstDash val="solid"/>
            <a:tailEnd type="triangle"/>
          </a:ln>
        </p:spPr>
      </p:sp>
      <p:sp>
        <p:nvSpPr>
          <p:cNvPr id="20" name="Card 348"/>
          <p:cNvSpPr/>
          <p:nvPr/>
        </p:nvSpPr>
        <p:spPr>
          <a:xfrm>
            <a:off x="3840480" y="2697480"/>
            <a:ext cx="1463040" cy="1188720"/>
          </a:xfrm>
          <a:prstGeom prst="roundRect">
            <a:avLst>
              <a:gd name="adj" fmla="val 6154"/>
            </a:avLst>
          </a:prstGeom>
          <a:solidFill>
            <a:schemeClr val="bg2"/>
          </a:solidFill>
          <a:ln/>
        </p:spPr>
      </p:sp>
      <p:sp>
        <p:nvSpPr>
          <p:cNvPr id="21" name="Step number 349"/>
          <p:cNvSpPr/>
          <p:nvPr/>
        </p:nvSpPr>
        <p:spPr>
          <a:xfrm>
            <a:off x="3950208" y="2807208"/>
            <a:ext cx="292608" cy="292608"/>
          </a:xfrm>
          <a:prstGeom prst="ellipse">
            <a:avLst/>
          </a:prstGeom>
          <a:solidFill>
            <a:schemeClr val="tx1"/>
          </a:solidFill>
          <a:ln/>
        </p:spPr>
      </p:sp>
      <p:sp>
        <p:nvSpPr>
          <p:cNvPr id="22" name="Text 350"/>
          <p:cNvSpPr txBox="1"/>
          <p:nvPr/>
        </p:nvSpPr>
        <p:spPr>
          <a:xfrm>
            <a:off x="3950208" y="2807208"/>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3" name="Text 351"/>
          <p:cNvSpPr txBox="1"/>
          <p:nvPr/>
        </p:nvSpPr>
        <p:spPr>
          <a:xfrm>
            <a:off x="3950208" y="3163824"/>
            <a:ext cx="1261872" cy="658368"/>
          </a:xfrm>
          <a:prstGeom prst="rect">
            <a:avLst/>
          </a:prstGeom>
          <a:noFill/>
          <a:ln/>
        </p:spPr>
        <p:txBody>
          <a:bodyPr wrap="square" lIns="0" tIns="0" rIns="0" bIns="0" rtlCol="0" anchor="t"/>
          <a:lstStyle/>
          <a:p>
            <a:pPr indent="0" marL="0">
              <a:buNone/>
            </a:pPr>
            <a:r>
              <a:rPr lang="en-US" sz="1400" b="1" dirty="0">
                <a:solidFill>
                  <a:schemeClr val="tx1"/>
                </a:solidFill>
              </a:rPr>
              <a:t>Argo CD detects change</a:t>
            </a:r>
            <a:endParaRPr lang="en-US" sz="1400" dirty="0"/>
          </a:p>
        </p:txBody>
      </p:sp>
      <p:sp>
        <p:nvSpPr>
          <p:cNvPr id="24" name="Connector 352"/>
          <p:cNvSpPr/>
          <p:nvPr/>
        </p:nvSpPr>
        <p:spPr>
          <a:xfrm>
            <a:off x="5321808" y="3291840"/>
            <a:ext cx="192024" cy="0"/>
          </a:xfrm>
          <a:prstGeom prst="line">
            <a:avLst/>
          </a:prstGeom>
          <a:noFill/>
          <a:ln w="19050">
            <a:solidFill>
              <a:schemeClr val="tx1"/>
            </a:solidFill>
            <a:prstDash val="solid"/>
            <a:tailEnd type="triangle"/>
          </a:ln>
        </p:spPr>
      </p:sp>
      <p:sp>
        <p:nvSpPr>
          <p:cNvPr id="25" name="Card 353"/>
          <p:cNvSpPr/>
          <p:nvPr/>
        </p:nvSpPr>
        <p:spPr>
          <a:xfrm>
            <a:off x="5532120" y="2697480"/>
            <a:ext cx="1463040" cy="1188720"/>
          </a:xfrm>
          <a:prstGeom prst="roundRect">
            <a:avLst>
              <a:gd name="adj" fmla="val 6154"/>
            </a:avLst>
          </a:prstGeom>
          <a:solidFill>
            <a:schemeClr val="bg2"/>
          </a:solidFill>
          <a:ln/>
        </p:spPr>
      </p:sp>
      <p:sp>
        <p:nvSpPr>
          <p:cNvPr id="26" name="Step number 354"/>
          <p:cNvSpPr/>
          <p:nvPr/>
        </p:nvSpPr>
        <p:spPr>
          <a:xfrm>
            <a:off x="5641848" y="2807208"/>
            <a:ext cx="292608" cy="292608"/>
          </a:xfrm>
          <a:prstGeom prst="ellipse">
            <a:avLst/>
          </a:prstGeom>
          <a:solidFill>
            <a:schemeClr val="tx1"/>
          </a:solidFill>
          <a:ln/>
        </p:spPr>
      </p:sp>
      <p:sp>
        <p:nvSpPr>
          <p:cNvPr id="27" name="Text 355"/>
          <p:cNvSpPr txBox="1"/>
          <p:nvPr/>
        </p:nvSpPr>
        <p:spPr>
          <a:xfrm>
            <a:off x="5641848" y="2807208"/>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8" name="Text 356"/>
          <p:cNvSpPr txBox="1"/>
          <p:nvPr/>
        </p:nvSpPr>
        <p:spPr>
          <a:xfrm>
            <a:off x="5641848" y="3163824"/>
            <a:ext cx="1261872" cy="658368"/>
          </a:xfrm>
          <a:prstGeom prst="rect">
            <a:avLst/>
          </a:prstGeom>
          <a:noFill/>
          <a:ln/>
        </p:spPr>
        <p:txBody>
          <a:bodyPr wrap="square" lIns="0" tIns="0" rIns="0" bIns="0" rtlCol="0" anchor="t"/>
          <a:lstStyle/>
          <a:p>
            <a:pPr indent="0" marL="0">
              <a:buNone/>
            </a:pPr>
            <a:r>
              <a:rPr lang="en-US" sz="1400" b="1" dirty="0">
                <a:solidFill>
                  <a:schemeClr val="tx1"/>
                </a:solidFill>
              </a:rPr>
              <a:t>Kubernetes reconciled</a:t>
            </a:r>
            <a:endParaRPr lang="en-US" sz="1400" dirty="0"/>
          </a:p>
        </p:txBody>
      </p:sp>
      <p:sp>
        <p:nvSpPr>
          <p:cNvPr id="29" name="Connector 357"/>
          <p:cNvSpPr/>
          <p:nvPr/>
        </p:nvSpPr>
        <p:spPr>
          <a:xfrm>
            <a:off x="7013448" y="3291840"/>
            <a:ext cx="192024" cy="0"/>
          </a:xfrm>
          <a:prstGeom prst="line">
            <a:avLst/>
          </a:prstGeom>
          <a:noFill/>
          <a:ln w="19050">
            <a:solidFill>
              <a:schemeClr val="tx1"/>
            </a:solidFill>
            <a:prstDash val="solid"/>
            <a:tailEnd type="triangle"/>
          </a:ln>
        </p:spPr>
      </p:sp>
      <p:sp>
        <p:nvSpPr>
          <p:cNvPr id="30" name="Card 358"/>
          <p:cNvSpPr/>
          <p:nvPr/>
        </p:nvSpPr>
        <p:spPr>
          <a:xfrm>
            <a:off x="7223760" y="2697480"/>
            <a:ext cx="1463040" cy="1188720"/>
          </a:xfrm>
          <a:prstGeom prst="roundRect">
            <a:avLst>
              <a:gd name="adj" fmla="val 6154"/>
            </a:avLst>
          </a:prstGeom>
          <a:solidFill>
            <a:schemeClr val="accent3"/>
          </a:solidFill>
          <a:ln/>
        </p:spPr>
      </p:sp>
      <p:sp>
        <p:nvSpPr>
          <p:cNvPr id="31" name="Step number 359"/>
          <p:cNvSpPr/>
          <p:nvPr/>
        </p:nvSpPr>
        <p:spPr>
          <a:xfrm>
            <a:off x="7333488" y="2807208"/>
            <a:ext cx="292608" cy="292608"/>
          </a:xfrm>
          <a:prstGeom prst="ellipse">
            <a:avLst/>
          </a:prstGeom>
          <a:solidFill>
            <a:schemeClr val="bg1"/>
          </a:solidFill>
          <a:ln/>
        </p:spPr>
      </p:sp>
      <p:sp>
        <p:nvSpPr>
          <p:cNvPr id="32" name="Text 360"/>
          <p:cNvSpPr txBox="1"/>
          <p:nvPr/>
        </p:nvSpPr>
        <p:spPr>
          <a:xfrm>
            <a:off x="7333488" y="2807208"/>
            <a:ext cx="292608" cy="292608"/>
          </a:xfrm>
          <a:prstGeom prst="rect">
            <a:avLst/>
          </a:prstGeom>
          <a:noFill/>
          <a:ln/>
        </p:spPr>
        <p:txBody>
          <a:bodyPr wrap="square" lIns="0" tIns="0" rIns="0" bIns="0" rtlCol="0" anchor="ctr"/>
          <a:lstStyle/>
          <a:p>
            <a:pPr algn="ctr" indent="0" marL="0">
              <a:buNone/>
            </a:pPr>
            <a:r>
              <a:rPr lang="en-US" sz="1200" b="1" dirty="0">
                <a:solidFill>
                  <a:schemeClr val="accent3"/>
                </a:solidFill>
              </a:rPr>
              <a:t>5</a:t>
            </a:r>
            <a:endParaRPr lang="en-US" sz="1200" dirty="0"/>
          </a:p>
        </p:txBody>
      </p:sp>
      <p:sp>
        <p:nvSpPr>
          <p:cNvPr id="33" name="Text 361"/>
          <p:cNvSpPr txBox="1"/>
          <p:nvPr/>
        </p:nvSpPr>
        <p:spPr>
          <a:xfrm>
            <a:off x="7333488" y="3163824"/>
            <a:ext cx="1261872" cy="658368"/>
          </a:xfrm>
          <a:prstGeom prst="rect">
            <a:avLst/>
          </a:prstGeom>
          <a:noFill/>
          <a:ln/>
        </p:spPr>
        <p:txBody>
          <a:bodyPr wrap="square" lIns="0" tIns="0" rIns="0" bIns="0" rtlCol="0" anchor="t"/>
          <a:lstStyle/>
          <a:p>
            <a:pPr indent="0" marL="0">
              <a:buNone/>
            </a:pPr>
            <a:r>
              <a:rPr lang="en-US" sz="1400" b="1" dirty="0">
                <a:solidFill>
                  <a:schemeClr val="bg1"/>
                </a:solidFill>
              </a:rPr>
              <a:t>2.4.6 restored</a:t>
            </a:r>
            <a:endParaRPr lang="en-US" sz="1400" dirty="0"/>
          </a:p>
        </p:txBody>
      </p:sp>
      <p:sp>
        <p:nvSpPr>
          <p:cNvPr id="34" name="Card 362"/>
          <p:cNvSpPr/>
          <p:nvPr/>
        </p:nvSpPr>
        <p:spPr>
          <a:xfrm>
            <a:off x="457200" y="4023360"/>
            <a:ext cx="8229600" cy="594360"/>
          </a:xfrm>
          <a:prstGeom prst="roundRect">
            <a:avLst>
              <a:gd name="adj" fmla="val 12308"/>
            </a:avLst>
          </a:prstGeom>
          <a:solidFill>
            <a:schemeClr val="bg1"/>
          </a:solidFill>
          <a:ln w="19050">
            <a:solidFill>
              <a:schemeClr val="accent2"/>
            </a:solidFill>
            <a:prstDash val="solid"/>
          </a:ln>
        </p:spPr>
      </p:sp>
      <p:sp>
        <p:nvSpPr>
          <p:cNvPr id="35" name="Text 363"/>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300" dirty="0">
                <a:solidFill>
                  <a:schemeClr val="tx1"/>
                </a:solidFill>
              </a:rPr>
              <a:t>Exact mechanism depends on repo layout and deployment strategy (revert the commit or pin the previous tag). Argo CD’s built-in rollback needs auto-sync off.</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Security &amp; Access Control</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Access is enforced in Argo CD, Git and Kubernetes. Defense in depth, not a single control</a:t>
            </a:r>
            <a:endParaRPr lang="en-US" sz="1500" dirty="0"/>
          </a:p>
        </p:txBody>
      </p:sp>
      <p:sp>
        <p:nvSpPr>
          <p:cNvPr id="4" name="Card 364"/>
          <p:cNvSpPr/>
          <p:nvPr/>
        </p:nvSpPr>
        <p:spPr>
          <a:xfrm>
            <a:off x="457200" y="1371600"/>
            <a:ext cx="1920240" cy="1188720"/>
          </a:xfrm>
          <a:prstGeom prst="roundRect">
            <a:avLst>
              <a:gd name="adj" fmla="val 6154"/>
            </a:avLst>
          </a:prstGeom>
          <a:solidFill>
            <a:schemeClr val="bg2"/>
          </a:solidFill>
          <a:ln/>
        </p:spPr>
      </p:sp>
      <p:sp>
        <p:nvSpPr>
          <p:cNvPr id="5" name="Icon circle 365"/>
          <p:cNvSpPr/>
          <p:nvPr/>
        </p:nvSpPr>
        <p:spPr>
          <a:xfrm>
            <a:off x="594360" y="1490472"/>
            <a:ext cx="457200" cy="457200"/>
          </a:xfrm>
          <a:prstGeom prst="ellipse">
            <a:avLst/>
          </a:prstGeom>
          <a:solidFill>
            <a:schemeClr val="accent1"/>
          </a:solidFill>
          <a:ln/>
        </p:spPr>
      </p:sp>
      <p:pic>
        <p:nvPicPr>
          <p:cNvPr id="6" name="Icon 366" descr="FaUserShield">    </p:cNvPr>
          <p:cNvPicPr>
            <a:picLocks noChangeAspect="1"/>
          </p:cNvPicPr>
          <p:nvPr/>
        </p:nvPicPr>
        <p:blipFill>
          <a:blip r:embed="rId1"/>
          <a:stretch>
            <a:fillRect/>
          </a:stretch>
        </p:blipFill>
        <p:spPr>
          <a:xfrm>
            <a:off x="697230" y="1593342"/>
            <a:ext cx="251460" cy="251460"/>
          </a:xfrm>
          <a:prstGeom prst="rect">
            <a:avLst/>
          </a:prstGeom>
        </p:spPr>
      </p:pic>
      <p:sp>
        <p:nvSpPr>
          <p:cNvPr id="7" name="Text 367"/>
          <p:cNvSpPr txBox="1"/>
          <p:nvPr/>
        </p:nvSpPr>
        <p:spPr>
          <a:xfrm>
            <a:off x="1143000" y="1481328"/>
            <a:ext cx="1188720" cy="475488"/>
          </a:xfrm>
          <a:prstGeom prst="rect">
            <a:avLst/>
          </a:prstGeom>
          <a:noFill/>
          <a:ln/>
        </p:spPr>
        <p:txBody>
          <a:bodyPr wrap="square" lIns="0" tIns="0" rIns="0" bIns="0" rtlCol="0" anchor="ctr"/>
          <a:lstStyle/>
          <a:p>
            <a:pPr indent="0" marL="0">
              <a:buNone/>
            </a:pPr>
            <a:r>
              <a:rPr lang="en-US" sz="1400" b="1" dirty="0">
                <a:solidFill>
                  <a:schemeClr val="tx1"/>
                </a:solidFill>
              </a:rPr>
              <a:t>Argo CD RBAC</a:t>
            </a:r>
            <a:endParaRPr lang="en-US" sz="1400" dirty="0"/>
          </a:p>
        </p:txBody>
      </p:sp>
      <p:sp>
        <p:nvSpPr>
          <p:cNvPr id="8" name="Text 368"/>
          <p:cNvSpPr txBox="1"/>
          <p:nvPr/>
        </p:nvSpPr>
        <p:spPr>
          <a:xfrm>
            <a:off x="566928" y="2011680"/>
            <a:ext cx="1700784" cy="502920"/>
          </a:xfrm>
          <a:prstGeom prst="rect">
            <a:avLst/>
          </a:prstGeom>
          <a:noFill/>
          <a:ln/>
        </p:spPr>
        <p:txBody>
          <a:bodyPr wrap="square" lIns="0" tIns="0" rIns="0" bIns="0" rtlCol="0" anchor="t"/>
          <a:lstStyle/>
          <a:p>
            <a:pPr indent="0" marL="0">
              <a:buNone/>
            </a:pPr>
            <a:r>
              <a:rPr lang="en-US" sz="1200" dirty="0">
                <a:solidFill>
                  <a:schemeClr val="tx2"/>
                </a:solidFill>
              </a:rPr>
              <a:t>Roles per project and application</a:t>
            </a:r>
            <a:endParaRPr lang="en-US" sz="1200" dirty="0"/>
          </a:p>
        </p:txBody>
      </p:sp>
      <p:sp>
        <p:nvSpPr>
          <p:cNvPr id="9" name="Card 369"/>
          <p:cNvSpPr/>
          <p:nvPr/>
        </p:nvSpPr>
        <p:spPr>
          <a:xfrm>
            <a:off x="2560320" y="1371600"/>
            <a:ext cx="1920240" cy="1188720"/>
          </a:xfrm>
          <a:prstGeom prst="roundRect">
            <a:avLst>
              <a:gd name="adj" fmla="val 6154"/>
            </a:avLst>
          </a:prstGeom>
          <a:solidFill>
            <a:schemeClr val="bg2"/>
          </a:solidFill>
          <a:ln/>
        </p:spPr>
      </p:sp>
      <p:sp>
        <p:nvSpPr>
          <p:cNvPr id="10" name="Icon circle 370"/>
          <p:cNvSpPr/>
          <p:nvPr/>
        </p:nvSpPr>
        <p:spPr>
          <a:xfrm>
            <a:off x="2697480" y="1490472"/>
            <a:ext cx="457200" cy="457200"/>
          </a:xfrm>
          <a:prstGeom prst="ellipse">
            <a:avLst/>
          </a:prstGeom>
          <a:solidFill>
            <a:schemeClr val="accent1"/>
          </a:solidFill>
          <a:ln/>
        </p:spPr>
      </p:sp>
      <p:pic>
        <p:nvPicPr>
          <p:cNvPr id="11" name="Icon 371" descr="FaKey">    </p:cNvPr>
          <p:cNvPicPr>
            <a:picLocks noChangeAspect="1"/>
          </p:cNvPicPr>
          <p:nvPr/>
        </p:nvPicPr>
        <p:blipFill>
          <a:blip r:embed="rId2"/>
          <a:stretch>
            <a:fillRect/>
          </a:stretch>
        </p:blipFill>
        <p:spPr>
          <a:xfrm>
            <a:off x="2800350" y="1593342"/>
            <a:ext cx="251460" cy="251460"/>
          </a:xfrm>
          <a:prstGeom prst="rect">
            <a:avLst/>
          </a:prstGeom>
        </p:spPr>
      </p:pic>
      <p:sp>
        <p:nvSpPr>
          <p:cNvPr id="12" name="Text 372"/>
          <p:cNvSpPr txBox="1"/>
          <p:nvPr/>
        </p:nvSpPr>
        <p:spPr>
          <a:xfrm>
            <a:off x="3246120" y="1481328"/>
            <a:ext cx="1188720" cy="475488"/>
          </a:xfrm>
          <a:prstGeom prst="rect">
            <a:avLst/>
          </a:prstGeom>
          <a:noFill/>
          <a:ln/>
        </p:spPr>
        <p:txBody>
          <a:bodyPr wrap="square" lIns="0" tIns="0" rIns="0" bIns="0" rtlCol="0" anchor="ctr"/>
          <a:lstStyle/>
          <a:p>
            <a:pPr indent="0" marL="0">
              <a:buNone/>
            </a:pPr>
            <a:r>
              <a:rPr lang="en-US" sz="1400" b="1" dirty="0">
                <a:solidFill>
                  <a:schemeClr val="tx1"/>
                </a:solidFill>
              </a:rPr>
              <a:t>SSO</a:t>
            </a:r>
            <a:endParaRPr lang="en-US" sz="1400" dirty="0"/>
          </a:p>
        </p:txBody>
      </p:sp>
      <p:sp>
        <p:nvSpPr>
          <p:cNvPr id="13" name="Text 373"/>
          <p:cNvSpPr txBox="1"/>
          <p:nvPr/>
        </p:nvSpPr>
        <p:spPr>
          <a:xfrm>
            <a:off x="2670048" y="2011680"/>
            <a:ext cx="1700784" cy="502920"/>
          </a:xfrm>
          <a:prstGeom prst="rect">
            <a:avLst/>
          </a:prstGeom>
          <a:noFill/>
          <a:ln/>
        </p:spPr>
        <p:txBody>
          <a:bodyPr wrap="square" lIns="0" tIns="0" rIns="0" bIns="0" rtlCol="0" anchor="t"/>
          <a:lstStyle/>
          <a:p>
            <a:pPr indent="0" marL="0">
              <a:buNone/>
            </a:pPr>
            <a:r>
              <a:rPr lang="en-US" sz="1200" dirty="0">
                <a:solidFill>
                  <a:schemeClr val="tx2"/>
                </a:solidFill>
              </a:rPr>
              <a:t>Corporate identity provider login</a:t>
            </a:r>
            <a:endParaRPr lang="en-US" sz="1200" dirty="0"/>
          </a:p>
        </p:txBody>
      </p:sp>
      <p:sp>
        <p:nvSpPr>
          <p:cNvPr id="14" name="Card 374"/>
          <p:cNvSpPr/>
          <p:nvPr/>
        </p:nvSpPr>
        <p:spPr>
          <a:xfrm>
            <a:off x="4663440" y="1371600"/>
            <a:ext cx="1920240" cy="1188720"/>
          </a:xfrm>
          <a:prstGeom prst="roundRect">
            <a:avLst>
              <a:gd name="adj" fmla="val 6154"/>
            </a:avLst>
          </a:prstGeom>
          <a:solidFill>
            <a:schemeClr val="bg2"/>
          </a:solidFill>
          <a:ln/>
        </p:spPr>
      </p:sp>
      <p:sp>
        <p:nvSpPr>
          <p:cNvPr id="15" name="Icon circle 375"/>
          <p:cNvSpPr/>
          <p:nvPr/>
        </p:nvSpPr>
        <p:spPr>
          <a:xfrm>
            <a:off x="4800600" y="1490472"/>
            <a:ext cx="457200" cy="457200"/>
          </a:xfrm>
          <a:prstGeom prst="ellipse">
            <a:avLst/>
          </a:prstGeom>
          <a:solidFill>
            <a:schemeClr val="accent1"/>
          </a:solidFill>
          <a:ln/>
        </p:spPr>
      </p:sp>
      <p:pic>
        <p:nvPicPr>
          <p:cNvPr id="16" name="Icon 376" descr="FaSitemap">    </p:cNvPr>
          <p:cNvPicPr>
            <a:picLocks noChangeAspect="1"/>
          </p:cNvPicPr>
          <p:nvPr/>
        </p:nvPicPr>
        <p:blipFill>
          <a:blip r:embed="rId3"/>
          <a:stretch>
            <a:fillRect/>
          </a:stretch>
        </p:blipFill>
        <p:spPr>
          <a:xfrm>
            <a:off x="4903470" y="1593342"/>
            <a:ext cx="251460" cy="251460"/>
          </a:xfrm>
          <a:prstGeom prst="rect">
            <a:avLst/>
          </a:prstGeom>
        </p:spPr>
      </p:pic>
      <p:sp>
        <p:nvSpPr>
          <p:cNvPr id="17" name="Text 377"/>
          <p:cNvSpPr txBox="1"/>
          <p:nvPr/>
        </p:nvSpPr>
        <p:spPr>
          <a:xfrm>
            <a:off x="5349240" y="1481328"/>
            <a:ext cx="1188720" cy="475488"/>
          </a:xfrm>
          <a:prstGeom prst="rect">
            <a:avLst/>
          </a:prstGeom>
          <a:noFill/>
          <a:ln/>
        </p:spPr>
        <p:txBody>
          <a:bodyPr wrap="square" lIns="0" tIns="0" rIns="0" bIns="0" rtlCol="0" anchor="ctr"/>
          <a:lstStyle/>
          <a:p>
            <a:pPr indent="0" marL="0">
              <a:buNone/>
            </a:pPr>
            <a:r>
              <a:rPr lang="en-US" sz="1400" b="1" dirty="0">
                <a:solidFill>
                  <a:schemeClr val="tx1"/>
                </a:solidFill>
              </a:rPr>
              <a:t>Environment access</a:t>
            </a:r>
            <a:endParaRPr lang="en-US" sz="1400" dirty="0"/>
          </a:p>
        </p:txBody>
      </p:sp>
      <p:sp>
        <p:nvSpPr>
          <p:cNvPr id="18" name="Text 378"/>
          <p:cNvSpPr txBox="1"/>
          <p:nvPr/>
        </p:nvSpPr>
        <p:spPr>
          <a:xfrm>
            <a:off x="4773168" y="2011680"/>
            <a:ext cx="1700784" cy="502920"/>
          </a:xfrm>
          <a:prstGeom prst="rect">
            <a:avLst/>
          </a:prstGeom>
          <a:noFill/>
          <a:ln/>
        </p:spPr>
        <p:txBody>
          <a:bodyPr wrap="square" lIns="0" tIns="0" rIns="0" bIns="0" rtlCol="0" anchor="t"/>
          <a:lstStyle/>
          <a:p>
            <a:pPr indent="0" marL="0">
              <a:buNone/>
            </a:pPr>
            <a:r>
              <a:rPr lang="en-US" sz="1200" dirty="0">
                <a:solidFill>
                  <a:schemeClr val="tx2"/>
                </a:solidFill>
              </a:rPr>
              <a:t>Separate projects for DEV / QA / UAT / PROD</a:t>
            </a:r>
            <a:endParaRPr lang="en-US" sz="1200" dirty="0"/>
          </a:p>
        </p:txBody>
      </p:sp>
      <p:sp>
        <p:nvSpPr>
          <p:cNvPr id="19" name="Card 379"/>
          <p:cNvSpPr/>
          <p:nvPr/>
        </p:nvSpPr>
        <p:spPr>
          <a:xfrm>
            <a:off x="6766560" y="1371600"/>
            <a:ext cx="1920240" cy="1188720"/>
          </a:xfrm>
          <a:prstGeom prst="roundRect">
            <a:avLst>
              <a:gd name="adj" fmla="val 6154"/>
            </a:avLst>
          </a:prstGeom>
          <a:solidFill>
            <a:schemeClr val="bg2"/>
          </a:solidFill>
          <a:ln/>
        </p:spPr>
      </p:sp>
      <p:sp>
        <p:nvSpPr>
          <p:cNvPr id="20" name="Icon circle 380"/>
          <p:cNvSpPr/>
          <p:nvPr/>
        </p:nvSpPr>
        <p:spPr>
          <a:xfrm>
            <a:off x="6903720" y="1490472"/>
            <a:ext cx="457200" cy="457200"/>
          </a:xfrm>
          <a:prstGeom prst="ellipse">
            <a:avLst/>
          </a:prstGeom>
          <a:solidFill>
            <a:schemeClr val="accent1"/>
          </a:solidFill>
          <a:ln/>
        </p:spPr>
      </p:sp>
      <p:pic>
        <p:nvPicPr>
          <p:cNvPr id="21" name="Icon 381" descr="SiKubernetes">    </p:cNvPr>
          <p:cNvPicPr>
            <a:picLocks noChangeAspect="1"/>
          </p:cNvPicPr>
          <p:nvPr/>
        </p:nvPicPr>
        <p:blipFill>
          <a:blip r:embed="rId4"/>
          <a:stretch>
            <a:fillRect/>
          </a:stretch>
        </p:blipFill>
        <p:spPr>
          <a:xfrm>
            <a:off x="7006590" y="1593342"/>
            <a:ext cx="251460" cy="251460"/>
          </a:xfrm>
          <a:prstGeom prst="rect">
            <a:avLst/>
          </a:prstGeom>
        </p:spPr>
      </p:pic>
      <p:sp>
        <p:nvSpPr>
          <p:cNvPr id="22" name="Text 382"/>
          <p:cNvSpPr txBox="1"/>
          <p:nvPr/>
        </p:nvSpPr>
        <p:spPr>
          <a:xfrm>
            <a:off x="7452360" y="1481328"/>
            <a:ext cx="1188720" cy="475488"/>
          </a:xfrm>
          <a:prstGeom prst="rect">
            <a:avLst/>
          </a:prstGeom>
          <a:noFill/>
          <a:ln/>
        </p:spPr>
        <p:txBody>
          <a:bodyPr wrap="square" lIns="0" tIns="0" rIns="0" bIns="0" rtlCol="0" anchor="ctr"/>
          <a:lstStyle/>
          <a:p>
            <a:pPr indent="0" marL="0">
              <a:buNone/>
            </a:pPr>
            <a:r>
              <a:rPr lang="en-US" sz="1400" b="1" dirty="0">
                <a:solidFill>
                  <a:schemeClr val="tx1"/>
                </a:solidFill>
              </a:rPr>
              <a:t>Kubernetes RBAC</a:t>
            </a:r>
            <a:endParaRPr lang="en-US" sz="1400" dirty="0"/>
          </a:p>
        </p:txBody>
      </p:sp>
      <p:sp>
        <p:nvSpPr>
          <p:cNvPr id="23" name="Text 383"/>
          <p:cNvSpPr txBox="1"/>
          <p:nvPr/>
        </p:nvSpPr>
        <p:spPr>
          <a:xfrm>
            <a:off x="6876288" y="2011680"/>
            <a:ext cx="1700784" cy="502920"/>
          </a:xfrm>
          <a:prstGeom prst="rect">
            <a:avLst/>
          </a:prstGeom>
          <a:noFill/>
          <a:ln/>
        </p:spPr>
        <p:txBody>
          <a:bodyPr wrap="square" lIns="0" tIns="0" rIns="0" bIns="0" rtlCol="0" anchor="t"/>
          <a:lstStyle/>
          <a:p>
            <a:pPr indent="0" marL="0">
              <a:buNone/>
            </a:pPr>
            <a:r>
              <a:rPr lang="en-US" sz="1200" dirty="0">
                <a:solidFill>
                  <a:schemeClr val="tx2"/>
                </a:solidFill>
              </a:rPr>
              <a:t>Least privilege for Argo CD itself</a:t>
            </a:r>
            <a:endParaRPr lang="en-US" sz="1200" dirty="0"/>
          </a:p>
        </p:txBody>
      </p:sp>
      <p:sp>
        <p:nvSpPr>
          <p:cNvPr id="24" name="Card 384"/>
          <p:cNvSpPr/>
          <p:nvPr/>
        </p:nvSpPr>
        <p:spPr>
          <a:xfrm>
            <a:off x="457200" y="2697480"/>
            <a:ext cx="1920240" cy="1188720"/>
          </a:xfrm>
          <a:prstGeom prst="roundRect">
            <a:avLst>
              <a:gd name="adj" fmla="val 6154"/>
            </a:avLst>
          </a:prstGeom>
          <a:solidFill>
            <a:schemeClr val="bg2"/>
          </a:solidFill>
          <a:ln/>
        </p:spPr>
      </p:sp>
      <p:sp>
        <p:nvSpPr>
          <p:cNvPr id="25" name="Icon circle 385"/>
          <p:cNvSpPr/>
          <p:nvPr/>
        </p:nvSpPr>
        <p:spPr>
          <a:xfrm>
            <a:off x="594360" y="2816352"/>
            <a:ext cx="457200" cy="457200"/>
          </a:xfrm>
          <a:prstGeom prst="ellipse">
            <a:avLst/>
          </a:prstGeom>
          <a:solidFill>
            <a:schemeClr val="accent1"/>
          </a:solidFill>
          <a:ln/>
        </p:spPr>
      </p:sp>
      <p:pic>
        <p:nvPicPr>
          <p:cNvPr id="26" name="Icon 386" descr="FaCodeBranch">    </p:cNvPr>
          <p:cNvPicPr>
            <a:picLocks noChangeAspect="1"/>
          </p:cNvPicPr>
          <p:nvPr/>
        </p:nvPicPr>
        <p:blipFill>
          <a:blip r:embed="rId5"/>
          <a:stretch>
            <a:fillRect/>
          </a:stretch>
        </p:blipFill>
        <p:spPr>
          <a:xfrm>
            <a:off x="697230" y="2919222"/>
            <a:ext cx="251460" cy="251460"/>
          </a:xfrm>
          <a:prstGeom prst="rect">
            <a:avLst/>
          </a:prstGeom>
        </p:spPr>
      </p:pic>
      <p:sp>
        <p:nvSpPr>
          <p:cNvPr id="27" name="Text 387"/>
          <p:cNvSpPr txBox="1"/>
          <p:nvPr/>
        </p:nvSpPr>
        <p:spPr>
          <a:xfrm>
            <a:off x="1143000" y="2807208"/>
            <a:ext cx="1188720" cy="475488"/>
          </a:xfrm>
          <a:prstGeom prst="rect">
            <a:avLst/>
          </a:prstGeom>
          <a:noFill/>
          <a:ln/>
        </p:spPr>
        <p:txBody>
          <a:bodyPr wrap="square" lIns="0" tIns="0" rIns="0" bIns="0" rtlCol="0" anchor="ctr"/>
          <a:lstStyle/>
          <a:p>
            <a:pPr indent="0" marL="0">
              <a:buNone/>
            </a:pPr>
            <a:r>
              <a:rPr lang="en-US" sz="1400" b="1" dirty="0">
                <a:solidFill>
                  <a:schemeClr val="tx1"/>
                </a:solidFill>
              </a:rPr>
              <a:t>Protected branches</a:t>
            </a:r>
            <a:endParaRPr lang="en-US" sz="1400" dirty="0"/>
          </a:p>
        </p:txBody>
      </p:sp>
      <p:sp>
        <p:nvSpPr>
          <p:cNvPr id="28" name="Text 388"/>
          <p:cNvSpPr txBox="1"/>
          <p:nvPr/>
        </p:nvSpPr>
        <p:spPr>
          <a:xfrm>
            <a:off x="566928" y="3337560"/>
            <a:ext cx="1700784" cy="502920"/>
          </a:xfrm>
          <a:prstGeom prst="rect">
            <a:avLst/>
          </a:prstGeom>
          <a:noFill/>
          <a:ln/>
        </p:spPr>
        <p:txBody>
          <a:bodyPr wrap="square" lIns="0" tIns="0" rIns="0" bIns="0" rtlCol="0" anchor="t"/>
          <a:lstStyle/>
          <a:p>
            <a:pPr indent="0" marL="0">
              <a:buNone/>
            </a:pPr>
            <a:r>
              <a:rPr lang="en-US" sz="1200" dirty="0">
                <a:solidFill>
                  <a:schemeClr val="tx2"/>
                </a:solidFill>
              </a:rPr>
              <a:t>Required reviews and status checks</a:t>
            </a:r>
            <a:endParaRPr lang="en-US" sz="1200" dirty="0"/>
          </a:p>
        </p:txBody>
      </p:sp>
      <p:sp>
        <p:nvSpPr>
          <p:cNvPr id="29" name="Card 389"/>
          <p:cNvSpPr/>
          <p:nvPr/>
        </p:nvSpPr>
        <p:spPr>
          <a:xfrm>
            <a:off x="2560320" y="2697480"/>
            <a:ext cx="1920240" cy="1188720"/>
          </a:xfrm>
          <a:prstGeom prst="roundRect">
            <a:avLst>
              <a:gd name="adj" fmla="val 6154"/>
            </a:avLst>
          </a:prstGeom>
          <a:solidFill>
            <a:schemeClr val="bg2"/>
          </a:solidFill>
          <a:ln/>
        </p:spPr>
      </p:sp>
      <p:sp>
        <p:nvSpPr>
          <p:cNvPr id="30" name="Icon circle 390"/>
          <p:cNvSpPr/>
          <p:nvPr/>
        </p:nvSpPr>
        <p:spPr>
          <a:xfrm>
            <a:off x="2697480" y="2816352"/>
            <a:ext cx="457200" cy="457200"/>
          </a:xfrm>
          <a:prstGeom prst="ellipse">
            <a:avLst/>
          </a:prstGeom>
          <a:solidFill>
            <a:schemeClr val="accent1"/>
          </a:solidFill>
          <a:ln/>
        </p:spPr>
      </p:sp>
      <p:pic>
        <p:nvPicPr>
          <p:cNvPr id="31" name="Icon 391" descr="FaClipboardCheck">    </p:cNvPr>
          <p:cNvPicPr>
            <a:picLocks noChangeAspect="1"/>
          </p:cNvPicPr>
          <p:nvPr/>
        </p:nvPicPr>
        <p:blipFill>
          <a:blip r:embed="rId6"/>
          <a:stretch>
            <a:fillRect/>
          </a:stretch>
        </p:blipFill>
        <p:spPr>
          <a:xfrm>
            <a:off x="2800350" y="2919222"/>
            <a:ext cx="251460" cy="251460"/>
          </a:xfrm>
          <a:prstGeom prst="rect">
            <a:avLst/>
          </a:prstGeom>
        </p:spPr>
      </p:pic>
      <p:sp>
        <p:nvSpPr>
          <p:cNvPr id="32" name="Text 392"/>
          <p:cNvSpPr txBox="1"/>
          <p:nvPr/>
        </p:nvSpPr>
        <p:spPr>
          <a:xfrm>
            <a:off x="3246120" y="2807208"/>
            <a:ext cx="1188720" cy="475488"/>
          </a:xfrm>
          <a:prstGeom prst="rect">
            <a:avLst/>
          </a:prstGeom>
          <a:noFill/>
          <a:ln/>
        </p:spPr>
        <p:txBody>
          <a:bodyPr wrap="square" lIns="0" tIns="0" rIns="0" bIns="0" rtlCol="0" anchor="ctr"/>
          <a:lstStyle/>
          <a:p>
            <a:pPr indent="0" marL="0">
              <a:buNone/>
            </a:pPr>
            <a:r>
              <a:rPr lang="en-US" sz="1400" b="1" dirty="0">
                <a:solidFill>
                  <a:schemeClr val="tx1"/>
                </a:solidFill>
              </a:rPr>
              <a:t>PR reviews</a:t>
            </a:r>
            <a:endParaRPr lang="en-US" sz="1400" dirty="0"/>
          </a:p>
        </p:txBody>
      </p:sp>
      <p:sp>
        <p:nvSpPr>
          <p:cNvPr id="33" name="Text 393"/>
          <p:cNvSpPr txBox="1"/>
          <p:nvPr/>
        </p:nvSpPr>
        <p:spPr>
          <a:xfrm>
            <a:off x="2670048" y="3337560"/>
            <a:ext cx="1700784" cy="502920"/>
          </a:xfrm>
          <a:prstGeom prst="rect">
            <a:avLst/>
          </a:prstGeom>
          <a:noFill/>
          <a:ln/>
        </p:spPr>
        <p:txBody>
          <a:bodyPr wrap="square" lIns="0" tIns="0" rIns="0" bIns="0" rtlCol="0" anchor="t"/>
          <a:lstStyle/>
          <a:p>
            <a:pPr indent="0" marL="0">
              <a:buNone/>
            </a:pPr>
            <a:r>
              <a:rPr lang="en-US" sz="1200" dirty="0">
                <a:solidFill>
                  <a:schemeClr val="tx2"/>
                </a:solidFill>
              </a:rPr>
              <a:t>Desired-state changes are peer-reviewed</a:t>
            </a:r>
            <a:endParaRPr lang="en-US" sz="1200" dirty="0"/>
          </a:p>
        </p:txBody>
      </p:sp>
      <p:sp>
        <p:nvSpPr>
          <p:cNvPr id="34" name="Card 394"/>
          <p:cNvSpPr/>
          <p:nvPr/>
        </p:nvSpPr>
        <p:spPr>
          <a:xfrm>
            <a:off x="4663440" y="2697480"/>
            <a:ext cx="1920240" cy="1188720"/>
          </a:xfrm>
          <a:prstGeom prst="roundRect">
            <a:avLst>
              <a:gd name="adj" fmla="val 6154"/>
            </a:avLst>
          </a:prstGeom>
          <a:solidFill>
            <a:schemeClr val="bg2"/>
          </a:solidFill>
          <a:ln/>
        </p:spPr>
      </p:sp>
      <p:sp>
        <p:nvSpPr>
          <p:cNvPr id="35" name="Icon circle 395"/>
          <p:cNvSpPr/>
          <p:nvPr/>
        </p:nvSpPr>
        <p:spPr>
          <a:xfrm>
            <a:off x="4800600" y="2816352"/>
            <a:ext cx="457200" cy="457200"/>
          </a:xfrm>
          <a:prstGeom prst="ellipse">
            <a:avLst/>
          </a:prstGeom>
          <a:solidFill>
            <a:schemeClr val="accent1"/>
          </a:solidFill>
          <a:ln/>
        </p:spPr>
      </p:sp>
      <p:pic>
        <p:nvPicPr>
          <p:cNvPr id="36" name="Icon 396" descr="FaShieldAlt">    </p:cNvPr>
          <p:cNvPicPr>
            <a:picLocks noChangeAspect="1"/>
          </p:cNvPicPr>
          <p:nvPr/>
        </p:nvPicPr>
        <p:blipFill>
          <a:blip r:embed="rId7"/>
          <a:stretch>
            <a:fillRect/>
          </a:stretch>
        </p:blipFill>
        <p:spPr>
          <a:xfrm>
            <a:off x="4903470" y="2919222"/>
            <a:ext cx="251460" cy="251460"/>
          </a:xfrm>
          <a:prstGeom prst="rect">
            <a:avLst/>
          </a:prstGeom>
        </p:spPr>
      </p:pic>
      <p:sp>
        <p:nvSpPr>
          <p:cNvPr id="37" name="Text 397"/>
          <p:cNvSpPr txBox="1"/>
          <p:nvPr/>
        </p:nvSpPr>
        <p:spPr>
          <a:xfrm>
            <a:off x="5349240" y="2807208"/>
            <a:ext cx="1188720" cy="475488"/>
          </a:xfrm>
          <a:prstGeom prst="rect">
            <a:avLst/>
          </a:prstGeom>
          <a:noFill/>
          <a:ln/>
        </p:spPr>
        <p:txBody>
          <a:bodyPr wrap="square" lIns="0" tIns="0" rIns="0" bIns="0" rtlCol="0" anchor="ctr"/>
          <a:lstStyle/>
          <a:p>
            <a:pPr indent="0" marL="0">
              <a:buNone/>
            </a:pPr>
            <a:r>
              <a:rPr lang="en-US" sz="1400" b="1" dirty="0">
                <a:solidFill>
                  <a:schemeClr val="tx1"/>
                </a:solidFill>
              </a:rPr>
              <a:t>Production controls</a:t>
            </a:r>
            <a:endParaRPr lang="en-US" sz="1400" dirty="0"/>
          </a:p>
        </p:txBody>
      </p:sp>
      <p:sp>
        <p:nvSpPr>
          <p:cNvPr id="38" name="Text 398"/>
          <p:cNvSpPr txBox="1"/>
          <p:nvPr/>
        </p:nvSpPr>
        <p:spPr>
          <a:xfrm>
            <a:off x="4773168" y="3337560"/>
            <a:ext cx="1700784" cy="502920"/>
          </a:xfrm>
          <a:prstGeom prst="rect">
            <a:avLst/>
          </a:prstGeom>
          <a:noFill/>
          <a:ln/>
        </p:spPr>
        <p:txBody>
          <a:bodyPr wrap="square" lIns="0" tIns="0" rIns="0" bIns="0" rtlCol="0" anchor="t"/>
          <a:lstStyle/>
          <a:p>
            <a:pPr indent="0" marL="0">
              <a:buNone/>
            </a:pPr>
            <a:r>
              <a:rPr lang="en-US" sz="1200" dirty="0">
                <a:solidFill>
                  <a:schemeClr val="tx2"/>
                </a:solidFill>
              </a:rPr>
              <a:t>Restricted sync and admin rights</a:t>
            </a:r>
            <a:endParaRPr lang="en-US" sz="1200" dirty="0"/>
          </a:p>
        </p:txBody>
      </p:sp>
      <p:sp>
        <p:nvSpPr>
          <p:cNvPr id="39" name="Card 399"/>
          <p:cNvSpPr/>
          <p:nvPr/>
        </p:nvSpPr>
        <p:spPr>
          <a:xfrm>
            <a:off x="6766560" y="2697480"/>
            <a:ext cx="1920240" cy="1188720"/>
          </a:xfrm>
          <a:prstGeom prst="roundRect">
            <a:avLst>
              <a:gd name="adj" fmla="val 6154"/>
            </a:avLst>
          </a:prstGeom>
          <a:solidFill>
            <a:schemeClr val="bg2"/>
          </a:solidFill>
          <a:ln/>
        </p:spPr>
      </p:sp>
      <p:sp>
        <p:nvSpPr>
          <p:cNvPr id="40" name="Icon circle 400"/>
          <p:cNvSpPr/>
          <p:nvPr/>
        </p:nvSpPr>
        <p:spPr>
          <a:xfrm>
            <a:off x="6903720" y="2816352"/>
            <a:ext cx="457200" cy="457200"/>
          </a:xfrm>
          <a:prstGeom prst="ellipse">
            <a:avLst/>
          </a:prstGeom>
          <a:solidFill>
            <a:schemeClr val="accent1"/>
          </a:solidFill>
          <a:ln/>
        </p:spPr>
      </p:sp>
      <p:pic>
        <p:nvPicPr>
          <p:cNvPr id="41" name="Icon 401" descr="FaLock">    </p:cNvPr>
          <p:cNvPicPr>
            <a:picLocks noChangeAspect="1"/>
          </p:cNvPicPr>
          <p:nvPr/>
        </p:nvPicPr>
        <p:blipFill>
          <a:blip r:embed="rId8"/>
          <a:stretch>
            <a:fillRect/>
          </a:stretch>
        </p:blipFill>
        <p:spPr>
          <a:xfrm>
            <a:off x="7006590" y="2919222"/>
            <a:ext cx="251460" cy="251460"/>
          </a:xfrm>
          <a:prstGeom prst="rect">
            <a:avLst/>
          </a:prstGeom>
        </p:spPr>
      </p:pic>
      <p:sp>
        <p:nvSpPr>
          <p:cNvPr id="42" name="Text 402"/>
          <p:cNvSpPr txBox="1"/>
          <p:nvPr/>
        </p:nvSpPr>
        <p:spPr>
          <a:xfrm>
            <a:off x="7452360" y="2807208"/>
            <a:ext cx="1188720" cy="475488"/>
          </a:xfrm>
          <a:prstGeom prst="rect">
            <a:avLst/>
          </a:prstGeom>
          <a:noFill/>
          <a:ln/>
        </p:spPr>
        <p:txBody>
          <a:bodyPr wrap="square" lIns="0" tIns="0" rIns="0" bIns="0" rtlCol="0" anchor="ctr"/>
          <a:lstStyle/>
          <a:p>
            <a:pPr indent="0" marL="0">
              <a:buNone/>
            </a:pPr>
            <a:r>
              <a:rPr lang="en-US" sz="1400" b="1" dirty="0">
                <a:solidFill>
                  <a:schemeClr val="tx1"/>
                </a:solidFill>
              </a:rPr>
              <a:t>Secrets management</a:t>
            </a:r>
            <a:endParaRPr lang="en-US" sz="1400" dirty="0"/>
          </a:p>
        </p:txBody>
      </p:sp>
      <p:sp>
        <p:nvSpPr>
          <p:cNvPr id="43" name="Text 403"/>
          <p:cNvSpPr txBox="1"/>
          <p:nvPr/>
        </p:nvSpPr>
        <p:spPr>
          <a:xfrm>
            <a:off x="6876288" y="3337560"/>
            <a:ext cx="1700784" cy="502920"/>
          </a:xfrm>
          <a:prstGeom prst="rect">
            <a:avLst/>
          </a:prstGeom>
          <a:noFill/>
          <a:ln/>
        </p:spPr>
        <p:txBody>
          <a:bodyPr wrap="square" lIns="0" tIns="0" rIns="0" bIns="0" rtlCol="0" anchor="t"/>
          <a:lstStyle/>
          <a:p>
            <a:pPr indent="0" marL="0">
              <a:buNone/>
            </a:pPr>
            <a:r>
              <a:rPr lang="en-US" sz="1200" dirty="0">
                <a:solidFill>
                  <a:schemeClr val="tx2"/>
                </a:solidFill>
              </a:rPr>
              <a:t>Secrets stay out of Git as plaintext</a:t>
            </a:r>
            <a:endParaRPr lang="en-US" sz="1200" dirty="0"/>
          </a:p>
        </p:txBody>
      </p:sp>
      <p:sp>
        <p:nvSpPr>
          <p:cNvPr id="44" name="Card 404"/>
          <p:cNvSpPr/>
          <p:nvPr/>
        </p:nvSpPr>
        <p:spPr>
          <a:xfrm>
            <a:off x="457200" y="4069080"/>
            <a:ext cx="8229600" cy="548640"/>
          </a:xfrm>
          <a:prstGeom prst="roundRect">
            <a:avLst>
              <a:gd name="adj" fmla="val 13333"/>
            </a:avLst>
          </a:prstGeom>
          <a:solidFill>
            <a:schemeClr val="accent6"/>
          </a:solidFill>
          <a:ln/>
        </p:spPr>
      </p:sp>
      <p:sp>
        <p:nvSpPr>
          <p:cNvPr id="45" name="Icon circle 405"/>
          <p:cNvSpPr/>
          <p:nvPr/>
        </p:nvSpPr>
        <p:spPr>
          <a:xfrm>
            <a:off x="667512" y="4187952"/>
            <a:ext cx="310896" cy="310896"/>
          </a:xfrm>
          <a:prstGeom prst="ellipse">
            <a:avLst/>
          </a:prstGeom>
          <a:solidFill>
            <a:schemeClr val="bg1"/>
          </a:solidFill>
          <a:ln/>
        </p:spPr>
      </p:sp>
      <p:pic>
        <p:nvPicPr>
          <p:cNvPr id="46" name="Icon 406" descr="FaExclamationTriangle">    </p:cNvPr>
          <p:cNvPicPr>
            <a:picLocks noChangeAspect="1"/>
          </p:cNvPicPr>
          <p:nvPr/>
        </p:nvPicPr>
        <p:blipFill>
          <a:blip r:embed="rId9"/>
          <a:stretch>
            <a:fillRect/>
          </a:stretch>
        </p:blipFill>
        <p:spPr>
          <a:xfrm>
            <a:off x="737464" y="4257904"/>
            <a:ext cx="170993" cy="170993"/>
          </a:xfrm>
          <a:prstGeom prst="rect">
            <a:avLst/>
          </a:prstGeom>
        </p:spPr>
      </p:pic>
      <p:sp>
        <p:nvSpPr>
          <p:cNvPr id="47" name="Text 407"/>
          <p:cNvSpPr txBox="1"/>
          <p:nvPr/>
        </p:nvSpPr>
        <p:spPr>
          <a:xfrm>
            <a:off x="1143000" y="4069080"/>
            <a:ext cx="7406640" cy="548640"/>
          </a:xfrm>
          <a:prstGeom prst="rect">
            <a:avLst/>
          </a:prstGeom>
          <a:noFill/>
          <a:ln/>
        </p:spPr>
        <p:txBody>
          <a:bodyPr wrap="square" lIns="0" tIns="0" rIns="0" bIns="0" rtlCol="0" anchor="ctr"/>
          <a:lstStyle/>
          <a:p>
            <a:pPr indent="0" marL="0">
              <a:buNone/>
            </a:pPr>
            <a:r>
              <a:rPr lang="en-US" sz="1500" b="1" dirty="0">
                <a:solidFill>
                  <a:schemeClr val="bg1"/>
                </a:solidFill>
              </a:rPr>
              <a:t>Do not store plaintext Kubernetes secrets in Git</a:t>
            </a:r>
            <a:endParaRPr lang="en-US" sz="1400" dirty="0"/>
          </a:p>
          <a:p>
            <a:pPr indent="0" marL="0">
              <a:buNone/>
            </a:pPr>
            <a:r>
              <a:rPr lang="en-US" sz="1300" dirty="0">
                <a:solidFill>
                  <a:schemeClr val="bg1"/>
                </a:solidFill>
              </a:rPr>
              <a:t>Use External Secrets, Vault, cloud secret managers or Sealed Secrets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Risks &amp; Mitigations</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The proposal adds a component to operate, and the risks are named up front</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023360"/>
                <a:gridCol w="4206240"/>
              </a:tblGrid>
              <a:tr h="393192">
                <a:tc>
                  <a:txBody>
                    <a:bodyPr/>
                    <a:lstStyle/>
                    <a:p>
                      <a:pPr indent="0" marL="0">
                        <a:buNone/>
                      </a:pPr>
                      <a:r>
                        <a:rPr lang="en-US" sz="1500" b="1" dirty="0">
                          <a:solidFill>
                            <a:srgbClr val="FFFFFF"/>
                          </a:solidFill>
                        </a:rPr>
                        <a:t>Risk</a:t>
                      </a:r>
                      <a:endParaRPr lang="en-US" sz="15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0A1A33"/>
                    </a:solidFill>
                  </a:tcPr>
                </a:tc>
                <a:tc>
                  <a:txBody>
                    <a:bodyPr/>
                    <a:lstStyle/>
                    <a:p>
                      <a:pPr indent="0" marL="0">
                        <a:buNone/>
                      </a:pPr>
                      <a:r>
                        <a:rPr lang="en-US" sz="1500" b="1" dirty="0">
                          <a:solidFill>
                            <a:srgbClr val="FFFFFF"/>
                          </a:solidFill>
                        </a:rPr>
                        <a:t>Mitigation</a:t>
                      </a:r>
                      <a:endParaRPr lang="en-US" sz="15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0A1A33"/>
                    </a:solidFill>
                  </a:tcPr>
                </a:tc>
              </a:tr>
              <a:tr h="393192">
                <a:tc>
                  <a:txBody>
                    <a:bodyPr/>
                    <a:lstStyle/>
                    <a:p>
                      <a:pPr indent="0" marL="0">
                        <a:buNone/>
                      </a:pPr>
                      <a:r>
                        <a:rPr lang="en-US" sz="1400" b="1" dirty="0">
                          <a:solidFill>
                            <a:srgbClr val="0A1A33"/>
                          </a:solidFill>
                        </a:rPr>
                        <a:t>Learning curve</a:t>
                      </a:r>
                      <a:endParaRPr lang="en-US" sz="14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400" dirty="0">
                          <a:solidFill>
                            <a:srgbClr val="0A1A33"/>
                          </a:solidFill>
                        </a:rPr>
                        <a:t>Training and documented standards</a:t>
                      </a:r>
                      <a:endParaRPr lang="en-US" sz="14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93192">
                <a:tc>
                  <a:txBody>
                    <a:bodyPr/>
                    <a:lstStyle/>
                    <a:p>
                      <a:pPr indent="0" marL="0">
                        <a:buNone/>
                      </a:pPr>
                      <a:r>
                        <a:rPr lang="en-US" sz="1400" b="1" dirty="0">
                          <a:solidFill>
                            <a:srgbClr val="0A1A33"/>
                          </a:solidFill>
                        </a:rPr>
                        <a:t>GitOps repository complexity</a:t>
                      </a:r>
                      <a:endParaRPr lang="en-US" sz="14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400" dirty="0">
                          <a:solidFill>
                            <a:srgbClr val="0A1A33"/>
                          </a:solidFill>
                        </a:rPr>
                        <a:t>Standard repository structure</a:t>
                      </a:r>
                      <a:endParaRPr lang="en-US" sz="14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93192">
                <a:tc>
                  <a:txBody>
                    <a:bodyPr/>
                    <a:lstStyle/>
                    <a:p>
                      <a:pPr indent="0" marL="0">
                        <a:buNone/>
                      </a:pPr>
                      <a:r>
                        <a:rPr lang="en-US" sz="1400" b="1" dirty="0">
                          <a:solidFill>
                            <a:srgbClr val="0A1A33"/>
                          </a:solidFill>
                        </a:rPr>
                        <a:t>Argo CD becomes critical infrastructure</a:t>
                      </a:r>
                      <a:endParaRPr lang="en-US" sz="14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400" dirty="0">
                          <a:solidFill>
                            <a:srgbClr val="0A1A33"/>
                          </a:solidFill>
                        </a:rPr>
                        <a:t>HA deployment, backup and monitoring</a:t>
                      </a:r>
                      <a:endParaRPr lang="en-US" sz="14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93192">
                <a:tc>
                  <a:txBody>
                    <a:bodyPr/>
                    <a:lstStyle/>
                    <a:p>
                      <a:pPr indent="0" marL="0">
                        <a:buNone/>
                      </a:pPr>
                      <a:r>
                        <a:rPr lang="en-US" sz="1400" b="1" dirty="0">
                          <a:solidFill>
                            <a:srgbClr val="0A1A33"/>
                          </a:solidFill>
                        </a:rPr>
                        <a:t>Unauthorized changes</a:t>
                      </a:r>
                      <a:endParaRPr lang="en-US" sz="14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400" dirty="0">
                          <a:solidFill>
                            <a:srgbClr val="0A1A33"/>
                          </a:solidFill>
                        </a:rPr>
                        <a:t>Protected branches and RBAC</a:t>
                      </a:r>
                      <a:endParaRPr lang="en-US" sz="14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93192">
                <a:tc>
                  <a:txBody>
                    <a:bodyPr/>
                    <a:lstStyle/>
                    <a:p>
                      <a:pPr indent="0" marL="0">
                        <a:buNone/>
                      </a:pPr>
                      <a:r>
                        <a:rPr lang="en-US" sz="1400" b="1" dirty="0">
                          <a:solidFill>
                            <a:srgbClr val="0A1A33"/>
                          </a:solidFill>
                        </a:rPr>
                        <a:t>Secret exposure</a:t>
                      </a:r>
                      <a:endParaRPr lang="en-US" sz="14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400" dirty="0">
                          <a:solidFill>
                            <a:srgbClr val="0A1A33"/>
                          </a:solidFill>
                        </a:rPr>
                        <a:t>External secret management</a:t>
                      </a:r>
                      <a:endParaRPr lang="en-US" sz="14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93192">
                <a:tc>
                  <a:txBody>
                    <a:bodyPr/>
                    <a:lstStyle/>
                    <a:p>
                      <a:pPr indent="0" marL="0">
                        <a:buNone/>
                      </a:pPr>
                      <a:r>
                        <a:rPr lang="en-US" sz="1400" b="1" dirty="0">
                          <a:solidFill>
                            <a:srgbClr val="0A1A33"/>
                          </a:solidFill>
                        </a:rPr>
                        <a:t>Compliance retention</a:t>
                      </a:r>
                      <a:endParaRPr lang="en-US" sz="14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400" dirty="0">
                          <a:solidFill>
                            <a:srgbClr val="0A1A33"/>
                          </a:solidFill>
                        </a:rPr>
                        <a:t>Centralized audit and log retention</a:t>
                      </a:r>
                      <a:endParaRPr lang="en-US" sz="14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93192">
                <a:tc>
                  <a:txBody>
                    <a:bodyPr/>
                    <a:lstStyle/>
                    <a:p>
                      <a:pPr indent="0" marL="0">
                        <a:buNone/>
                      </a:pPr>
                      <a:r>
                        <a:rPr lang="en-US" sz="1400" b="1" dirty="0">
                          <a:solidFill>
                            <a:srgbClr val="0A1A33"/>
                          </a:solidFill>
                        </a:rPr>
                        <a:t>Migration complexity</a:t>
                      </a:r>
                      <a:endParaRPr lang="en-US" sz="14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400" dirty="0">
                          <a:solidFill>
                            <a:srgbClr val="0A1A33"/>
                          </a:solidFill>
                        </a:rPr>
                        <a:t>Phased rollout, application by application</a:t>
                      </a:r>
                      <a:endParaRPr lang="en-US" sz="1400" dirty="0"/>
                    </a:p>
                  </a:txBody>
                  <a:tcPr marL="109728" marR="109728" marT="18288" marB="18288"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Argo CD Trade-offs</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What we gain, and what we take on in exchange</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828800"/>
                <a:gridCol w="3063240"/>
                <a:gridCol w="3337560"/>
              </a:tblGrid>
              <a:tr h="310896">
                <a:tc>
                  <a:txBody>
                    <a:bodyPr/>
                    <a:lstStyle/>
                    <a:p>
                      <a:pPr indent="0" marL="0">
                        <a:buNone/>
                      </a:pPr>
                      <a:r>
                        <a:rPr lang="en-US" sz="1300" b="1" dirty="0">
                          <a:solidFill>
                            <a:srgbClr val="FFFFFF"/>
                          </a:solidFill>
                        </a:rPr>
                        <a:t>Design choice</a:t>
                      </a:r>
                      <a:endParaRPr lang="en-US" sz="13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0A1A33"/>
                    </a:solidFill>
                  </a:tcPr>
                </a:tc>
                <a:tc>
                  <a:txBody>
                    <a:bodyPr/>
                    <a:lstStyle/>
                    <a:p>
                      <a:pPr indent="0" marL="0">
                        <a:buNone/>
                      </a:pPr>
                      <a:r>
                        <a:rPr lang="en-US" sz="1300" b="1" dirty="0">
                          <a:solidFill>
                            <a:srgbClr val="FFFFFF"/>
                          </a:solidFill>
                        </a:rPr>
                        <a:t>What we gain</a:t>
                      </a:r>
                      <a:endParaRPr lang="en-US" sz="13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7E34"/>
                    </a:solidFill>
                  </a:tcPr>
                </a:tc>
                <a:tc>
                  <a:txBody>
                    <a:bodyPr/>
                    <a:lstStyle/>
                    <a:p>
                      <a:pPr indent="0" marL="0">
                        <a:buNone/>
                      </a:pPr>
                      <a:r>
                        <a:rPr lang="en-US" sz="1300" b="1" dirty="0">
                          <a:solidFill>
                            <a:srgbClr val="FFFFFF"/>
                          </a:solidFill>
                        </a:rPr>
                        <a:t>What we take on</a:t>
                      </a:r>
                      <a:endParaRPr lang="en-US" sz="13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B83A4B"/>
                    </a:solidFill>
                  </a:tcPr>
                </a:tc>
              </a:tr>
              <a:tr h="457200">
                <a:tc>
                  <a:txBody>
                    <a:bodyPr/>
                    <a:lstStyle/>
                    <a:p>
                      <a:pPr indent="0" marL="0">
                        <a:buNone/>
                      </a:pPr>
                      <a:r>
                        <a:rPr lang="en-US" sz="1200" b="1" dirty="0">
                          <a:solidFill>
                            <a:srgbClr val="0A1A33"/>
                          </a:solidFill>
                        </a:rPr>
                        <a:t>Pull-based, Git-driven deploys</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Auditable desired state; CI no longer needs cluster credentials</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Extra hop (Git, then Argo CD); one more component in the deploy path</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457200">
                <a:tc>
                  <a:txBody>
                    <a:bodyPr/>
                    <a:lstStyle/>
                    <a:p>
                      <a:pPr indent="0" marL="0">
                        <a:buNone/>
                      </a:pPr>
                      <a:r>
                        <a:rPr lang="en-US" sz="1200" b="1" dirty="0">
                          <a:solidFill>
                            <a:srgbClr val="0A1A33"/>
                          </a:solidFill>
                        </a:rPr>
                        <a:t>Separate GitOps repository</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Clear CI / CD split with its own review rules</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Two repos to manage; CI needs automation to bump versions</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A1A33"/>
                          </a:solidFill>
                        </a:rPr>
                        <a:t>Continuous reconciliation</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Drift is visible and can be self-healed</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Manual kubectl hotfixes are flagged or reverted; break-glass process needed</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457200">
                <a:tc>
                  <a:txBody>
                    <a:bodyPr/>
                    <a:lstStyle/>
                    <a:p>
                      <a:pPr indent="0" marL="0">
                        <a:buNone/>
                      </a:pPr>
                      <a:r>
                        <a:rPr lang="en-US" sz="1200" b="1" dirty="0">
                          <a:solidFill>
                            <a:srgbClr val="0A1A33"/>
                          </a:solidFill>
                        </a:rPr>
                        <a:t>Central controller</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One view of apps, health and sync across clusters</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Critical component: HA, upgrades, backup and monitoring to own</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A1A33"/>
                          </a:solidFill>
                        </a:rPr>
                        <a:t>Declarative everything</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Reproducible, reviewable changes</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Learning curve; Helm / Kustomize standards; secrets need external tooling</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457200">
                <a:tc>
                  <a:txBody>
                    <a:bodyPr/>
                    <a:lstStyle/>
                    <a:p>
                      <a:pPr indent="0" marL="0">
                        <a:buNone/>
                      </a:pPr>
                      <a:r>
                        <a:rPr lang="en-US" sz="1200" b="1" dirty="0">
                          <a:solidFill>
                            <a:srgbClr val="0A1A33"/>
                          </a:solidFill>
                        </a:rPr>
                        <a:t>Visibility, not an audit system</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Git history and sync status in one place</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Formal retention still needs logs, SIEM and policy; Argo CD keeps limited sync history</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POC &amp; Migration Strategy</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Start small, validate against criteria, then expand environment by environment</a:t>
            </a:r>
            <a:endParaRPr lang="en-US" sz="1500" dirty="0"/>
          </a:p>
        </p:txBody>
      </p:sp>
      <p:sp>
        <p:nvSpPr>
          <p:cNvPr id="4" name="Card 408"/>
          <p:cNvSpPr/>
          <p:nvPr/>
        </p:nvSpPr>
        <p:spPr>
          <a:xfrm>
            <a:off x="457200" y="1371600"/>
            <a:ext cx="1554480" cy="1143000"/>
          </a:xfrm>
          <a:prstGeom prst="roundRect">
            <a:avLst>
              <a:gd name="adj" fmla="val 6400"/>
            </a:avLst>
          </a:prstGeom>
          <a:solidFill>
            <a:schemeClr val="accent2"/>
          </a:solidFill>
          <a:ln/>
        </p:spPr>
      </p:sp>
      <p:sp>
        <p:nvSpPr>
          <p:cNvPr id="5" name="Text 409"/>
          <p:cNvSpPr txBox="1"/>
          <p:nvPr/>
        </p:nvSpPr>
        <p:spPr>
          <a:xfrm>
            <a:off x="566928" y="1371600"/>
            <a:ext cx="1371600" cy="1143000"/>
          </a:xfrm>
          <a:prstGeom prst="rect">
            <a:avLst/>
          </a:prstGeom>
          <a:noFill/>
          <a:ln/>
        </p:spPr>
        <p:txBody>
          <a:bodyPr wrap="square" lIns="0" tIns="0" rIns="0" bIns="0" rtlCol="0" anchor="ctr"/>
          <a:lstStyle/>
          <a:p>
            <a:pPr indent="0" marL="0">
              <a:buNone/>
            </a:pPr>
            <a:r>
              <a:rPr lang="en-US" sz="1100" b="1" dirty="0">
                <a:solidFill>
                  <a:schemeClr val="tx1"/>
                </a:solidFill>
              </a:rPr>
              <a:t>PHASE 1</a:t>
            </a:r>
            <a:endParaRPr lang="en-US" sz="1400" dirty="0"/>
          </a:p>
          <a:p>
            <a:pPr indent="0" marL="0">
              <a:buNone/>
            </a:pPr>
            <a:r>
              <a:rPr lang="en-US" sz="1500" b="1" dirty="0">
                <a:solidFill>
                  <a:schemeClr val="tx1"/>
                </a:solidFill>
              </a:rPr>
              <a:t>POC</a:t>
            </a:r>
            <a:endParaRPr lang="en-US" sz="1400" dirty="0"/>
          </a:p>
          <a:p>
            <a:pPr indent="0" marL="0">
              <a:buNone/>
            </a:pPr>
            <a:r>
              <a:rPr lang="en-US" sz="1200" dirty="0">
                <a:solidFill>
                  <a:schemeClr val="tx1"/>
                </a:solidFill>
              </a:rPr>
              <a:t>1–2 applications</a:t>
            </a:r>
            <a:endParaRPr lang="en-US" sz="1400" dirty="0"/>
          </a:p>
        </p:txBody>
      </p:sp>
      <p:sp>
        <p:nvSpPr>
          <p:cNvPr id="6" name="Card 410"/>
          <p:cNvSpPr/>
          <p:nvPr/>
        </p:nvSpPr>
        <p:spPr>
          <a:xfrm>
            <a:off x="2132838" y="1371600"/>
            <a:ext cx="1554480" cy="1143000"/>
          </a:xfrm>
          <a:prstGeom prst="roundRect">
            <a:avLst>
              <a:gd name="adj" fmla="val 6400"/>
            </a:avLst>
          </a:prstGeom>
          <a:solidFill>
            <a:schemeClr val="bg2"/>
          </a:solidFill>
          <a:ln/>
        </p:spPr>
      </p:sp>
      <p:sp>
        <p:nvSpPr>
          <p:cNvPr id="7" name="Text 411"/>
          <p:cNvSpPr txBox="1"/>
          <p:nvPr/>
        </p:nvSpPr>
        <p:spPr>
          <a:xfrm>
            <a:off x="2242566" y="1371600"/>
            <a:ext cx="1371600" cy="1143000"/>
          </a:xfrm>
          <a:prstGeom prst="rect">
            <a:avLst/>
          </a:prstGeom>
          <a:noFill/>
          <a:ln/>
        </p:spPr>
        <p:txBody>
          <a:bodyPr wrap="square" lIns="0" tIns="0" rIns="0" bIns="0" rtlCol="0" anchor="ctr"/>
          <a:lstStyle/>
          <a:p>
            <a:pPr indent="0" marL="0">
              <a:buNone/>
            </a:pPr>
            <a:r>
              <a:rPr lang="en-US" sz="1100" b="1" dirty="0">
                <a:solidFill>
                  <a:schemeClr val="tx2"/>
                </a:solidFill>
              </a:rPr>
              <a:t>PHASE 2</a:t>
            </a:r>
            <a:endParaRPr lang="en-US" sz="1400" dirty="0"/>
          </a:p>
          <a:p>
            <a:pPr indent="0" marL="0">
              <a:buNone/>
            </a:pPr>
            <a:r>
              <a:rPr lang="en-US" sz="1500" b="1" dirty="0">
                <a:solidFill>
                  <a:schemeClr val="tx1"/>
                </a:solidFill>
              </a:rPr>
              <a:t>DEV / QA</a:t>
            </a:r>
            <a:endParaRPr lang="en-US" sz="1400" dirty="0"/>
          </a:p>
          <a:p>
            <a:pPr indent="0" marL="0">
              <a:buNone/>
            </a:pPr>
            <a:r>
              <a:rPr lang="en-US" sz="1200" dirty="0">
                <a:solidFill>
                  <a:schemeClr val="tx1"/>
                </a:solidFill>
              </a:rPr>
              <a:t>Lower environments</a:t>
            </a:r>
            <a:endParaRPr lang="en-US" sz="1400" dirty="0"/>
          </a:p>
        </p:txBody>
      </p:sp>
      <p:sp>
        <p:nvSpPr>
          <p:cNvPr id="8" name="Card 412"/>
          <p:cNvSpPr/>
          <p:nvPr/>
        </p:nvSpPr>
        <p:spPr>
          <a:xfrm>
            <a:off x="3808476" y="1371600"/>
            <a:ext cx="1554480" cy="1143000"/>
          </a:xfrm>
          <a:prstGeom prst="roundRect">
            <a:avLst>
              <a:gd name="adj" fmla="val 6400"/>
            </a:avLst>
          </a:prstGeom>
          <a:solidFill>
            <a:schemeClr val="bg2"/>
          </a:solidFill>
          <a:ln/>
        </p:spPr>
      </p:sp>
      <p:sp>
        <p:nvSpPr>
          <p:cNvPr id="9" name="Text 413"/>
          <p:cNvSpPr txBox="1"/>
          <p:nvPr/>
        </p:nvSpPr>
        <p:spPr>
          <a:xfrm>
            <a:off x="3918204" y="1371600"/>
            <a:ext cx="1371600" cy="1143000"/>
          </a:xfrm>
          <a:prstGeom prst="rect">
            <a:avLst/>
          </a:prstGeom>
          <a:noFill/>
          <a:ln/>
        </p:spPr>
        <p:txBody>
          <a:bodyPr wrap="square" lIns="0" tIns="0" rIns="0" bIns="0" rtlCol="0" anchor="ctr"/>
          <a:lstStyle/>
          <a:p>
            <a:pPr indent="0" marL="0">
              <a:buNone/>
            </a:pPr>
            <a:r>
              <a:rPr lang="en-US" sz="1100" b="1" dirty="0">
                <a:solidFill>
                  <a:schemeClr val="tx2"/>
                </a:solidFill>
              </a:rPr>
              <a:t>PHASE 3</a:t>
            </a:r>
            <a:endParaRPr lang="en-US" sz="1400" dirty="0"/>
          </a:p>
          <a:p>
            <a:pPr indent="0" marL="0">
              <a:buNone/>
            </a:pPr>
            <a:r>
              <a:rPr lang="en-US" sz="1500" b="1" dirty="0">
                <a:solidFill>
                  <a:schemeClr val="tx1"/>
                </a:solidFill>
              </a:rPr>
              <a:t>UAT</a:t>
            </a:r>
            <a:endParaRPr lang="en-US" sz="1400" dirty="0"/>
          </a:p>
          <a:p>
            <a:pPr indent="0" marL="0">
              <a:buNone/>
            </a:pPr>
            <a:r>
              <a:rPr lang="en-US" sz="1200" dirty="0">
                <a:solidFill>
                  <a:schemeClr val="tx1"/>
                </a:solidFill>
              </a:rPr>
              <a:t>Pre-production validation</a:t>
            </a:r>
            <a:endParaRPr lang="en-US" sz="1400" dirty="0"/>
          </a:p>
        </p:txBody>
      </p:sp>
      <p:sp>
        <p:nvSpPr>
          <p:cNvPr id="10" name="Card 414"/>
          <p:cNvSpPr/>
          <p:nvPr/>
        </p:nvSpPr>
        <p:spPr>
          <a:xfrm>
            <a:off x="5484114" y="1371600"/>
            <a:ext cx="1554480" cy="1143000"/>
          </a:xfrm>
          <a:prstGeom prst="roundRect">
            <a:avLst>
              <a:gd name="adj" fmla="val 6400"/>
            </a:avLst>
          </a:prstGeom>
          <a:solidFill>
            <a:schemeClr val="bg2"/>
          </a:solidFill>
          <a:ln/>
        </p:spPr>
      </p:sp>
      <p:sp>
        <p:nvSpPr>
          <p:cNvPr id="11" name="Text 415"/>
          <p:cNvSpPr txBox="1"/>
          <p:nvPr/>
        </p:nvSpPr>
        <p:spPr>
          <a:xfrm>
            <a:off x="5593842" y="1371600"/>
            <a:ext cx="1371600" cy="1143000"/>
          </a:xfrm>
          <a:prstGeom prst="rect">
            <a:avLst/>
          </a:prstGeom>
          <a:noFill/>
          <a:ln/>
        </p:spPr>
        <p:txBody>
          <a:bodyPr wrap="square" lIns="0" tIns="0" rIns="0" bIns="0" rtlCol="0" anchor="ctr"/>
          <a:lstStyle/>
          <a:p>
            <a:pPr indent="0" marL="0">
              <a:buNone/>
            </a:pPr>
            <a:r>
              <a:rPr lang="en-US" sz="1100" b="1" dirty="0">
                <a:solidFill>
                  <a:schemeClr val="tx2"/>
                </a:solidFill>
              </a:rPr>
              <a:t>PHASE 4</a:t>
            </a:r>
            <a:endParaRPr lang="en-US" sz="1400" dirty="0"/>
          </a:p>
          <a:p>
            <a:pPr indent="0" marL="0">
              <a:buNone/>
            </a:pPr>
            <a:r>
              <a:rPr lang="en-US" sz="1500" b="1" dirty="0">
                <a:solidFill>
                  <a:schemeClr val="tx1"/>
                </a:solidFill>
              </a:rPr>
              <a:t>Production</a:t>
            </a:r>
            <a:endParaRPr lang="en-US" sz="1400" dirty="0"/>
          </a:p>
          <a:p>
            <a:pPr indent="0" marL="0">
              <a:buNone/>
            </a:pPr>
            <a:r>
              <a:rPr lang="en-US" sz="1200" dirty="0">
                <a:solidFill>
                  <a:schemeClr val="tx1"/>
                </a:solidFill>
              </a:rPr>
              <a:t>Controlled cut-over</a:t>
            </a:r>
            <a:endParaRPr lang="en-US" sz="1400" dirty="0"/>
          </a:p>
        </p:txBody>
      </p:sp>
      <p:sp>
        <p:nvSpPr>
          <p:cNvPr id="12" name="Card 416"/>
          <p:cNvSpPr/>
          <p:nvPr/>
        </p:nvSpPr>
        <p:spPr>
          <a:xfrm>
            <a:off x="7159752" y="1371600"/>
            <a:ext cx="1554480" cy="1143000"/>
          </a:xfrm>
          <a:prstGeom prst="roundRect">
            <a:avLst>
              <a:gd name="adj" fmla="val 6400"/>
            </a:avLst>
          </a:prstGeom>
          <a:solidFill>
            <a:schemeClr val="bg2"/>
          </a:solidFill>
          <a:ln/>
        </p:spPr>
      </p:sp>
      <p:sp>
        <p:nvSpPr>
          <p:cNvPr id="13" name="Text 417"/>
          <p:cNvSpPr txBox="1"/>
          <p:nvPr/>
        </p:nvSpPr>
        <p:spPr>
          <a:xfrm>
            <a:off x="7269480" y="1371600"/>
            <a:ext cx="1371600" cy="1143000"/>
          </a:xfrm>
          <a:prstGeom prst="rect">
            <a:avLst/>
          </a:prstGeom>
          <a:noFill/>
          <a:ln/>
        </p:spPr>
        <p:txBody>
          <a:bodyPr wrap="square" lIns="0" tIns="0" rIns="0" bIns="0" rtlCol="0" anchor="ctr"/>
          <a:lstStyle/>
          <a:p>
            <a:pPr indent="0" marL="0">
              <a:buNone/>
            </a:pPr>
            <a:r>
              <a:rPr lang="en-US" sz="1100" b="1" dirty="0">
                <a:solidFill>
                  <a:schemeClr val="tx2"/>
                </a:solidFill>
              </a:rPr>
              <a:t>PHASE 5</a:t>
            </a:r>
            <a:endParaRPr lang="en-US" sz="1400" dirty="0"/>
          </a:p>
          <a:p>
            <a:pPr indent="0" marL="0">
              <a:buNone/>
            </a:pPr>
            <a:r>
              <a:rPr lang="en-US" sz="1500" b="1" dirty="0">
                <a:solidFill>
                  <a:schemeClr val="tx1"/>
                </a:solidFill>
              </a:rPr>
              <a:t>Standardization</a:t>
            </a:r>
            <a:endParaRPr lang="en-US" sz="1400" dirty="0"/>
          </a:p>
          <a:p>
            <a:pPr indent="0" marL="0">
              <a:buNone/>
            </a:pPr>
            <a:r>
              <a:rPr lang="en-US" sz="1200" dirty="0">
                <a:solidFill>
                  <a:schemeClr val="tx1"/>
                </a:solidFill>
              </a:rPr>
              <a:t>Templates and runbooks</a:t>
            </a:r>
            <a:endParaRPr lang="en-US" sz="1400" dirty="0"/>
          </a:p>
        </p:txBody>
      </p:sp>
      <p:sp>
        <p:nvSpPr>
          <p:cNvPr id="14" name="Text 418"/>
          <p:cNvSpPr txBox="1"/>
          <p:nvPr/>
        </p:nvSpPr>
        <p:spPr>
          <a:xfrm>
            <a:off x="457200" y="2697480"/>
            <a:ext cx="8229600" cy="274320"/>
          </a:xfrm>
          <a:prstGeom prst="rect">
            <a:avLst/>
          </a:prstGeom>
          <a:noFill/>
          <a:ln/>
        </p:spPr>
        <p:txBody>
          <a:bodyPr wrap="square" lIns="0" tIns="0" rIns="0" bIns="0" rtlCol="0" anchor="ctr"/>
          <a:lstStyle/>
          <a:p>
            <a:pPr indent="0" marL="0">
              <a:buNone/>
            </a:pPr>
            <a:r>
              <a:rPr lang="en-US" sz="1400" b="1" dirty="0">
                <a:solidFill>
                  <a:schemeClr val="tx2"/>
                </a:solidFill>
              </a:rPr>
              <a:t>POC validation criteria</a:t>
            </a:r>
            <a:endParaRPr lang="en-US" sz="1400" dirty="0"/>
          </a:p>
        </p:txBody>
      </p:sp>
      <p:sp>
        <p:nvSpPr>
          <p:cNvPr id="15" name="Card 419"/>
          <p:cNvSpPr/>
          <p:nvPr/>
        </p:nvSpPr>
        <p:spPr>
          <a:xfrm>
            <a:off x="457200" y="3017520"/>
            <a:ext cx="2651760" cy="429768"/>
          </a:xfrm>
          <a:prstGeom prst="roundRect">
            <a:avLst>
              <a:gd name="adj" fmla="val 17021"/>
            </a:avLst>
          </a:prstGeom>
          <a:solidFill>
            <a:schemeClr val="bg2"/>
          </a:solidFill>
          <a:ln/>
        </p:spPr>
      </p:sp>
      <p:pic>
        <p:nvPicPr>
          <p:cNvPr id="16" name="Icon 420" descr="check">    </p:cNvPr>
          <p:cNvPicPr>
            <a:picLocks noChangeAspect="1"/>
          </p:cNvPicPr>
          <p:nvPr/>
        </p:nvPicPr>
        <p:blipFill>
          <a:blip r:embed="rId1"/>
          <a:stretch>
            <a:fillRect/>
          </a:stretch>
        </p:blipFill>
        <p:spPr>
          <a:xfrm>
            <a:off x="585216" y="3131820"/>
            <a:ext cx="201168" cy="201168"/>
          </a:xfrm>
          <a:prstGeom prst="rect">
            <a:avLst/>
          </a:prstGeom>
        </p:spPr>
      </p:pic>
      <p:sp>
        <p:nvSpPr>
          <p:cNvPr id="17" name="Text 421"/>
          <p:cNvSpPr txBox="1"/>
          <p:nvPr/>
        </p:nvSpPr>
        <p:spPr>
          <a:xfrm>
            <a:off x="914400" y="3017520"/>
            <a:ext cx="2103120" cy="429768"/>
          </a:xfrm>
          <a:prstGeom prst="rect">
            <a:avLst/>
          </a:prstGeom>
          <a:noFill/>
          <a:ln/>
        </p:spPr>
        <p:txBody>
          <a:bodyPr wrap="square" lIns="0" tIns="0" rIns="0" bIns="0" rtlCol="0" anchor="ctr"/>
          <a:lstStyle/>
          <a:p>
            <a:pPr indent="0" marL="0">
              <a:buNone/>
            </a:pPr>
            <a:r>
              <a:rPr lang="en-US" sz="1400" b="1" dirty="0">
                <a:solidFill>
                  <a:schemeClr val="tx1"/>
                </a:solidFill>
              </a:rPr>
              <a:t>Deployment traceability</a:t>
            </a:r>
            <a:endParaRPr lang="en-US" sz="1400" dirty="0"/>
          </a:p>
        </p:txBody>
      </p:sp>
      <p:sp>
        <p:nvSpPr>
          <p:cNvPr id="18" name="Card 422"/>
          <p:cNvSpPr/>
          <p:nvPr/>
        </p:nvSpPr>
        <p:spPr>
          <a:xfrm>
            <a:off x="3246120" y="3017520"/>
            <a:ext cx="2651760" cy="429768"/>
          </a:xfrm>
          <a:prstGeom prst="roundRect">
            <a:avLst>
              <a:gd name="adj" fmla="val 17021"/>
            </a:avLst>
          </a:prstGeom>
          <a:solidFill>
            <a:schemeClr val="bg2"/>
          </a:solidFill>
          <a:ln/>
        </p:spPr>
      </p:sp>
      <p:pic>
        <p:nvPicPr>
          <p:cNvPr id="19" name="Icon 423" descr="check">    </p:cNvPr>
          <p:cNvPicPr>
            <a:picLocks noChangeAspect="1"/>
          </p:cNvPicPr>
          <p:nvPr/>
        </p:nvPicPr>
        <p:blipFill>
          <a:blip r:embed="rId2"/>
          <a:stretch>
            <a:fillRect/>
          </a:stretch>
        </p:blipFill>
        <p:spPr>
          <a:xfrm>
            <a:off x="3374136" y="3131820"/>
            <a:ext cx="201168" cy="201168"/>
          </a:xfrm>
          <a:prstGeom prst="rect">
            <a:avLst/>
          </a:prstGeom>
        </p:spPr>
      </p:pic>
      <p:sp>
        <p:nvSpPr>
          <p:cNvPr id="20" name="Text 424"/>
          <p:cNvSpPr txBox="1"/>
          <p:nvPr/>
        </p:nvSpPr>
        <p:spPr>
          <a:xfrm>
            <a:off x="3703320" y="3017520"/>
            <a:ext cx="2103120" cy="429768"/>
          </a:xfrm>
          <a:prstGeom prst="rect">
            <a:avLst/>
          </a:prstGeom>
          <a:noFill/>
          <a:ln/>
        </p:spPr>
        <p:txBody>
          <a:bodyPr wrap="square" lIns="0" tIns="0" rIns="0" bIns="0" rtlCol="0" anchor="ctr"/>
          <a:lstStyle/>
          <a:p>
            <a:pPr indent="0" marL="0">
              <a:buNone/>
            </a:pPr>
            <a:r>
              <a:rPr lang="en-US" sz="1400" b="1" dirty="0">
                <a:solidFill>
                  <a:schemeClr val="tx1"/>
                </a:solidFill>
              </a:rPr>
              <a:t>GitOps workflow</a:t>
            </a:r>
            <a:endParaRPr lang="en-US" sz="1400" dirty="0"/>
          </a:p>
        </p:txBody>
      </p:sp>
      <p:sp>
        <p:nvSpPr>
          <p:cNvPr id="21" name="Card 425"/>
          <p:cNvSpPr/>
          <p:nvPr/>
        </p:nvSpPr>
        <p:spPr>
          <a:xfrm>
            <a:off x="6035040" y="3017520"/>
            <a:ext cx="2651760" cy="429768"/>
          </a:xfrm>
          <a:prstGeom prst="roundRect">
            <a:avLst>
              <a:gd name="adj" fmla="val 17021"/>
            </a:avLst>
          </a:prstGeom>
          <a:solidFill>
            <a:schemeClr val="bg2"/>
          </a:solidFill>
          <a:ln/>
        </p:spPr>
      </p:sp>
      <p:pic>
        <p:nvPicPr>
          <p:cNvPr id="22" name="Icon 426" descr="check">    </p:cNvPr>
          <p:cNvPicPr>
            <a:picLocks noChangeAspect="1"/>
          </p:cNvPicPr>
          <p:nvPr/>
        </p:nvPicPr>
        <p:blipFill>
          <a:blip r:embed="rId3"/>
          <a:stretch>
            <a:fillRect/>
          </a:stretch>
        </p:blipFill>
        <p:spPr>
          <a:xfrm>
            <a:off x="6163056" y="3131820"/>
            <a:ext cx="201168" cy="201168"/>
          </a:xfrm>
          <a:prstGeom prst="rect">
            <a:avLst/>
          </a:prstGeom>
        </p:spPr>
      </p:pic>
      <p:sp>
        <p:nvSpPr>
          <p:cNvPr id="23" name="Text 427"/>
          <p:cNvSpPr txBox="1"/>
          <p:nvPr/>
        </p:nvSpPr>
        <p:spPr>
          <a:xfrm>
            <a:off x="6492240" y="3017520"/>
            <a:ext cx="2103120" cy="429768"/>
          </a:xfrm>
          <a:prstGeom prst="rect">
            <a:avLst/>
          </a:prstGeom>
          <a:noFill/>
          <a:ln/>
        </p:spPr>
        <p:txBody>
          <a:bodyPr wrap="square" lIns="0" tIns="0" rIns="0" bIns="0" rtlCol="0" anchor="ctr"/>
          <a:lstStyle/>
          <a:p>
            <a:pPr indent="0" marL="0">
              <a:buNone/>
            </a:pPr>
            <a:r>
              <a:rPr lang="en-US" sz="1400" b="1" dirty="0">
                <a:solidFill>
                  <a:schemeClr val="tx1"/>
                </a:solidFill>
              </a:rPr>
              <a:t>Harbor integration</a:t>
            </a:r>
            <a:endParaRPr lang="en-US" sz="1400" dirty="0"/>
          </a:p>
        </p:txBody>
      </p:sp>
      <p:sp>
        <p:nvSpPr>
          <p:cNvPr id="24" name="Card 428"/>
          <p:cNvSpPr/>
          <p:nvPr/>
        </p:nvSpPr>
        <p:spPr>
          <a:xfrm>
            <a:off x="457200" y="3538728"/>
            <a:ext cx="2651760" cy="429768"/>
          </a:xfrm>
          <a:prstGeom prst="roundRect">
            <a:avLst>
              <a:gd name="adj" fmla="val 17021"/>
            </a:avLst>
          </a:prstGeom>
          <a:solidFill>
            <a:schemeClr val="bg2"/>
          </a:solidFill>
          <a:ln/>
        </p:spPr>
      </p:sp>
      <p:pic>
        <p:nvPicPr>
          <p:cNvPr id="25" name="Icon 429" descr="check">    </p:cNvPr>
          <p:cNvPicPr>
            <a:picLocks noChangeAspect="1"/>
          </p:cNvPicPr>
          <p:nvPr/>
        </p:nvPicPr>
        <p:blipFill>
          <a:blip r:embed="rId4"/>
          <a:stretch>
            <a:fillRect/>
          </a:stretch>
        </p:blipFill>
        <p:spPr>
          <a:xfrm>
            <a:off x="585216" y="3653028"/>
            <a:ext cx="201168" cy="201168"/>
          </a:xfrm>
          <a:prstGeom prst="rect">
            <a:avLst/>
          </a:prstGeom>
        </p:spPr>
      </p:pic>
      <p:sp>
        <p:nvSpPr>
          <p:cNvPr id="26" name="Text 430"/>
          <p:cNvSpPr txBox="1"/>
          <p:nvPr/>
        </p:nvSpPr>
        <p:spPr>
          <a:xfrm>
            <a:off x="914400" y="3538728"/>
            <a:ext cx="2103120" cy="429768"/>
          </a:xfrm>
          <a:prstGeom prst="rect">
            <a:avLst/>
          </a:prstGeom>
          <a:noFill/>
          <a:ln/>
        </p:spPr>
        <p:txBody>
          <a:bodyPr wrap="square" lIns="0" tIns="0" rIns="0" bIns="0" rtlCol="0" anchor="ctr"/>
          <a:lstStyle/>
          <a:p>
            <a:pPr indent="0" marL="0">
              <a:buNone/>
            </a:pPr>
            <a:r>
              <a:rPr lang="en-US" sz="1400" b="1" dirty="0">
                <a:solidFill>
                  <a:schemeClr val="tx1"/>
                </a:solidFill>
              </a:rPr>
              <a:t>Rollback</a:t>
            </a:r>
            <a:endParaRPr lang="en-US" sz="1400" dirty="0"/>
          </a:p>
        </p:txBody>
      </p:sp>
      <p:sp>
        <p:nvSpPr>
          <p:cNvPr id="27" name="Card 431"/>
          <p:cNvSpPr/>
          <p:nvPr/>
        </p:nvSpPr>
        <p:spPr>
          <a:xfrm>
            <a:off x="3246120" y="3538728"/>
            <a:ext cx="2651760" cy="429768"/>
          </a:xfrm>
          <a:prstGeom prst="roundRect">
            <a:avLst>
              <a:gd name="adj" fmla="val 17021"/>
            </a:avLst>
          </a:prstGeom>
          <a:solidFill>
            <a:schemeClr val="bg2"/>
          </a:solidFill>
          <a:ln/>
        </p:spPr>
      </p:sp>
      <p:pic>
        <p:nvPicPr>
          <p:cNvPr id="28" name="Icon 432" descr="check">    </p:cNvPr>
          <p:cNvPicPr>
            <a:picLocks noChangeAspect="1"/>
          </p:cNvPicPr>
          <p:nvPr/>
        </p:nvPicPr>
        <p:blipFill>
          <a:blip r:embed="rId5"/>
          <a:stretch>
            <a:fillRect/>
          </a:stretch>
        </p:blipFill>
        <p:spPr>
          <a:xfrm>
            <a:off x="3374136" y="3653028"/>
            <a:ext cx="201168" cy="201168"/>
          </a:xfrm>
          <a:prstGeom prst="rect">
            <a:avLst/>
          </a:prstGeom>
        </p:spPr>
      </p:pic>
      <p:sp>
        <p:nvSpPr>
          <p:cNvPr id="29" name="Text 433"/>
          <p:cNvSpPr txBox="1"/>
          <p:nvPr/>
        </p:nvSpPr>
        <p:spPr>
          <a:xfrm>
            <a:off x="3703320" y="3538728"/>
            <a:ext cx="2103120" cy="429768"/>
          </a:xfrm>
          <a:prstGeom prst="rect">
            <a:avLst/>
          </a:prstGeom>
          <a:noFill/>
          <a:ln/>
        </p:spPr>
        <p:txBody>
          <a:bodyPr wrap="square" lIns="0" tIns="0" rIns="0" bIns="0" rtlCol="0" anchor="ctr"/>
          <a:lstStyle/>
          <a:p>
            <a:pPr indent="0" marL="0">
              <a:buNone/>
            </a:pPr>
            <a:r>
              <a:rPr lang="en-US" sz="1400" b="1" dirty="0">
                <a:solidFill>
                  <a:schemeClr val="tx1"/>
                </a:solidFill>
              </a:rPr>
              <a:t>Drift detection</a:t>
            </a:r>
            <a:endParaRPr lang="en-US" sz="1400" dirty="0"/>
          </a:p>
        </p:txBody>
      </p:sp>
      <p:sp>
        <p:nvSpPr>
          <p:cNvPr id="30" name="Card 434"/>
          <p:cNvSpPr/>
          <p:nvPr/>
        </p:nvSpPr>
        <p:spPr>
          <a:xfrm>
            <a:off x="6035040" y="3538728"/>
            <a:ext cx="2651760" cy="429768"/>
          </a:xfrm>
          <a:prstGeom prst="roundRect">
            <a:avLst>
              <a:gd name="adj" fmla="val 17021"/>
            </a:avLst>
          </a:prstGeom>
          <a:solidFill>
            <a:schemeClr val="bg2"/>
          </a:solidFill>
          <a:ln/>
        </p:spPr>
      </p:sp>
      <p:pic>
        <p:nvPicPr>
          <p:cNvPr id="31" name="Icon 435" descr="check">    </p:cNvPr>
          <p:cNvPicPr>
            <a:picLocks noChangeAspect="1"/>
          </p:cNvPicPr>
          <p:nvPr/>
        </p:nvPicPr>
        <p:blipFill>
          <a:blip r:embed="rId6"/>
          <a:stretch>
            <a:fillRect/>
          </a:stretch>
        </p:blipFill>
        <p:spPr>
          <a:xfrm>
            <a:off x="6163056" y="3653028"/>
            <a:ext cx="201168" cy="201168"/>
          </a:xfrm>
          <a:prstGeom prst="rect">
            <a:avLst/>
          </a:prstGeom>
        </p:spPr>
      </p:pic>
      <p:sp>
        <p:nvSpPr>
          <p:cNvPr id="32" name="Text 436"/>
          <p:cNvSpPr txBox="1"/>
          <p:nvPr/>
        </p:nvSpPr>
        <p:spPr>
          <a:xfrm>
            <a:off x="6492240" y="3538728"/>
            <a:ext cx="2103120" cy="429768"/>
          </a:xfrm>
          <a:prstGeom prst="rect">
            <a:avLst/>
          </a:prstGeom>
          <a:noFill/>
          <a:ln/>
        </p:spPr>
        <p:txBody>
          <a:bodyPr wrap="square" lIns="0" tIns="0" rIns="0" bIns="0" rtlCol="0" anchor="ctr"/>
          <a:lstStyle/>
          <a:p>
            <a:pPr indent="0" marL="0">
              <a:buNone/>
            </a:pPr>
            <a:r>
              <a:rPr lang="en-US" sz="1400" b="1" dirty="0">
                <a:solidFill>
                  <a:schemeClr val="tx1"/>
                </a:solidFill>
              </a:rPr>
              <a:t>RBAC</a:t>
            </a:r>
            <a:endParaRPr lang="en-US" sz="1400" dirty="0"/>
          </a:p>
        </p:txBody>
      </p:sp>
      <p:sp>
        <p:nvSpPr>
          <p:cNvPr id="33" name="Card 437"/>
          <p:cNvSpPr/>
          <p:nvPr/>
        </p:nvSpPr>
        <p:spPr>
          <a:xfrm>
            <a:off x="457200" y="4059936"/>
            <a:ext cx="2651760" cy="429768"/>
          </a:xfrm>
          <a:prstGeom prst="roundRect">
            <a:avLst>
              <a:gd name="adj" fmla="val 17021"/>
            </a:avLst>
          </a:prstGeom>
          <a:solidFill>
            <a:schemeClr val="bg2"/>
          </a:solidFill>
          <a:ln/>
        </p:spPr>
      </p:sp>
      <p:pic>
        <p:nvPicPr>
          <p:cNvPr id="34" name="Icon 438" descr="check">    </p:cNvPr>
          <p:cNvPicPr>
            <a:picLocks noChangeAspect="1"/>
          </p:cNvPicPr>
          <p:nvPr/>
        </p:nvPicPr>
        <p:blipFill>
          <a:blip r:embed="rId7"/>
          <a:stretch>
            <a:fillRect/>
          </a:stretch>
        </p:blipFill>
        <p:spPr>
          <a:xfrm>
            <a:off x="585216" y="4174236"/>
            <a:ext cx="201168" cy="201168"/>
          </a:xfrm>
          <a:prstGeom prst="rect">
            <a:avLst/>
          </a:prstGeom>
        </p:spPr>
      </p:pic>
      <p:sp>
        <p:nvSpPr>
          <p:cNvPr id="35" name="Text 439"/>
          <p:cNvSpPr txBox="1"/>
          <p:nvPr/>
        </p:nvSpPr>
        <p:spPr>
          <a:xfrm>
            <a:off x="914400" y="4059936"/>
            <a:ext cx="2103120" cy="429768"/>
          </a:xfrm>
          <a:prstGeom prst="rect">
            <a:avLst/>
          </a:prstGeom>
          <a:noFill/>
          <a:ln/>
        </p:spPr>
        <p:txBody>
          <a:bodyPr wrap="square" lIns="0" tIns="0" rIns="0" bIns="0" rtlCol="0" anchor="ctr"/>
          <a:lstStyle/>
          <a:p>
            <a:pPr indent="0" marL="0">
              <a:buNone/>
            </a:pPr>
            <a:r>
              <a:rPr lang="en-US" sz="1400" b="1" dirty="0">
                <a:solidFill>
                  <a:schemeClr val="tx1"/>
                </a:solidFill>
              </a:rPr>
              <a:t>Approval workflow</a:t>
            </a:r>
            <a:endParaRPr lang="en-US" sz="1400" dirty="0"/>
          </a:p>
        </p:txBody>
      </p:sp>
      <p:sp>
        <p:nvSpPr>
          <p:cNvPr id="36" name="Card 440"/>
          <p:cNvSpPr/>
          <p:nvPr/>
        </p:nvSpPr>
        <p:spPr>
          <a:xfrm>
            <a:off x="3246120" y="4059936"/>
            <a:ext cx="2651760" cy="429768"/>
          </a:xfrm>
          <a:prstGeom prst="roundRect">
            <a:avLst>
              <a:gd name="adj" fmla="val 17021"/>
            </a:avLst>
          </a:prstGeom>
          <a:solidFill>
            <a:schemeClr val="bg2"/>
          </a:solidFill>
          <a:ln/>
        </p:spPr>
      </p:sp>
      <p:pic>
        <p:nvPicPr>
          <p:cNvPr id="37" name="Icon 441" descr="check">    </p:cNvPr>
          <p:cNvPicPr>
            <a:picLocks noChangeAspect="1"/>
          </p:cNvPicPr>
          <p:nvPr/>
        </p:nvPicPr>
        <p:blipFill>
          <a:blip r:embed="rId8"/>
          <a:stretch>
            <a:fillRect/>
          </a:stretch>
        </p:blipFill>
        <p:spPr>
          <a:xfrm>
            <a:off x="3374136" y="4174236"/>
            <a:ext cx="201168" cy="201168"/>
          </a:xfrm>
          <a:prstGeom prst="rect">
            <a:avLst/>
          </a:prstGeom>
        </p:spPr>
      </p:pic>
      <p:sp>
        <p:nvSpPr>
          <p:cNvPr id="38" name="Text 442"/>
          <p:cNvSpPr txBox="1"/>
          <p:nvPr/>
        </p:nvSpPr>
        <p:spPr>
          <a:xfrm>
            <a:off x="3703320" y="4059936"/>
            <a:ext cx="2103120" cy="429768"/>
          </a:xfrm>
          <a:prstGeom prst="rect">
            <a:avLst/>
          </a:prstGeom>
          <a:noFill/>
          <a:ln/>
        </p:spPr>
        <p:txBody>
          <a:bodyPr wrap="square" lIns="0" tIns="0" rIns="0" bIns="0" rtlCol="0" anchor="ctr"/>
          <a:lstStyle/>
          <a:p>
            <a:pPr indent="0" marL="0">
              <a:buNone/>
            </a:pPr>
            <a:r>
              <a:rPr lang="en-US" sz="1400" b="1" dirty="0">
                <a:solidFill>
                  <a:schemeClr val="tx1"/>
                </a:solidFill>
              </a:rPr>
              <a:t>Monitoring</a:t>
            </a:r>
            <a:endParaRPr lang="en-US" sz="1400" dirty="0"/>
          </a:p>
        </p:txBody>
      </p:sp>
      <p:sp>
        <p:nvSpPr>
          <p:cNvPr id="39" name="Card 443"/>
          <p:cNvSpPr/>
          <p:nvPr/>
        </p:nvSpPr>
        <p:spPr>
          <a:xfrm>
            <a:off x="6035040" y="4059936"/>
            <a:ext cx="2651760" cy="429768"/>
          </a:xfrm>
          <a:prstGeom prst="roundRect">
            <a:avLst>
              <a:gd name="adj" fmla="val 17021"/>
            </a:avLst>
          </a:prstGeom>
          <a:solidFill>
            <a:schemeClr val="bg2"/>
          </a:solidFill>
          <a:ln/>
        </p:spPr>
      </p:sp>
      <p:pic>
        <p:nvPicPr>
          <p:cNvPr id="40" name="Icon 444" descr="check">    </p:cNvPr>
          <p:cNvPicPr>
            <a:picLocks noChangeAspect="1"/>
          </p:cNvPicPr>
          <p:nvPr/>
        </p:nvPicPr>
        <p:blipFill>
          <a:blip r:embed="rId9"/>
          <a:stretch>
            <a:fillRect/>
          </a:stretch>
        </p:blipFill>
        <p:spPr>
          <a:xfrm>
            <a:off x="6163056" y="4174236"/>
            <a:ext cx="201168" cy="201168"/>
          </a:xfrm>
          <a:prstGeom prst="rect">
            <a:avLst/>
          </a:prstGeom>
        </p:spPr>
      </p:pic>
      <p:sp>
        <p:nvSpPr>
          <p:cNvPr id="41" name="Text 445"/>
          <p:cNvSpPr txBox="1"/>
          <p:nvPr/>
        </p:nvSpPr>
        <p:spPr>
          <a:xfrm>
            <a:off x="6492240" y="4059936"/>
            <a:ext cx="2103120" cy="429768"/>
          </a:xfrm>
          <a:prstGeom prst="rect">
            <a:avLst/>
          </a:prstGeom>
          <a:noFill/>
          <a:ln/>
        </p:spPr>
        <p:txBody>
          <a:bodyPr wrap="square" lIns="0" tIns="0" rIns="0" bIns="0" rtlCol="0" anchor="ctr"/>
          <a:lstStyle/>
          <a:p>
            <a:pPr indent="0" marL="0">
              <a:buNone/>
            </a:pPr>
            <a:r>
              <a:rPr lang="en-US" sz="1400" b="1" dirty="0">
                <a:solidFill>
                  <a:schemeClr val="tx1"/>
                </a:solidFill>
              </a:rPr>
              <a:t>Audit requirements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tx1"/>
                </a:solidFill>
              </a:rPr>
              <a:t>Measurable POC Success Criteria</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Targets are proposals. Agree thresholds and capture baselines before the POC starts</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600200"/>
                <a:gridCol w="3703320"/>
                <a:gridCol w="1371600"/>
                <a:gridCol w="1554480"/>
              </a:tblGrid>
              <a:tr h="365760">
                <a:tc>
                  <a:txBody>
                    <a:bodyPr/>
                    <a:lstStyle/>
                    <a:p>
                      <a:pPr indent="0" marL="0">
                        <a:buNone/>
                      </a:pPr>
                      <a:r>
                        <a:rPr lang="en-US" sz="1200" b="1" dirty="0">
                          <a:solidFill>
                            <a:srgbClr val="FFFFFF"/>
                          </a:solidFill>
                        </a:rPr>
                        <a:t>Criterion</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0A1A33"/>
                    </a:solidFill>
                  </a:tcPr>
                </a:tc>
                <a:tc>
                  <a:txBody>
                    <a:bodyPr/>
                    <a:lstStyle/>
                    <a:p>
                      <a:pPr indent="0" marL="0">
                        <a:buNone/>
                      </a:pPr>
                      <a:r>
                        <a:rPr lang="en-US" sz="1200" b="1" dirty="0">
                          <a:solidFill>
                            <a:srgbClr val="FFFFFF"/>
                          </a:solidFill>
                        </a:rPr>
                        <a:t>Metric</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0A1A33"/>
                    </a:solidFill>
                  </a:tcPr>
                </a:tc>
                <a:tc>
                  <a:txBody>
                    <a:bodyPr/>
                    <a:lstStyle/>
                    <a:p>
                      <a:pPr indent="0" marL="0">
                        <a:buNone/>
                      </a:pPr>
                      <a:r>
                        <a:rPr lang="en-US" sz="1200" b="1" dirty="0">
                          <a:solidFill>
                            <a:srgbClr val="FFFFFF"/>
                          </a:solidFill>
                        </a:rPr>
                        <a:t>Baseline</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0A1A33"/>
                    </a:solidFill>
                  </a:tcPr>
                </a:tc>
                <a:tc>
                  <a:txBody>
                    <a:bodyPr/>
                    <a:lstStyle/>
                    <a:p>
                      <a:pPr indent="0" marL="0">
                        <a:buNone/>
                      </a:pPr>
                      <a:r>
                        <a:rPr lang="en-US" sz="1200" b="1" dirty="0">
                          <a:solidFill>
                            <a:srgbClr val="FFFFFF"/>
                          </a:solidFill>
                        </a:rPr>
                        <a:t>Proposed target</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0A1A33"/>
                    </a:solidFill>
                  </a:tcPr>
                </a:tc>
              </a:tr>
              <a:tr h="365760">
                <a:tc>
                  <a:txBody>
                    <a:bodyPr/>
                    <a:lstStyle/>
                    <a:p>
                      <a:pPr indent="0" marL="0">
                        <a:buNone/>
                      </a:pPr>
                      <a:r>
                        <a:rPr lang="en-US" sz="1200" b="1" dirty="0">
                          <a:solidFill>
                            <a:srgbClr val="0A1A33"/>
                          </a:solidFill>
                        </a:rPr>
                        <a:t>Traceability</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POC deployments answerable from Git + Argo CD alone</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n/a</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b="1" dirty="0">
                          <a:solidFill>
                            <a:srgbClr val="0A1A33"/>
                          </a:solidFill>
                        </a:rPr>
                        <a:t>100%</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65760">
                <a:tc>
                  <a:txBody>
                    <a:bodyPr/>
                    <a:lstStyle/>
                    <a:p>
                      <a:pPr indent="0" marL="0">
                        <a:buNone/>
                      </a:pPr>
                      <a:r>
                        <a:rPr lang="en-US" sz="1200" b="1" dirty="0">
                          <a:solidFill>
                            <a:srgbClr val="0A1A33"/>
                          </a:solidFill>
                        </a:rPr>
                        <a:t>Evidence effort</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Minutes per deployment spent collecting evidence</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Measure now</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b="1" dirty="0">
                          <a:solidFill>
                            <a:srgbClr val="0A1A33"/>
                          </a:solidFill>
                        </a:rPr>
                        <a:t>Agreed % cut</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A1A33"/>
                          </a:solidFill>
                        </a:rPr>
                        <a:t>Time to answer</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Minutes to find who, what, when, image</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Measure now</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b="1" dirty="0">
                          <a:solidFill>
                            <a:srgbClr val="0A1A33"/>
                          </a:solidFill>
                        </a:rPr>
                        <a:t>≤ 5 min</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65760">
                <a:tc>
                  <a:txBody>
                    <a:bodyPr/>
                    <a:lstStyle/>
                    <a:p>
                      <a:pPr indent="0" marL="0">
                        <a:buNone/>
                      </a:pPr>
                      <a:r>
                        <a:rPr lang="en-US" sz="1200" b="1" dirty="0">
                          <a:solidFill>
                            <a:srgbClr val="0A1A33"/>
                          </a:solidFill>
                        </a:rPr>
                        <a:t>Rollback</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Decision to previous version Healthy</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Measure now</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b="1" dirty="0">
                          <a:solidFill>
                            <a:srgbClr val="0A1A33"/>
                          </a:solidFill>
                        </a:rPr>
                        <a:t>Agreed limit</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A1A33"/>
                          </a:solidFill>
                        </a:rPr>
                        <a:t>Drift detection</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Injected manual changes flagged OutOfSync</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Not measured</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b="1" dirty="0">
                          <a:solidFill>
                            <a:srgbClr val="0A1A33"/>
                          </a:solidFill>
                        </a:rPr>
                        <a:t>100%</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65760">
                <a:tc>
                  <a:txBody>
                    <a:bodyPr/>
                    <a:lstStyle/>
                    <a:p>
                      <a:pPr indent="0" marL="0">
                        <a:buNone/>
                      </a:pPr>
                      <a:r>
                        <a:rPr lang="en-US" sz="1200" b="1" dirty="0">
                          <a:solidFill>
                            <a:srgbClr val="0A1A33"/>
                          </a:solidFill>
                        </a:rPr>
                        <a:t>Sync reliability</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Syncs succeeding with no manual fix</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Measure now</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b="1" dirty="0">
                          <a:solidFill>
                            <a:srgbClr val="0A1A33"/>
                          </a:solidFill>
                        </a:rPr>
                        <a:t>≥ 95%</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A1A33"/>
                          </a:solidFill>
                        </a:rPr>
                        <a:t>Access control</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Negative RBAC / branch-rule tests denied</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dirty="0">
                          <a:solidFill>
                            <a:srgbClr val="0A1A33"/>
                          </a:solidFill>
                        </a:rPr>
                        <a:t>n/a</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c>
                  <a:txBody>
                    <a:bodyPr/>
                    <a:lstStyle/>
                    <a:p>
                      <a:pPr indent="0" marL="0">
                        <a:buNone/>
                      </a:pPr>
                      <a:r>
                        <a:rPr lang="en-US" sz="1200" b="1" dirty="0">
                          <a:solidFill>
                            <a:srgbClr val="0A1A33"/>
                          </a:solidFill>
                        </a:rPr>
                        <a:t>100%</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EEF2F7"/>
                    </a:solidFill>
                  </a:tcPr>
                </a:tc>
              </a:tr>
              <a:tr h="365760">
                <a:tc>
                  <a:txBody>
                    <a:bodyPr/>
                    <a:lstStyle/>
                    <a:p>
                      <a:pPr indent="0" marL="0">
                        <a:buNone/>
                      </a:pPr>
                      <a:r>
                        <a:rPr lang="en-US" sz="1200" b="1" dirty="0">
                          <a:solidFill>
                            <a:srgbClr val="0A1A33"/>
                          </a:solidFill>
                        </a:rPr>
                        <a:t>Operating effort</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Engineer hours per week to run Argo CD</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dirty="0">
                          <a:solidFill>
                            <a:srgbClr val="0A1A33"/>
                          </a:solidFill>
                        </a:rPr>
                        <a:t>n/a</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c>
                  <a:txBody>
                    <a:bodyPr/>
                    <a:lstStyle/>
                    <a:p>
                      <a:pPr indent="0" marL="0">
                        <a:buNone/>
                      </a:pPr>
                      <a:r>
                        <a:rPr lang="en-US" sz="1200" b="1" dirty="0">
                          <a:solidFill>
                            <a:srgbClr val="0A1A33"/>
                          </a:solidFill>
                        </a:rPr>
                        <a:t>Report vs saved</a:t>
                      </a:r>
                      <a:endParaRPr lang="en-US" sz="1200" dirty="0"/>
                    </a:p>
                  </a:txBody>
                  <a:tcPr marL="91440" marR="91440" marT="27432" marB="27432"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3200" b="1" dirty="0">
                <a:solidFill>
                  <a:schemeClr val="bg1"/>
                </a:solidFill>
              </a:rPr>
              <a:t>Recommendation &amp; Next Steps</a:t>
            </a:r>
            <a:endParaRPr lang="en-US" sz="3200" dirty="0"/>
          </a:p>
        </p:txBody>
      </p:sp>
      <p:sp>
        <p:nvSpPr>
          <p:cNvPr id="3" name="Text 0"/>
          <p:cNvSpPr/>
          <p:nvPr>
            <p:ph idx="101" type="body" hasCustomPrompt="1"/>
          </p:nvPr>
        </p:nvSpPr>
        <p:spPr>
          <a:xfrm>
            <a:off x="457200" y="850392"/>
            <a:ext cx="8229600" cy="365760"/>
          </a:xfrm>
          <a:prstGeom prst="rect">
            <a:avLst/>
          </a:prstGeom>
          <a:noFill/>
          <a:ln/>
        </p:spPr>
        <p:txBody>
          <a:bodyPr wrap="square" lIns="0" tIns="0" rIns="0" bIns="0" rtlCol="0" anchor="t"/>
          <a:lstStyle/>
          <a:p>
            <a:pPr algn="l" indent="0" marL="0">
              <a:buNone/>
            </a:pPr>
            <a:r>
              <a:rPr lang="en-US" sz="1500" dirty="0">
                <a:solidFill>
                  <a:schemeClr val="bg2"/>
                </a:solidFill>
              </a:rPr>
              <a:t>Approve a limited POC, then decide with measured results</a:t>
            </a:r>
            <a:endParaRPr lang="en-US" sz="1500" dirty="0"/>
          </a:p>
        </p:txBody>
      </p:sp>
      <p:sp>
        <p:nvSpPr>
          <p:cNvPr id="4" name="Step number 446"/>
          <p:cNvSpPr/>
          <p:nvPr/>
        </p:nvSpPr>
        <p:spPr>
          <a:xfrm>
            <a:off x="457200" y="1417320"/>
            <a:ext cx="310896" cy="310896"/>
          </a:xfrm>
          <a:prstGeom prst="ellipse">
            <a:avLst/>
          </a:prstGeom>
          <a:solidFill>
            <a:schemeClr val="accent2"/>
          </a:solidFill>
          <a:ln/>
        </p:spPr>
      </p:sp>
      <p:sp>
        <p:nvSpPr>
          <p:cNvPr id="5" name="Text 447"/>
          <p:cNvSpPr txBox="1"/>
          <p:nvPr/>
        </p:nvSpPr>
        <p:spPr>
          <a:xfrm>
            <a:off x="457200" y="1417320"/>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6" name="Text 448"/>
          <p:cNvSpPr txBox="1"/>
          <p:nvPr/>
        </p:nvSpPr>
        <p:spPr>
          <a:xfrm>
            <a:off x="896112" y="1371600"/>
            <a:ext cx="3611880" cy="402336"/>
          </a:xfrm>
          <a:prstGeom prst="rect">
            <a:avLst/>
          </a:prstGeom>
          <a:noFill/>
          <a:ln/>
        </p:spPr>
        <p:txBody>
          <a:bodyPr wrap="square" lIns="0" tIns="0" rIns="0" bIns="0" rtlCol="0" anchor="ctr"/>
          <a:lstStyle/>
          <a:p>
            <a:pPr indent="0" marL="0">
              <a:buNone/>
            </a:pPr>
            <a:r>
              <a:rPr lang="en-US" sz="1400" dirty="0">
                <a:solidFill>
                  <a:schemeClr val="bg1"/>
                </a:solidFill>
              </a:rPr>
              <a:t>Approve a limited Argo CD POC</a:t>
            </a:r>
            <a:endParaRPr lang="en-US" sz="1400" dirty="0"/>
          </a:p>
        </p:txBody>
      </p:sp>
      <p:sp>
        <p:nvSpPr>
          <p:cNvPr id="7" name="Step number 449"/>
          <p:cNvSpPr/>
          <p:nvPr/>
        </p:nvSpPr>
        <p:spPr>
          <a:xfrm>
            <a:off x="457200" y="1911096"/>
            <a:ext cx="310896" cy="310896"/>
          </a:xfrm>
          <a:prstGeom prst="ellipse">
            <a:avLst/>
          </a:prstGeom>
          <a:solidFill>
            <a:schemeClr val="accent2"/>
          </a:solidFill>
          <a:ln/>
        </p:spPr>
      </p:sp>
      <p:sp>
        <p:nvSpPr>
          <p:cNvPr id="8" name="Text 450"/>
          <p:cNvSpPr txBox="1"/>
          <p:nvPr/>
        </p:nvSpPr>
        <p:spPr>
          <a:xfrm>
            <a:off x="457200" y="1911096"/>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9" name="Text 451"/>
          <p:cNvSpPr txBox="1"/>
          <p:nvPr/>
        </p:nvSpPr>
        <p:spPr>
          <a:xfrm>
            <a:off x="896112" y="1865376"/>
            <a:ext cx="3611880" cy="402336"/>
          </a:xfrm>
          <a:prstGeom prst="rect">
            <a:avLst/>
          </a:prstGeom>
          <a:noFill/>
          <a:ln/>
        </p:spPr>
        <p:txBody>
          <a:bodyPr wrap="square" lIns="0" tIns="0" rIns="0" bIns="0" rtlCol="0" anchor="ctr"/>
          <a:lstStyle/>
          <a:p>
            <a:pPr indent="0" marL="0">
              <a:buNone/>
            </a:pPr>
            <a:r>
              <a:rPr lang="en-US" sz="1400" dirty="0">
                <a:solidFill>
                  <a:schemeClr val="bg1"/>
                </a:solidFill>
              </a:rPr>
              <a:t>Select 1–2 representative applications</a:t>
            </a:r>
            <a:endParaRPr lang="en-US" sz="1400" dirty="0"/>
          </a:p>
        </p:txBody>
      </p:sp>
      <p:sp>
        <p:nvSpPr>
          <p:cNvPr id="10" name="Step number 452"/>
          <p:cNvSpPr/>
          <p:nvPr/>
        </p:nvSpPr>
        <p:spPr>
          <a:xfrm>
            <a:off x="457200" y="2404872"/>
            <a:ext cx="310896" cy="310896"/>
          </a:xfrm>
          <a:prstGeom prst="ellipse">
            <a:avLst/>
          </a:prstGeom>
          <a:solidFill>
            <a:schemeClr val="accent2"/>
          </a:solidFill>
          <a:ln/>
        </p:spPr>
      </p:sp>
      <p:sp>
        <p:nvSpPr>
          <p:cNvPr id="11" name="Text 453"/>
          <p:cNvSpPr txBox="1"/>
          <p:nvPr/>
        </p:nvSpPr>
        <p:spPr>
          <a:xfrm>
            <a:off x="457200" y="2404872"/>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Text 454"/>
          <p:cNvSpPr txBox="1"/>
          <p:nvPr/>
        </p:nvSpPr>
        <p:spPr>
          <a:xfrm>
            <a:off x="896112" y="2359152"/>
            <a:ext cx="3611880" cy="402336"/>
          </a:xfrm>
          <a:prstGeom prst="rect">
            <a:avLst/>
          </a:prstGeom>
          <a:noFill/>
          <a:ln/>
        </p:spPr>
        <p:txBody>
          <a:bodyPr wrap="square" lIns="0" tIns="0" rIns="0" bIns="0" rtlCol="0" anchor="ctr"/>
          <a:lstStyle/>
          <a:p>
            <a:pPr indent="0" marL="0">
              <a:buNone/>
            </a:pPr>
            <a:r>
              <a:rPr lang="en-US" sz="1400" dirty="0">
                <a:solidFill>
                  <a:schemeClr val="bg1"/>
                </a:solidFill>
              </a:rPr>
              <a:t>Establish GitOps repository structure</a:t>
            </a:r>
            <a:endParaRPr lang="en-US" sz="1400" dirty="0"/>
          </a:p>
        </p:txBody>
      </p:sp>
      <p:sp>
        <p:nvSpPr>
          <p:cNvPr id="13" name="Step number 455"/>
          <p:cNvSpPr/>
          <p:nvPr/>
        </p:nvSpPr>
        <p:spPr>
          <a:xfrm>
            <a:off x="457200" y="2898648"/>
            <a:ext cx="310896" cy="310896"/>
          </a:xfrm>
          <a:prstGeom prst="ellipse">
            <a:avLst/>
          </a:prstGeom>
          <a:solidFill>
            <a:schemeClr val="accent2"/>
          </a:solidFill>
          <a:ln/>
        </p:spPr>
      </p:sp>
      <p:sp>
        <p:nvSpPr>
          <p:cNvPr id="14" name="Text 456"/>
          <p:cNvSpPr txBox="1"/>
          <p:nvPr/>
        </p:nvSpPr>
        <p:spPr>
          <a:xfrm>
            <a:off x="457200" y="2898648"/>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5" name="Text 457"/>
          <p:cNvSpPr txBox="1"/>
          <p:nvPr/>
        </p:nvSpPr>
        <p:spPr>
          <a:xfrm>
            <a:off x="896112" y="2852928"/>
            <a:ext cx="3611880" cy="402336"/>
          </a:xfrm>
          <a:prstGeom prst="rect">
            <a:avLst/>
          </a:prstGeom>
          <a:noFill/>
          <a:ln/>
        </p:spPr>
        <p:txBody>
          <a:bodyPr wrap="square" lIns="0" tIns="0" rIns="0" bIns="0" rtlCol="0" anchor="ctr"/>
          <a:lstStyle/>
          <a:p>
            <a:pPr indent="0" marL="0">
              <a:buNone/>
            </a:pPr>
            <a:r>
              <a:rPr lang="en-US" sz="1400" dirty="0">
                <a:solidFill>
                  <a:schemeClr val="bg1"/>
                </a:solidFill>
              </a:rPr>
              <a:t>Integrate GitHub Actions + Harbor + Argo CD + Kubernetes</a:t>
            </a:r>
            <a:endParaRPr lang="en-US" sz="1400" dirty="0"/>
          </a:p>
        </p:txBody>
      </p:sp>
      <p:sp>
        <p:nvSpPr>
          <p:cNvPr id="16" name="Step number 458"/>
          <p:cNvSpPr/>
          <p:nvPr/>
        </p:nvSpPr>
        <p:spPr>
          <a:xfrm>
            <a:off x="457200" y="3392424"/>
            <a:ext cx="310896" cy="310896"/>
          </a:xfrm>
          <a:prstGeom prst="ellipse">
            <a:avLst/>
          </a:prstGeom>
          <a:solidFill>
            <a:schemeClr val="accent2"/>
          </a:solidFill>
          <a:ln/>
        </p:spPr>
      </p:sp>
      <p:sp>
        <p:nvSpPr>
          <p:cNvPr id="17" name="Text 459"/>
          <p:cNvSpPr txBox="1"/>
          <p:nvPr/>
        </p:nvSpPr>
        <p:spPr>
          <a:xfrm>
            <a:off x="457200" y="3392424"/>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18" name="Text 460"/>
          <p:cNvSpPr txBox="1"/>
          <p:nvPr/>
        </p:nvSpPr>
        <p:spPr>
          <a:xfrm>
            <a:off x="896112" y="3346704"/>
            <a:ext cx="3611880" cy="402336"/>
          </a:xfrm>
          <a:prstGeom prst="rect">
            <a:avLst/>
          </a:prstGeom>
          <a:noFill/>
          <a:ln/>
        </p:spPr>
        <p:txBody>
          <a:bodyPr wrap="square" lIns="0" tIns="0" rIns="0" bIns="0" rtlCol="0" anchor="ctr"/>
          <a:lstStyle/>
          <a:p>
            <a:pPr indent="0" marL="0">
              <a:buNone/>
            </a:pPr>
            <a:r>
              <a:rPr lang="en-US" sz="1400" dirty="0">
                <a:solidFill>
                  <a:schemeClr val="bg1"/>
                </a:solidFill>
              </a:rPr>
              <a:t>Validate deployment traceability</a:t>
            </a:r>
            <a:endParaRPr lang="en-US" sz="1400" dirty="0"/>
          </a:p>
        </p:txBody>
      </p:sp>
      <p:sp>
        <p:nvSpPr>
          <p:cNvPr id="19" name="Step number 461"/>
          <p:cNvSpPr/>
          <p:nvPr/>
        </p:nvSpPr>
        <p:spPr>
          <a:xfrm>
            <a:off x="4663440" y="1417320"/>
            <a:ext cx="310896" cy="310896"/>
          </a:xfrm>
          <a:prstGeom prst="ellipse">
            <a:avLst/>
          </a:prstGeom>
          <a:solidFill>
            <a:schemeClr val="accent2"/>
          </a:solidFill>
          <a:ln/>
        </p:spPr>
      </p:sp>
      <p:sp>
        <p:nvSpPr>
          <p:cNvPr id="20" name="Text 462"/>
          <p:cNvSpPr txBox="1"/>
          <p:nvPr/>
        </p:nvSpPr>
        <p:spPr>
          <a:xfrm>
            <a:off x="4663440" y="1417320"/>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21" name="Text 463"/>
          <p:cNvSpPr txBox="1"/>
          <p:nvPr/>
        </p:nvSpPr>
        <p:spPr>
          <a:xfrm>
            <a:off x="5102352" y="1371600"/>
            <a:ext cx="3611880" cy="402336"/>
          </a:xfrm>
          <a:prstGeom prst="rect">
            <a:avLst/>
          </a:prstGeom>
          <a:noFill/>
          <a:ln/>
        </p:spPr>
        <p:txBody>
          <a:bodyPr wrap="square" lIns="0" tIns="0" rIns="0" bIns="0" rtlCol="0" anchor="ctr"/>
          <a:lstStyle/>
          <a:p>
            <a:pPr indent="0" marL="0">
              <a:buNone/>
            </a:pPr>
            <a:r>
              <a:rPr lang="en-US" sz="1400" dirty="0">
                <a:solidFill>
                  <a:schemeClr val="bg1"/>
                </a:solidFill>
              </a:rPr>
              <a:t>Validate rollback</a:t>
            </a:r>
            <a:endParaRPr lang="en-US" sz="1400" dirty="0"/>
          </a:p>
        </p:txBody>
      </p:sp>
      <p:sp>
        <p:nvSpPr>
          <p:cNvPr id="22" name="Step number 464"/>
          <p:cNvSpPr/>
          <p:nvPr/>
        </p:nvSpPr>
        <p:spPr>
          <a:xfrm>
            <a:off x="4663440" y="1911096"/>
            <a:ext cx="310896" cy="310896"/>
          </a:xfrm>
          <a:prstGeom prst="ellipse">
            <a:avLst/>
          </a:prstGeom>
          <a:solidFill>
            <a:schemeClr val="accent2"/>
          </a:solidFill>
          <a:ln/>
        </p:spPr>
      </p:sp>
      <p:sp>
        <p:nvSpPr>
          <p:cNvPr id="23" name="Text 465"/>
          <p:cNvSpPr txBox="1"/>
          <p:nvPr/>
        </p:nvSpPr>
        <p:spPr>
          <a:xfrm>
            <a:off x="4663440" y="1911096"/>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7</a:t>
            </a:r>
            <a:endParaRPr lang="en-US" sz="1200" dirty="0"/>
          </a:p>
        </p:txBody>
      </p:sp>
      <p:sp>
        <p:nvSpPr>
          <p:cNvPr id="24" name="Text 466"/>
          <p:cNvSpPr txBox="1"/>
          <p:nvPr/>
        </p:nvSpPr>
        <p:spPr>
          <a:xfrm>
            <a:off x="5102352" y="1865376"/>
            <a:ext cx="3611880" cy="402336"/>
          </a:xfrm>
          <a:prstGeom prst="rect">
            <a:avLst/>
          </a:prstGeom>
          <a:noFill/>
          <a:ln/>
        </p:spPr>
        <p:txBody>
          <a:bodyPr wrap="square" lIns="0" tIns="0" rIns="0" bIns="0" rtlCol="0" anchor="ctr"/>
          <a:lstStyle/>
          <a:p>
            <a:pPr indent="0" marL="0">
              <a:buNone/>
            </a:pPr>
            <a:r>
              <a:rPr lang="en-US" sz="1400" dirty="0">
                <a:solidFill>
                  <a:schemeClr val="bg1"/>
                </a:solidFill>
              </a:rPr>
              <a:t>Validate governance and approvals</a:t>
            </a:r>
            <a:endParaRPr lang="en-US" sz="1400" dirty="0"/>
          </a:p>
        </p:txBody>
      </p:sp>
      <p:sp>
        <p:nvSpPr>
          <p:cNvPr id="25" name="Step number 467"/>
          <p:cNvSpPr/>
          <p:nvPr/>
        </p:nvSpPr>
        <p:spPr>
          <a:xfrm>
            <a:off x="4663440" y="2404872"/>
            <a:ext cx="310896" cy="310896"/>
          </a:xfrm>
          <a:prstGeom prst="ellipse">
            <a:avLst/>
          </a:prstGeom>
          <a:solidFill>
            <a:schemeClr val="accent2"/>
          </a:solidFill>
          <a:ln/>
        </p:spPr>
      </p:sp>
      <p:sp>
        <p:nvSpPr>
          <p:cNvPr id="26" name="Text 468"/>
          <p:cNvSpPr txBox="1"/>
          <p:nvPr/>
        </p:nvSpPr>
        <p:spPr>
          <a:xfrm>
            <a:off x="4663440" y="2404872"/>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8</a:t>
            </a:r>
            <a:endParaRPr lang="en-US" sz="1200" dirty="0"/>
          </a:p>
        </p:txBody>
      </p:sp>
      <p:sp>
        <p:nvSpPr>
          <p:cNvPr id="27" name="Text 469"/>
          <p:cNvSpPr txBox="1"/>
          <p:nvPr/>
        </p:nvSpPr>
        <p:spPr>
          <a:xfrm>
            <a:off x="5102352" y="2359152"/>
            <a:ext cx="3611880" cy="402336"/>
          </a:xfrm>
          <a:prstGeom prst="rect">
            <a:avLst/>
          </a:prstGeom>
          <a:noFill/>
          <a:ln/>
        </p:spPr>
        <p:txBody>
          <a:bodyPr wrap="square" lIns="0" tIns="0" rIns="0" bIns="0" rtlCol="0" anchor="ctr"/>
          <a:lstStyle/>
          <a:p>
            <a:pPr indent="0" marL="0">
              <a:buNone/>
            </a:pPr>
            <a:r>
              <a:rPr lang="en-US" sz="1400" dirty="0">
                <a:solidFill>
                  <a:schemeClr val="bg1"/>
                </a:solidFill>
              </a:rPr>
              <a:t>Measure operational effort</a:t>
            </a:r>
            <a:endParaRPr lang="en-US" sz="1400" dirty="0"/>
          </a:p>
        </p:txBody>
      </p:sp>
      <p:sp>
        <p:nvSpPr>
          <p:cNvPr id="28" name="Step number 470"/>
          <p:cNvSpPr/>
          <p:nvPr/>
        </p:nvSpPr>
        <p:spPr>
          <a:xfrm>
            <a:off x="4663440" y="2898648"/>
            <a:ext cx="310896" cy="310896"/>
          </a:xfrm>
          <a:prstGeom prst="ellipse">
            <a:avLst/>
          </a:prstGeom>
          <a:solidFill>
            <a:schemeClr val="accent2"/>
          </a:solidFill>
          <a:ln/>
        </p:spPr>
      </p:sp>
      <p:sp>
        <p:nvSpPr>
          <p:cNvPr id="29" name="Text 471"/>
          <p:cNvSpPr txBox="1"/>
          <p:nvPr/>
        </p:nvSpPr>
        <p:spPr>
          <a:xfrm>
            <a:off x="4663440" y="2898648"/>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9</a:t>
            </a:r>
            <a:endParaRPr lang="en-US" sz="1200" dirty="0"/>
          </a:p>
        </p:txBody>
      </p:sp>
      <p:sp>
        <p:nvSpPr>
          <p:cNvPr id="30" name="Text 472"/>
          <p:cNvSpPr txBox="1"/>
          <p:nvPr/>
        </p:nvSpPr>
        <p:spPr>
          <a:xfrm>
            <a:off x="5102352" y="2852928"/>
            <a:ext cx="3611880" cy="402336"/>
          </a:xfrm>
          <a:prstGeom prst="rect">
            <a:avLst/>
          </a:prstGeom>
          <a:noFill/>
          <a:ln/>
        </p:spPr>
        <p:txBody>
          <a:bodyPr wrap="square" lIns="0" tIns="0" rIns="0" bIns="0" rtlCol="0" anchor="ctr"/>
          <a:lstStyle/>
          <a:p>
            <a:pPr indent="0" marL="0">
              <a:buNone/>
            </a:pPr>
            <a:r>
              <a:rPr lang="en-US" sz="1400" dirty="0">
                <a:solidFill>
                  <a:schemeClr val="bg1"/>
                </a:solidFill>
              </a:rPr>
              <a:t>Document standards</a:t>
            </a:r>
            <a:endParaRPr lang="en-US" sz="1400" dirty="0"/>
          </a:p>
        </p:txBody>
      </p:sp>
      <p:sp>
        <p:nvSpPr>
          <p:cNvPr id="31" name="Step number 473"/>
          <p:cNvSpPr/>
          <p:nvPr/>
        </p:nvSpPr>
        <p:spPr>
          <a:xfrm>
            <a:off x="4663440" y="3392424"/>
            <a:ext cx="310896" cy="310896"/>
          </a:xfrm>
          <a:prstGeom prst="ellipse">
            <a:avLst/>
          </a:prstGeom>
          <a:solidFill>
            <a:schemeClr val="accent2"/>
          </a:solidFill>
          <a:ln/>
        </p:spPr>
      </p:sp>
      <p:sp>
        <p:nvSpPr>
          <p:cNvPr id="32" name="Text 474"/>
          <p:cNvSpPr txBox="1"/>
          <p:nvPr/>
        </p:nvSpPr>
        <p:spPr>
          <a:xfrm>
            <a:off x="4663440" y="3392424"/>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10</a:t>
            </a:r>
            <a:endParaRPr lang="en-US" sz="1200" dirty="0"/>
          </a:p>
        </p:txBody>
      </p:sp>
      <p:sp>
        <p:nvSpPr>
          <p:cNvPr id="33" name="Text 475"/>
          <p:cNvSpPr txBox="1"/>
          <p:nvPr/>
        </p:nvSpPr>
        <p:spPr>
          <a:xfrm>
            <a:off x="5102352" y="3346704"/>
            <a:ext cx="3611880" cy="402336"/>
          </a:xfrm>
          <a:prstGeom prst="rect">
            <a:avLst/>
          </a:prstGeom>
          <a:noFill/>
          <a:ln/>
        </p:spPr>
        <p:txBody>
          <a:bodyPr wrap="square" lIns="0" tIns="0" rIns="0" bIns="0" rtlCol="0" anchor="ctr"/>
          <a:lstStyle/>
          <a:p>
            <a:pPr indent="0" marL="0">
              <a:buNone/>
            </a:pPr>
            <a:r>
              <a:rPr lang="en-US" sz="1400" dirty="0">
                <a:solidFill>
                  <a:schemeClr val="bg1"/>
                </a:solidFill>
              </a:rPr>
              <a:t>Present POC results and migration plan</a:t>
            </a:r>
            <a:endParaRPr lang="en-US" sz="1400" dirty="0"/>
          </a:p>
        </p:txBody>
      </p:sp>
      <p:sp>
        <p:nvSpPr>
          <p:cNvPr id="34" name="Card 476"/>
          <p:cNvSpPr/>
          <p:nvPr/>
        </p:nvSpPr>
        <p:spPr>
          <a:xfrm>
            <a:off x="457200" y="3931920"/>
            <a:ext cx="8229600" cy="731520"/>
          </a:xfrm>
          <a:prstGeom prst="roundRect">
            <a:avLst>
              <a:gd name="adj" fmla="val 10000"/>
            </a:avLst>
          </a:prstGeom>
          <a:solidFill>
            <a:schemeClr val="bg1">
              <a:alpha val="10000"/>
            </a:schemeClr>
          </a:solidFill>
          <a:ln w="19050">
            <a:solidFill>
              <a:schemeClr val="accent2"/>
            </a:solidFill>
            <a:prstDash val="solid"/>
          </a:ln>
        </p:spPr>
      </p:sp>
      <p:sp>
        <p:nvSpPr>
          <p:cNvPr id="35" name="Text 477"/>
          <p:cNvSpPr txBox="1"/>
          <p:nvPr/>
        </p:nvSpPr>
        <p:spPr>
          <a:xfrm>
            <a:off x="685800" y="3931920"/>
            <a:ext cx="7772400" cy="731520"/>
          </a:xfrm>
          <a:prstGeom prst="rect">
            <a:avLst/>
          </a:prstGeom>
          <a:noFill/>
          <a:ln/>
        </p:spPr>
        <p:txBody>
          <a:bodyPr wrap="square" lIns="0" tIns="0" rIns="0" bIns="0" rtlCol="0" anchor="ctr"/>
          <a:lstStyle/>
          <a:p>
            <a:pPr indent="0" marL="0">
              <a:buNone/>
            </a:pPr>
            <a:r>
              <a:rPr lang="en-US" sz="1400" b="1" dirty="0">
                <a:solidFill>
                  <a:schemeClr val="bg1"/>
                </a:solidFill>
              </a:rPr>
              <a:t>GitHub Actions builds and validates the software. Git defines the desired deployment state. Argo CD continuously reconciles Kubernetes to that desired state.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GitOps Proposal">
  <a:themeElements>
    <a:clrScheme name="GitOps Proposal">
      <a:dk1>
        <a:srgbClr val="0A1A33"/>
      </a:dk1>
      <a:lt1>
        <a:srgbClr val="FFFFFF"/>
      </a:lt1>
      <a:dk2>
        <a:srgbClr val="5B6B82"/>
      </a:dk2>
      <a:lt2>
        <a:srgbClr val="EEF2F7"/>
      </a:lt2>
      <a:accent1>
        <a:srgbClr val="326CE5"/>
      </a:accent1>
      <a:accent2>
        <a:srgbClr val="EF7B4D"/>
      </a:accent2>
      <a:accent3>
        <a:srgbClr val="1E7E34"/>
      </a:accent3>
      <a:accent4>
        <a:srgbClr val="0B7F7C"/>
      </a:accent4>
      <a:accent5>
        <a:srgbClr val="24292F"/>
      </a:accent5>
      <a:accent6>
        <a:srgbClr val="B83A4B"/>
      </a:accent6>
      <a:hlink>
        <a:srgbClr val="326CE5"/>
      </a:hlink>
      <a:folHlink>
        <a:srgbClr val="5B6B82"/>
      </a:folHlink>
    </a:clrScheme>
    <a:fontScheme name="GitOps Propos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GitOps-Based Kubernetes Deployments with Argo CD</dc:title>
  <dc:subject>Technical proposal</dc:subject>
  <dc:creator>PptxGenJS</dc:creator>
  <cp:lastModifiedBy>PptxGenJS</cp:lastModifiedBy>
  <cp:revision>1</cp:revision>
  <dcterms:created xsi:type="dcterms:W3CDTF">2026-10-03T19:01:48Z</dcterms:created>
  <dcterms:modified xsi:type="dcterms:W3CDTF">2026-10-03T19:01:48Z</dcterms:modified>
</cp:coreProperties>
</file>